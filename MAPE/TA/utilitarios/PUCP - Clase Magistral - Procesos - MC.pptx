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85" r:id="rId3"/>
  </p:sldMasterIdLst>
  <p:notesMasterIdLst>
    <p:notesMasterId r:id="rId26"/>
  </p:notesMasterIdLst>
  <p:sldIdLst>
    <p:sldId id="256" r:id="rId4"/>
    <p:sldId id="988" r:id="rId5"/>
    <p:sldId id="257" r:id="rId6"/>
    <p:sldId id="989" r:id="rId7"/>
    <p:sldId id="6042" r:id="rId8"/>
    <p:sldId id="6043" r:id="rId9"/>
    <p:sldId id="6059" r:id="rId10"/>
    <p:sldId id="6044" r:id="rId11"/>
    <p:sldId id="6045" r:id="rId12"/>
    <p:sldId id="6065" r:id="rId13"/>
    <p:sldId id="6066" r:id="rId14"/>
    <p:sldId id="6052" r:id="rId15"/>
    <p:sldId id="6048" r:id="rId16"/>
    <p:sldId id="6049" r:id="rId17"/>
    <p:sldId id="6050" r:id="rId18"/>
    <p:sldId id="6051" r:id="rId19"/>
    <p:sldId id="6053" r:id="rId20"/>
    <p:sldId id="6062" r:id="rId21"/>
    <p:sldId id="6055" r:id="rId22"/>
    <p:sldId id="6063" r:id="rId23"/>
    <p:sldId id="6064" r:id="rId24"/>
    <p:sldId id="6067" r:id="rId2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7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/>
    <p:restoredTop sz="97270"/>
  </p:normalViewPr>
  <p:slideViewPr>
    <p:cSldViewPr snapToGrid="0">
      <p:cViewPr varScale="1">
        <p:scale>
          <a:sx n="116" d="100"/>
          <a:sy n="116" d="100"/>
        </p:scale>
        <p:origin x="191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BF538-0D66-424E-A861-13F3ED304E78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58731-89CD-D24F-8918-43DD251DF4B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170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 noChangeArrowheads="1"/>
          </p:cNvSpPr>
          <p:nvPr/>
        </p:nvSpPr>
        <p:spPr bwMode="auto">
          <a:xfrm>
            <a:off x="3849668" y="9429783"/>
            <a:ext cx="2946443" cy="496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399" tIns="48701" rIns="97399" bIns="48701" anchor="b"/>
          <a:lstStyle/>
          <a:p>
            <a:pPr algn="r"/>
            <a:fld id="{94E18F2E-0865-4A2D-8C47-0F6BF4BF708E}" type="slidenum">
              <a:rPr lang="en-GB" sz="1300">
                <a:solidFill>
                  <a:schemeClr val="tx1"/>
                </a:solidFill>
              </a:rPr>
              <a:pPr algn="r"/>
              <a:t>2</a:t>
            </a:fld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0675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58731-89CD-D24F-8918-43DD251DF4BB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2261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58731-89CD-D24F-8918-43DD251DF4BB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7632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58731-89CD-D24F-8918-43DD251DF4BB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04202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58731-89CD-D24F-8918-43DD251DF4BB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65694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58731-89CD-D24F-8918-43DD251DF4BB}" type="slidenum">
              <a:rPr lang="es-ES_tradnl" smtClean="0"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66991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2578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7" name="Triángulo rectángulo 6">
            <a:extLst>
              <a:ext uri="{FF2B5EF4-FFF2-40B4-BE49-F238E27FC236}">
                <a16:creationId xmlns:a16="http://schemas.microsoft.com/office/drawing/2014/main" id="{A3B46A45-D9C5-59FF-16F3-12985D5F02D3}"/>
              </a:ext>
            </a:extLst>
          </p:cNvPr>
          <p:cNvSpPr/>
          <p:nvPr userDrawn="1"/>
        </p:nvSpPr>
        <p:spPr>
          <a:xfrm rot="16200000">
            <a:off x="7790987" y="4742985"/>
            <a:ext cx="2115015" cy="2115014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2953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11784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6196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2519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2925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3166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5190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0421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43383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57823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594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8B5B7-C667-93D3-FB2D-67CBD96F6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BB0915-BE40-2FB8-5A1C-6F6A56A07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F57E51-DFE2-11F0-1933-DD88F6A7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65F86-BB88-730F-160D-46821DCD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6FFD56-DC19-BABC-2083-6BDEDBF4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9364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7256C-919C-64F3-3678-A2ABC0EE1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14412C-C39B-DFE0-F7C3-2C40DC7CC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59F161-A6F3-7FB2-39DA-F8914487E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30DF8C-E6E9-B025-E4A4-1371827A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D3E288-0750-127A-906C-4D9A5A7F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64600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1F816-7249-6A7F-8422-24AAC063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15F732-073D-D236-94D8-F1875B8C0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A5D9F0-506D-30F7-E5D5-2A8ADCD8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AB6D80-9A8E-1C43-60FC-00AE78D0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86E97D-6C09-9FBB-E22E-F199254B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4514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89A15-49D1-319F-11EA-8C0BAA7A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570C13-BA01-3F3F-60E7-0E231B989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36F627-671B-A501-07D9-3DD1936C6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DCDB54-514D-43A9-7835-A0D4103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A8CED1-9D08-94E5-679E-373C1603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DEE3CB-1554-2341-F0E0-F68C1625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96660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8F705-8505-1271-626A-9476E066A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1DAA82-E81B-4A11-9AFE-E1A9003B8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B86616-263D-BF5F-D06B-BE439C5FC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BCE578-051E-0C84-5A24-DAE4B1C28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013730-1062-7D9E-39AF-E4EA24A7E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61C050-3866-EDD6-97A6-3FAAD1E53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5EE29D-EDE5-66F5-D81C-8CE80235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34E22D8-EF2E-99C3-A016-DCC799B5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366140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3B4C4-5AB2-73C5-C920-88D3341D5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306AE0-A72C-38CF-30A8-7CBC035E4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484109-DCD6-7AF5-61C5-E69040DE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FE057A-6C07-6B04-1E78-2D2DCD22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19806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76DCD3C-077A-6657-FB7A-11E5A4308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A547E1-BECA-3292-237B-BE049A2B2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14B614-52CB-C547-709F-CF733DE9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6288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8D4D5-E453-CD18-1D5A-ACCE1AEB7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A7DEE7-9802-07DD-0E23-C5EC7B3E6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E2699D-06E0-8121-0306-4A7E76AA7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1F8B91-30B1-0E8F-2607-63107A211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1287BC-2C58-8D62-E361-4D034118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C64F01-0C46-961E-F6A7-959803FD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14831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CF8AF-B581-2173-E138-B68AC415C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25268D-7264-4808-4423-894058BEA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29957E-2693-6ABF-14B9-F7EF9043F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DEAE5F-2BEA-C944-99A6-784EB2AA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C14E23-7B18-F120-8A33-2F33165B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F0EE39-EECA-9A42-2AEB-A4AE035B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37825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4E8EF-581A-1D47-D189-82085C169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D29E57-B41E-E35B-DEFC-07CD61009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4150B9-B2EE-03BD-8E0D-AA049AA0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4D13E6-4A88-7AFA-6B41-2487EA31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7E1715-4A45-4B29-5F7C-C6FD3829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5708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1106DC-07CB-DB4B-6B0B-FD8D7A71B5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4A1F9D-F0F3-3C32-0B7F-0C2B81A34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80AA09-A4C4-DB55-C243-D19B38B8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FA6BFB-402E-26A1-83BC-4C657D97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73A747-7FC1-75FA-ABF7-2DF1C5FC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4197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CBB66-926D-1EA7-6BD1-1690D3999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48FB88-98CB-8AC3-912E-C624ABAEE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7738DA-890F-545D-4505-649407D68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75D3AA-8D1B-F7FD-553C-D5B3B861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F6602C-525D-9242-907A-EDD7D9A4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775859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728D9-1948-9652-2253-373290D9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94565B-81C4-D9CF-63EC-E5C850874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B49DDD-C702-7D90-A1D3-7885A83C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E1E034-5A14-450E-17BB-CD471103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B15D6A-A480-E813-9E0C-43874FCF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36347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9AB21-8754-CA4C-BC79-D0373524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E5CA8-75EE-BAF1-A0A0-EC013E7F1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D763F7-1E04-6D30-A3D0-A374FCA7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F4C90-F2EC-EF02-C3D7-A8EE4BF2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9DA888-16B9-F107-0D4E-3EF4F242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211069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F6219-A7B3-4E01-8F30-407685BBC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683131-B559-F393-F0FE-60139184A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BE5AED-93D8-2A2D-3E7E-E693F75D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FCCAF9-F5DD-3F66-6D93-5BE833B7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9B6D05-481C-629D-B7A0-A6BB09F6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D95BAE-5607-9DBB-8FF6-6256C1EC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38887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25BA2-0470-48E7-68B2-6BD0C048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388496-7E43-18C6-A32C-5626345A8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6279B7-7FD0-4F70-517A-EAE1B5FA2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0531EE-058E-CC02-3003-5641246F3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CFD022-E63C-2803-BAE2-C09C7F250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0BD559-B299-5EEE-790A-2F9C9364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EC5E577-4B78-4F58-82E0-87C6769C5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FFD79D-89F5-E761-4998-D6A2295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07954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7F6A7-EE2C-A7FC-FB53-3B8BB4B52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548F5E-6723-11E9-4002-6CC5D1A6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025CF9-848C-209D-3732-CDE089F6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B71149-872A-0A25-F9A9-D60F0650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83792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A0F23E-AAD2-5BD5-92FC-943792FD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94359E-34A2-0110-A1BB-CAB49199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4D823C-A2AB-729D-7D5B-C6AAA6DD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874312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663A8-68D5-4C30-2B92-1A141C4E8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88225F-DAE7-CB89-8D8E-BFCC5E8A0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135A43-5804-46B3-2C4B-4B9207625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DE1A29-36F7-EB25-24CD-2F63E8618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805313-6A2C-0E9A-03ED-191FCECA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D5ECA7-BB57-2E5F-DA89-4CA5F59F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855780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6EACC-0F83-2888-BAB7-7553D917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6629A12-AF7E-8A95-CD61-76CE93306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A5274F-18EA-C6D2-C808-72F9520D0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1296E8-3E5C-43F1-075A-F6417D4D4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BAC754-B1CE-B982-6962-3BC97893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451795-D157-2B88-9C87-16AED516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49577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39B90-73FA-42E2-37BF-96F4E17C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E56B63-7062-B6C9-EDB6-183FE3CEB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7F3B3A-540C-1821-6930-6475D73BB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4F639-02EB-FD1A-341D-EBDC4576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746F91-136A-54CC-5855-F0DB805E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44834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8DEB89-3DDD-FFBE-E18E-A14575F5C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E553E5-BA94-3569-1B3C-EC52F3B9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CEFD72-D0C2-AF1A-4DA5-A0DCE2A8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5CBA27-1552-8136-FCA6-5C7F210EA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910E6-3F7F-3092-09C6-75E34A56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4842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E4904-9F23-0641-9622-8475C599D133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A5207-9A25-D74D-917A-DF8E68C59765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6F0F8B-90B6-EBC4-6C42-6BD380EA1328}"/>
              </a:ext>
            </a:extLst>
          </p:cNvPr>
          <p:cNvSpPr/>
          <p:nvPr userDrawn="1"/>
        </p:nvSpPr>
        <p:spPr>
          <a:xfrm>
            <a:off x="8921363" y="0"/>
            <a:ext cx="984637" cy="1001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14C5CC26-185D-8CF4-1990-E903FC874A04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53736" y="6242050"/>
            <a:ext cx="216012" cy="615950"/>
          </a:xfrm>
          <a:custGeom>
            <a:avLst/>
            <a:gdLst/>
            <a:ahLst/>
            <a:cxnLst>
              <a:cxn ang="0">
                <a:pos x="0" y="85"/>
              </a:cxn>
              <a:cxn ang="0">
                <a:pos x="0" y="456"/>
              </a:cxn>
              <a:cxn ang="0">
                <a:pos x="120" y="456"/>
              </a:cxn>
              <a:cxn ang="0">
                <a:pos x="120" y="0"/>
              </a:cxn>
              <a:cxn ang="0">
                <a:pos x="0" y="85"/>
              </a:cxn>
            </a:cxnLst>
            <a:rect l="0" t="0" r="r" b="b"/>
            <a:pathLst>
              <a:path w="120" h="456">
                <a:moveTo>
                  <a:pt x="0" y="85"/>
                </a:moveTo>
                <a:lnTo>
                  <a:pt x="0" y="456"/>
                </a:lnTo>
                <a:lnTo>
                  <a:pt x="120" y="456"/>
                </a:lnTo>
                <a:lnTo>
                  <a:pt x="120" y="0"/>
                </a:lnTo>
                <a:lnTo>
                  <a:pt x="0" y="85"/>
                </a:lnTo>
                <a:close/>
              </a:path>
            </a:pathLst>
          </a:custGeom>
          <a:solidFill>
            <a:srgbClr val="ED1A3B"/>
          </a:solidFill>
          <a:ln w="9525">
            <a:noFill/>
            <a:round/>
            <a:headEnd/>
            <a:tailEnd/>
          </a:ln>
        </p:spPr>
        <p:txBody>
          <a:bodyPr lIns="91427" tIns="45714" rIns="91427" bIns="45714"/>
          <a:lstStyle/>
          <a:p>
            <a:pPr algn="ctr" defTabSz="914112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>
              <a:solidFill>
                <a:srgbClr val="404040"/>
              </a:solidFill>
              <a:latin typeface="Trebuchet MS"/>
              <a:cs typeface="+mn-cs"/>
            </a:endParaRPr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DDA2D775-9241-85AD-AD4B-2C936A936C32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53736" y="0"/>
            <a:ext cx="216012" cy="554038"/>
          </a:xfrm>
          <a:custGeom>
            <a:avLst/>
            <a:gdLst/>
            <a:ahLst/>
            <a:cxnLst>
              <a:cxn ang="0">
                <a:pos x="120" y="328"/>
              </a:cxn>
              <a:cxn ang="0">
                <a:pos x="120" y="0"/>
              </a:cxn>
              <a:cxn ang="0">
                <a:pos x="0" y="0"/>
              </a:cxn>
              <a:cxn ang="0">
                <a:pos x="0" y="411"/>
              </a:cxn>
              <a:cxn ang="0">
                <a:pos x="120" y="328"/>
              </a:cxn>
            </a:cxnLst>
            <a:rect l="0" t="0" r="r" b="b"/>
            <a:pathLst>
              <a:path w="120" h="411">
                <a:moveTo>
                  <a:pt x="120" y="328"/>
                </a:moveTo>
                <a:lnTo>
                  <a:pt x="120" y="0"/>
                </a:lnTo>
                <a:lnTo>
                  <a:pt x="0" y="0"/>
                </a:lnTo>
                <a:lnTo>
                  <a:pt x="0" y="411"/>
                </a:lnTo>
                <a:lnTo>
                  <a:pt x="120" y="328"/>
                </a:lnTo>
                <a:close/>
              </a:path>
            </a:pathLst>
          </a:custGeom>
          <a:solidFill>
            <a:srgbClr val="ED1A3B"/>
          </a:solidFill>
          <a:ln w="9525">
            <a:noFill/>
            <a:round/>
            <a:headEnd/>
            <a:tailEnd/>
          </a:ln>
        </p:spPr>
        <p:txBody>
          <a:bodyPr lIns="91427" tIns="45714" rIns="91427" bIns="45714"/>
          <a:lstStyle/>
          <a:p>
            <a:pPr algn="ctr" defTabSz="914112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>
              <a:solidFill>
                <a:srgbClr val="404040"/>
              </a:solidFill>
              <a:latin typeface="Trebuchet M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61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FDCE5F-3A83-043B-2733-278F34121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D848DF-4C66-4537-6DBD-05E488926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71F0B1-9364-DAA5-66C3-402EFDFDD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679F2-6CB3-D641-85F2-E81DFA202CFF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8D0073-4D1F-D5EF-A6C1-4DD720E0F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B80C82-8E93-863F-1FA8-CA66034CC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56C62-24D2-494C-BF54-2858128639EF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DDA3AE2D-06E3-883A-2A07-0E5C519AAEE0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53736" y="6242050"/>
            <a:ext cx="216012" cy="615950"/>
          </a:xfrm>
          <a:custGeom>
            <a:avLst/>
            <a:gdLst/>
            <a:ahLst/>
            <a:cxnLst>
              <a:cxn ang="0">
                <a:pos x="0" y="85"/>
              </a:cxn>
              <a:cxn ang="0">
                <a:pos x="0" y="456"/>
              </a:cxn>
              <a:cxn ang="0">
                <a:pos x="120" y="456"/>
              </a:cxn>
              <a:cxn ang="0">
                <a:pos x="120" y="0"/>
              </a:cxn>
              <a:cxn ang="0">
                <a:pos x="0" y="85"/>
              </a:cxn>
            </a:cxnLst>
            <a:rect l="0" t="0" r="r" b="b"/>
            <a:pathLst>
              <a:path w="120" h="456">
                <a:moveTo>
                  <a:pt x="0" y="85"/>
                </a:moveTo>
                <a:lnTo>
                  <a:pt x="0" y="456"/>
                </a:lnTo>
                <a:lnTo>
                  <a:pt x="120" y="456"/>
                </a:lnTo>
                <a:lnTo>
                  <a:pt x="120" y="0"/>
                </a:lnTo>
                <a:lnTo>
                  <a:pt x="0" y="85"/>
                </a:lnTo>
                <a:close/>
              </a:path>
            </a:pathLst>
          </a:custGeom>
          <a:solidFill>
            <a:srgbClr val="ED1A3B"/>
          </a:solidFill>
          <a:ln w="9525">
            <a:noFill/>
            <a:round/>
            <a:headEnd/>
            <a:tailEnd/>
          </a:ln>
        </p:spPr>
        <p:txBody>
          <a:bodyPr lIns="91427" tIns="45714" rIns="91427" bIns="45714"/>
          <a:lstStyle/>
          <a:p>
            <a:pPr algn="ctr" defTabSz="914112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>
              <a:solidFill>
                <a:srgbClr val="404040"/>
              </a:solidFill>
              <a:latin typeface="Trebuchet MS"/>
              <a:cs typeface="+mn-cs"/>
            </a:endParaRPr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BC188F9A-F069-CE9F-F3B2-1F6510EB84AA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53736" y="0"/>
            <a:ext cx="216012" cy="554038"/>
          </a:xfrm>
          <a:custGeom>
            <a:avLst/>
            <a:gdLst/>
            <a:ahLst/>
            <a:cxnLst>
              <a:cxn ang="0">
                <a:pos x="120" y="328"/>
              </a:cxn>
              <a:cxn ang="0">
                <a:pos x="120" y="0"/>
              </a:cxn>
              <a:cxn ang="0">
                <a:pos x="0" y="0"/>
              </a:cxn>
              <a:cxn ang="0">
                <a:pos x="0" y="411"/>
              </a:cxn>
              <a:cxn ang="0">
                <a:pos x="120" y="328"/>
              </a:cxn>
            </a:cxnLst>
            <a:rect l="0" t="0" r="r" b="b"/>
            <a:pathLst>
              <a:path w="120" h="411">
                <a:moveTo>
                  <a:pt x="120" y="328"/>
                </a:moveTo>
                <a:lnTo>
                  <a:pt x="120" y="0"/>
                </a:lnTo>
                <a:lnTo>
                  <a:pt x="0" y="0"/>
                </a:lnTo>
                <a:lnTo>
                  <a:pt x="0" y="411"/>
                </a:lnTo>
                <a:lnTo>
                  <a:pt x="120" y="328"/>
                </a:lnTo>
                <a:close/>
              </a:path>
            </a:pathLst>
          </a:custGeom>
          <a:solidFill>
            <a:srgbClr val="ED1A3B"/>
          </a:solidFill>
          <a:ln w="9525">
            <a:noFill/>
            <a:round/>
            <a:headEnd/>
            <a:tailEnd/>
          </a:ln>
        </p:spPr>
        <p:txBody>
          <a:bodyPr lIns="91427" tIns="45714" rIns="91427" bIns="45714"/>
          <a:lstStyle/>
          <a:p>
            <a:pPr algn="ctr" defTabSz="914112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>
              <a:solidFill>
                <a:srgbClr val="404040"/>
              </a:solidFill>
              <a:latin typeface="Trebuchet M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34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86C2D14-C99A-92CB-A26B-DCE3C9139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32CB73-3B74-9118-5E00-52B1229C8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3CACA3-84B7-5E1C-104F-36E76B7A2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2DDDA-E464-4B42-94AB-8A6D73913D5B}" type="datetimeFigureOut">
              <a:rPr lang="es-ES_tradnl" smtClean="0"/>
              <a:t>21/8/25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2928BB-48B8-0AA5-CD79-17A6BC128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DEDC54-7E3A-2019-356E-9E9B2CE1E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96B1F-9381-2D4D-869B-87C1DD049FC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0500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7" Type="http://schemas.openxmlformats.org/officeDocument/2006/relationships/image" Target="../media/image11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tiff"/><Relationship Id="rId5" Type="http://schemas.openxmlformats.org/officeDocument/2006/relationships/image" Target="../media/image9.png"/><Relationship Id="rId4" Type="http://schemas.openxmlformats.org/officeDocument/2006/relationships/image" Target="../media/image8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3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10" Type="http://schemas.openxmlformats.org/officeDocument/2006/relationships/image" Target="../media/image34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8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urso Gestión y optimización de procesos">
            <a:extLst>
              <a:ext uri="{FF2B5EF4-FFF2-40B4-BE49-F238E27FC236}">
                <a16:creationId xmlns:a16="http://schemas.microsoft.com/office/drawing/2014/main" id="{59CF8A95-401D-8C00-F964-5B8407012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57" y="0"/>
            <a:ext cx="61874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5A04D2C-A70D-9BD7-8948-179BB9BB556A}"/>
              </a:ext>
            </a:extLst>
          </p:cNvPr>
          <p:cNvSpPr txBox="1"/>
          <p:nvPr/>
        </p:nvSpPr>
        <p:spPr>
          <a:xfrm>
            <a:off x="166977" y="1924216"/>
            <a:ext cx="35862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b="1" dirty="0">
              <a:solidFill>
                <a:schemeClr val="accent1"/>
              </a:solidFill>
            </a:endParaRPr>
          </a:p>
          <a:p>
            <a:r>
              <a:rPr lang="es-ES_tradnl" b="1" dirty="0">
                <a:solidFill>
                  <a:schemeClr val="accent1"/>
                </a:solidFill>
              </a:rPr>
              <a:t>Proyecto de Mejora de Procesos</a:t>
            </a:r>
          </a:p>
          <a:p>
            <a:r>
              <a:rPr lang="es-ES_tradnl" b="1" dirty="0">
                <a:solidFill>
                  <a:schemeClr val="accent1"/>
                </a:solidFill>
              </a:rPr>
              <a:t>en Empresa de Consumo Masivo</a:t>
            </a:r>
          </a:p>
          <a:p>
            <a:r>
              <a:rPr lang="es-ES_tradnl" dirty="0">
                <a:solidFill>
                  <a:schemeClr val="accent1"/>
                </a:solidFill>
              </a:rPr>
              <a:t>Presentación Ejecutiva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22E063C-6DF9-BE35-1E71-A311656ED60A}"/>
              </a:ext>
            </a:extLst>
          </p:cNvPr>
          <p:cNvSpPr txBox="1"/>
          <p:nvPr/>
        </p:nvSpPr>
        <p:spPr>
          <a:xfrm>
            <a:off x="166977" y="4271176"/>
            <a:ext cx="24561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400" dirty="0">
              <a:solidFill>
                <a:schemeClr val="accent1"/>
              </a:solidFill>
            </a:endParaRPr>
          </a:p>
          <a:p>
            <a:r>
              <a:rPr lang="es-ES_tradnl" sz="1400" dirty="0">
                <a:solidFill>
                  <a:schemeClr val="accent1"/>
                </a:solidFill>
              </a:rPr>
              <a:t>Por Mg. Marco Caldas</a:t>
            </a:r>
          </a:p>
          <a:p>
            <a:r>
              <a:rPr lang="es-ES_tradnl" sz="1400" dirty="0">
                <a:solidFill>
                  <a:schemeClr val="accent1"/>
                </a:solidFill>
              </a:rPr>
              <a:t>Martes, 22 de Agosto de 2025</a:t>
            </a:r>
          </a:p>
        </p:txBody>
      </p:sp>
    </p:spTree>
    <p:extLst>
      <p:ext uri="{BB962C8B-B14F-4D97-AF65-F5344CB8AC3E}">
        <p14:creationId xmlns:p14="http://schemas.microsoft.com/office/powerpoint/2010/main" val="3892796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b="1" dirty="0">
                <a:solidFill>
                  <a:srgbClr val="C00000"/>
                </a:solidFill>
              </a:rPr>
              <a:t>Agenda</a:t>
            </a:r>
          </a:p>
        </p:txBody>
      </p:sp>
      <p:sp>
        <p:nvSpPr>
          <p:cNvPr id="6" name="Rectángulo 5"/>
          <p:cNvSpPr/>
          <p:nvPr/>
        </p:nvSpPr>
        <p:spPr>
          <a:xfrm>
            <a:off x="1571625" y="1486736"/>
            <a:ext cx="7505468" cy="5038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s-PE" b="1" dirty="0">
                <a:solidFill>
                  <a:schemeClr val="tx2"/>
                </a:solidFill>
              </a:rPr>
              <a:t>Antecedentes: Objetivo del Estudio</a:t>
            </a: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s-PE" b="1" dirty="0">
                <a:solidFill>
                  <a:schemeClr val="tx2"/>
                </a:solidFill>
              </a:rPr>
              <a:t>Enfoque de Solución</a:t>
            </a: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s-PE" b="1" dirty="0">
                <a:solidFill>
                  <a:schemeClr val="tx2"/>
                </a:solidFill>
              </a:rPr>
              <a:t>Metodología de Trabajo</a:t>
            </a: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s-PE" b="1" dirty="0">
                <a:solidFill>
                  <a:schemeClr val="tx2"/>
                </a:solidFill>
              </a:rPr>
              <a:t>Proceso Analizado: Hire to Retire </a:t>
            </a:r>
            <a:r>
              <a:rPr lang="es-PE" b="1" dirty="0">
                <a:solidFill>
                  <a:schemeClr val="tx2"/>
                </a:solidFill>
                <a:sym typeface="Wingdings" pitchFamily="2" charset="2"/>
              </a:rPr>
              <a:t> Reclutamiento y Selcción</a:t>
            </a: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s-PE" b="1" dirty="0">
                <a:solidFill>
                  <a:schemeClr val="tx2"/>
                </a:solidFill>
                <a:sym typeface="Wingdings" pitchFamily="2" charset="2"/>
              </a:rPr>
              <a:t>Problemática Identificada – Modelo AS IS</a:t>
            </a: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s-PE" b="1" dirty="0">
                <a:solidFill>
                  <a:schemeClr val="tx2"/>
                </a:solidFill>
                <a:sym typeface="Wingdings" pitchFamily="2" charset="2"/>
              </a:rPr>
              <a:t>Propuesta de Mejoras – Modelo TO BE</a:t>
            </a: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s-PE" b="1" dirty="0">
                <a:solidFill>
                  <a:schemeClr val="tx2"/>
                </a:solidFill>
                <a:sym typeface="Wingdings" pitchFamily="2" charset="2"/>
              </a:rPr>
              <a:t>Conclusiones</a:t>
            </a: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endParaRPr lang="es-PE" b="1" dirty="0">
              <a:solidFill>
                <a:schemeClr val="tx2"/>
              </a:solidFill>
              <a:sym typeface="Wingdings" pitchFamily="2" charset="2"/>
            </a:endParaRP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endParaRPr lang="es-PE" b="1" dirty="0">
              <a:solidFill>
                <a:schemeClr val="tx2"/>
              </a:solidFill>
            </a:endParaRP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endParaRPr lang="es-PE" b="1" dirty="0">
              <a:solidFill>
                <a:schemeClr val="tx2"/>
              </a:solidFill>
            </a:endParaRPr>
          </a:p>
          <a:p>
            <a:pPr marL="400050" indent="-4000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endParaRPr lang="es-PE" b="1" dirty="0">
              <a:solidFill>
                <a:schemeClr val="tx2"/>
              </a:solidFill>
            </a:endParaRPr>
          </a:p>
          <a:p>
            <a:pPr marL="400050" indent="-400050">
              <a:lnSpc>
                <a:spcPct val="150000"/>
              </a:lnSpc>
              <a:buClr>
                <a:schemeClr val="accent1"/>
              </a:buClr>
              <a:buFont typeface="+mj-lt"/>
              <a:buAutoNum type="romanUcPeriod"/>
            </a:pPr>
            <a:endParaRPr lang="es-PE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616699"/>
      </p:ext>
    </p:extLst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91789B1-55E4-2615-4591-1BA73EC05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z="3200" b="1" dirty="0"/>
              <a:t>ANTECEDENTES</a:t>
            </a:r>
            <a:br>
              <a:rPr lang="es-ES_tradnl" sz="3200" b="1" dirty="0"/>
            </a:br>
            <a:r>
              <a:rPr lang="es-ES_tradnl" sz="2400" b="1" dirty="0">
                <a:solidFill>
                  <a:schemeClr val="accent1"/>
                </a:solidFill>
              </a:rPr>
              <a:t>Objetivo del Estudio</a:t>
            </a:r>
          </a:p>
        </p:txBody>
      </p:sp>
      <p:pic>
        <p:nvPicPr>
          <p:cNvPr id="2050" name="Picture 2" descr="Consumo masivo: nuevos jugadores y estrategias en la cancha | Conexión ESAN">
            <a:extLst>
              <a:ext uri="{FF2B5EF4-FFF2-40B4-BE49-F238E27FC236}">
                <a16:creationId xmlns:a16="http://schemas.microsoft.com/office/drawing/2014/main" id="{2627E41A-AC2F-29CA-3F83-1319556B1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590" y="0"/>
            <a:ext cx="4954410" cy="278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ABB46E-70FB-B785-04BB-ACA0E1D30989}"/>
              </a:ext>
            </a:extLst>
          </p:cNvPr>
          <p:cNvSpPr txBox="1"/>
          <p:nvPr/>
        </p:nvSpPr>
        <p:spPr>
          <a:xfrm>
            <a:off x="7475891" y="2166701"/>
            <a:ext cx="2302534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bg1"/>
                </a:solidFill>
              </a:rPr>
              <a:t>EMPRESA ABC S.A.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F8A437-43B3-DD6F-E993-34744907BA47}"/>
              </a:ext>
            </a:extLst>
          </p:cNvPr>
          <p:cNvSpPr txBox="1"/>
          <p:nvPr/>
        </p:nvSpPr>
        <p:spPr>
          <a:xfrm>
            <a:off x="774171" y="1600201"/>
            <a:ext cx="2302534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bg1"/>
                </a:solidFill>
              </a:rPr>
              <a:t>EMPRESA ABC S.A.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E33C8-24AE-D622-389C-F3750EC2A9FC}"/>
              </a:ext>
            </a:extLst>
          </p:cNvPr>
          <p:cNvSpPr txBox="1"/>
          <p:nvPr/>
        </p:nvSpPr>
        <p:spPr>
          <a:xfrm>
            <a:off x="774171" y="2048986"/>
            <a:ext cx="40579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Empresa con 50 años en el Mercado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Presencia Local y Regional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Facturación de más de $1,200M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Más de 10K colaboradores</a:t>
            </a:r>
          </a:p>
          <a:p>
            <a:pPr marL="285750" indent="-285750">
              <a:buFontTx/>
              <a:buChar char="-"/>
            </a:pPr>
            <a:endParaRPr lang="es-ES_tradn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D2CED1E-30A8-2D38-8423-77118BC3916B}"/>
              </a:ext>
            </a:extLst>
          </p:cNvPr>
          <p:cNvSpPr txBox="1"/>
          <p:nvPr/>
        </p:nvSpPr>
        <p:spPr>
          <a:xfrm>
            <a:off x="774171" y="3292886"/>
            <a:ext cx="2302534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bg1"/>
                </a:solidFill>
              </a:rPr>
              <a:t>CONTEXTO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EDF719E-504F-18A6-AC0B-AF1774010280}"/>
              </a:ext>
            </a:extLst>
          </p:cNvPr>
          <p:cNvSpPr txBox="1"/>
          <p:nvPr/>
        </p:nvSpPr>
        <p:spPr>
          <a:xfrm>
            <a:off x="774171" y="3651771"/>
            <a:ext cx="8937096" cy="25505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La empresa ABC S.A. </a:t>
            </a:r>
            <a:r>
              <a:rPr lang="es-ES_tradnl" b="1" dirty="0">
                <a:solidFill>
                  <a:srgbClr val="C00000"/>
                </a:solidFill>
              </a:rPr>
              <a:t>acaba de terminar la implementación </a:t>
            </a:r>
            <a:r>
              <a:rPr lang="es-ES_tradnl" dirty="0"/>
              <a:t>de la nueva versión del ERP de clase mundial que venía utilizando. La versión anterior tenía más de 10 años.</a:t>
            </a:r>
          </a:p>
          <a:p>
            <a:pPr marL="285750" indent="-285750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Con la nueva funcionalidad del Sistema, se esperaba que los problemas operativos del proceso de Reclutamiento y Selección del área respectiva se superarían. Sin embargo, el Gerente de Gestión Humana, </a:t>
            </a:r>
            <a:r>
              <a:rPr lang="es-ES_tradnl" b="1" dirty="0">
                <a:solidFill>
                  <a:srgbClr val="C00000"/>
                </a:solidFill>
              </a:rPr>
              <a:t>sigue reportando demoras en el proceso</a:t>
            </a:r>
            <a:r>
              <a:rPr lang="es-ES_tradnl" dirty="0"/>
              <a:t>, que evitan cumplir con los Niveles de Acuerdos de Servicio comprometidos. Esta sensación se replica en otras áreas de la Organización.</a:t>
            </a:r>
          </a:p>
          <a:p>
            <a:pPr marL="285750" indent="-285750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Se busca un </a:t>
            </a:r>
            <a:r>
              <a:rPr lang="es-ES_tradnl" b="1" dirty="0">
                <a:solidFill>
                  <a:srgbClr val="C00000"/>
                </a:solidFill>
              </a:rPr>
              <a:t>análisis integral de los procesos </a:t>
            </a:r>
            <a:r>
              <a:rPr lang="es-ES_tradnl" dirty="0"/>
              <a:t>y diseñar un nuevo modelo que aproveche la tecnología para lograr objetivos de eficiencia.</a:t>
            </a:r>
          </a:p>
        </p:txBody>
      </p:sp>
    </p:spTree>
    <p:extLst>
      <p:ext uri="{BB962C8B-B14F-4D97-AF65-F5344CB8AC3E}">
        <p14:creationId xmlns:p14="http://schemas.microsoft.com/office/powerpoint/2010/main" val="268476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26">
            <a:extLst>
              <a:ext uri="{FF2B5EF4-FFF2-40B4-BE49-F238E27FC236}">
                <a16:creationId xmlns:a16="http://schemas.microsoft.com/office/drawing/2014/main" id="{14C74E6F-7B3E-8945-2C4E-C356DAD80600}"/>
              </a:ext>
            </a:extLst>
          </p:cNvPr>
          <p:cNvSpPr/>
          <p:nvPr/>
        </p:nvSpPr>
        <p:spPr>
          <a:xfrm>
            <a:off x="2792510" y="2574270"/>
            <a:ext cx="97094" cy="1939873"/>
          </a:xfrm>
          <a:prstGeom prst="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s-ES_tradnl"/>
          </a:p>
        </p:txBody>
      </p:sp>
      <p:sp>
        <p:nvSpPr>
          <p:cNvPr id="3" name="Rectángulo 40">
            <a:extLst>
              <a:ext uri="{FF2B5EF4-FFF2-40B4-BE49-F238E27FC236}">
                <a16:creationId xmlns:a16="http://schemas.microsoft.com/office/drawing/2014/main" id="{EDB3C2A0-414A-A4D2-00BB-4B510477A500}"/>
              </a:ext>
            </a:extLst>
          </p:cNvPr>
          <p:cNvSpPr/>
          <p:nvPr/>
        </p:nvSpPr>
        <p:spPr>
          <a:xfrm>
            <a:off x="4333588" y="3919822"/>
            <a:ext cx="107999" cy="1640101"/>
          </a:xfrm>
          <a:prstGeom prst="rect">
            <a:avLst/>
          </a:prstGeom>
          <a:solidFill>
            <a:srgbClr val="00B05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/>
          </a:p>
        </p:txBody>
      </p:sp>
      <p:sp>
        <p:nvSpPr>
          <p:cNvPr id="4" name="Rectángulo 41">
            <a:extLst>
              <a:ext uri="{FF2B5EF4-FFF2-40B4-BE49-F238E27FC236}">
                <a16:creationId xmlns:a16="http://schemas.microsoft.com/office/drawing/2014/main" id="{5BE15510-C3BB-1A7A-071B-643AECF2D382}"/>
              </a:ext>
            </a:extLst>
          </p:cNvPr>
          <p:cNvSpPr/>
          <p:nvPr/>
        </p:nvSpPr>
        <p:spPr>
          <a:xfrm>
            <a:off x="6055014" y="4820490"/>
            <a:ext cx="107999" cy="135829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/>
          </a:p>
        </p:txBody>
      </p:sp>
      <p:sp>
        <p:nvSpPr>
          <p:cNvPr id="6" name="Rectángulo: esquinas redondeadas 4">
            <a:extLst>
              <a:ext uri="{FF2B5EF4-FFF2-40B4-BE49-F238E27FC236}">
                <a16:creationId xmlns:a16="http://schemas.microsoft.com/office/drawing/2014/main" id="{D0EF3DB5-718D-0E36-7DBD-A241B5D69EE2}"/>
              </a:ext>
            </a:extLst>
          </p:cNvPr>
          <p:cNvSpPr/>
          <p:nvPr/>
        </p:nvSpPr>
        <p:spPr>
          <a:xfrm>
            <a:off x="5415875" y="4453697"/>
            <a:ext cx="2279412" cy="700961"/>
          </a:xfrm>
          <a:prstGeom prst="round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PE" b="1" dirty="0">
                <a:solidFill>
                  <a:schemeClr val="bg1"/>
                </a:solidFill>
                <a:latin typeface="Trebuchet MS"/>
              </a:rPr>
              <a:t>Tercera Línea</a:t>
            </a: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PE" dirty="0">
                <a:solidFill>
                  <a:schemeClr val="bg1"/>
                </a:solidFill>
                <a:latin typeface="Trebuchet MS"/>
              </a:rPr>
              <a:t>PERSONAS </a:t>
            </a:r>
          </a:p>
        </p:txBody>
      </p:sp>
      <p:sp>
        <p:nvSpPr>
          <p:cNvPr id="11" name="Rectángulo: esquinas redondeadas 4">
            <a:extLst>
              <a:ext uri="{FF2B5EF4-FFF2-40B4-BE49-F238E27FC236}">
                <a16:creationId xmlns:a16="http://schemas.microsoft.com/office/drawing/2014/main" id="{1BA3C8D9-64AF-6B3B-E643-0A562498D44E}"/>
              </a:ext>
            </a:extLst>
          </p:cNvPr>
          <p:cNvSpPr/>
          <p:nvPr/>
        </p:nvSpPr>
        <p:spPr>
          <a:xfrm>
            <a:off x="2074735" y="2419225"/>
            <a:ext cx="2491396" cy="683440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PE" b="1" dirty="0">
                <a:solidFill>
                  <a:srgbClr val="FFFFFF"/>
                </a:solidFill>
                <a:latin typeface="Trebuchet MS"/>
              </a:rPr>
              <a:t>Primera Línea</a:t>
            </a:r>
            <a:br>
              <a:rPr lang="es-PE" b="1" dirty="0">
                <a:solidFill>
                  <a:srgbClr val="FFFFFF"/>
                </a:solidFill>
                <a:latin typeface="Trebuchet MS"/>
              </a:rPr>
            </a:br>
            <a:r>
              <a:rPr lang="es-PE" dirty="0">
                <a:solidFill>
                  <a:srgbClr val="FFFFFF"/>
                </a:solidFill>
                <a:latin typeface="Trebuchet MS"/>
              </a:rPr>
              <a:t>TECNOLOGÍA </a:t>
            </a:r>
          </a:p>
        </p:txBody>
      </p:sp>
      <p:sp>
        <p:nvSpPr>
          <p:cNvPr id="13" name="Rectángulo: esquinas redondeadas 4">
            <a:extLst>
              <a:ext uri="{FF2B5EF4-FFF2-40B4-BE49-F238E27FC236}">
                <a16:creationId xmlns:a16="http://schemas.microsoft.com/office/drawing/2014/main" id="{6003F927-16CC-F1AB-F29E-44966B33C808}"/>
              </a:ext>
            </a:extLst>
          </p:cNvPr>
          <p:cNvSpPr/>
          <p:nvPr/>
        </p:nvSpPr>
        <p:spPr>
          <a:xfrm>
            <a:off x="3551500" y="3464684"/>
            <a:ext cx="2392879" cy="702936"/>
          </a:xfrm>
          <a:prstGeom prst="roundRect">
            <a:avLst/>
          </a:prstGeom>
          <a:solidFill>
            <a:srgbClr val="00B05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PE" b="1" dirty="0">
                <a:solidFill>
                  <a:srgbClr val="FFFFFF"/>
                </a:solidFill>
                <a:latin typeface="Trebuchet MS"/>
              </a:rPr>
              <a:t>Segunda Línea</a:t>
            </a: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PE" dirty="0">
                <a:solidFill>
                  <a:srgbClr val="FFFFFF"/>
                </a:solidFill>
                <a:latin typeface="Trebuchet MS"/>
              </a:rPr>
              <a:t>PROCESOS </a:t>
            </a:r>
          </a:p>
        </p:txBody>
      </p:sp>
      <p:pic>
        <p:nvPicPr>
          <p:cNvPr id="14" name="Imagen 69">
            <a:extLst>
              <a:ext uri="{FF2B5EF4-FFF2-40B4-BE49-F238E27FC236}">
                <a16:creationId xmlns:a16="http://schemas.microsoft.com/office/drawing/2014/main" id="{6DBFF100-C325-AC05-3108-D9F58DBF31E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171829" y="2448999"/>
            <a:ext cx="634068" cy="634068"/>
          </a:xfrm>
          <a:prstGeom prst="rect">
            <a:avLst/>
          </a:prstGeom>
        </p:spPr>
      </p:pic>
      <p:pic>
        <p:nvPicPr>
          <p:cNvPr id="15" name="Imagen 70">
            <a:extLst>
              <a:ext uri="{FF2B5EF4-FFF2-40B4-BE49-F238E27FC236}">
                <a16:creationId xmlns:a16="http://schemas.microsoft.com/office/drawing/2014/main" id="{26E1466C-9837-E534-369D-1D1CB293267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376" y="3502975"/>
            <a:ext cx="644544" cy="644544"/>
          </a:xfrm>
          <a:prstGeom prst="rect">
            <a:avLst/>
          </a:prstGeom>
        </p:spPr>
      </p:pic>
      <p:pic>
        <p:nvPicPr>
          <p:cNvPr id="16" name="Imagen 73">
            <a:extLst>
              <a:ext uri="{FF2B5EF4-FFF2-40B4-BE49-F238E27FC236}">
                <a16:creationId xmlns:a16="http://schemas.microsoft.com/office/drawing/2014/main" id="{07EC16B9-4AFE-4085-B4DD-F399A217451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2364" y="4514149"/>
            <a:ext cx="547956" cy="547956"/>
          </a:xfrm>
          <a:prstGeom prst="rect">
            <a:avLst/>
          </a:prstGeom>
        </p:spPr>
      </p:pic>
      <p:sp>
        <p:nvSpPr>
          <p:cNvPr id="17" name="TextBox 15">
            <a:extLst>
              <a:ext uri="{FF2B5EF4-FFF2-40B4-BE49-F238E27FC236}">
                <a16:creationId xmlns:a16="http://schemas.microsoft.com/office/drawing/2014/main" id="{64CE5C58-51F3-B505-4976-77C228260337}"/>
              </a:ext>
            </a:extLst>
          </p:cNvPr>
          <p:cNvSpPr txBox="1"/>
          <p:nvPr/>
        </p:nvSpPr>
        <p:spPr>
          <a:xfrm>
            <a:off x="4655449" y="2441681"/>
            <a:ext cx="1581597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_tradnl" sz="1100" dirty="0"/>
              <a:t>La tecnología define circuitos de operación eficientes y comprobados con controles auditables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4F81DD8B-2E43-F2AA-DC89-27052073EC56}"/>
              </a:ext>
            </a:extLst>
          </p:cNvPr>
          <p:cNvSpPr txBox="1"/>
          <p:nvPr/>
        </p:nvSpPr>
        <p:spPr>
          <a:xfrm>
            <a:off x="6100126" y="3457686"/>
            <a:ext cx="1581597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_tradnl" sz="1100" dirty="0"/>
              <a:t>El adecuado diseño y distribución de actividades genera eficiencia y control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69B0B651-2F76-1B01-2976-2D58009EDEFB}"/>
              </a:ext>
            </a:extLst>
          </p:cNvPr>
          <p:cNvSpPr txBox="1"/>
          <p:nvPr/>
        </p:nvSpPr>
        <p:spPr>
          <a:xfrm>
            <a:off x="6330223" y="5311479"/>
            <a:ext cx="1673088" cy="700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_tradnl" sz="1100" dirty="0"/>
              <a:t>Las capacidades de las personas involucradas permiten tomar decisiones adecuadas</a:t>
            </a:r>
          </a:p>
        </p:txBody>
      </p:sp>
      <p:sp>
        <p:nvSpPr>
          <p:cNvPr id="23" name="Rectangle 68">
            <a:extLst>
              <a:ext uri="{FF2B5EF4-FFF2-40B4-BE49-F238E27FC236}">
                <a16:creationId xmlns:a16="http://schemas.microsoft.com/office/drawing/2014/main" id="{E23514C9-D88A-FFA7-7BCC-2C34A462787A}"/>
              </a:ext>
            </a:extLst>
          </p:cNvPr>
          <p:cNvSpPr/>
          <p:nvPr/>
        </p:nvSpPr>
        <p:spPr>
          <a:xfrm>
            <a:off x="1979341" y="2265594"/>
            <a:ext cx="6213644" cy="3913190"/>
          </a:xfrm>
          <a:prstGeom prst="rect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s-ES_tradnl"/>
          </a:p>
        </p:txBody>
      </p:sp>
      <p:cxnSp>
        <p:nvCxnSpPr>
          <p:cNvPr id="24" name="Straight Arrow Connector 84">
            <a:extLst>
              <a:ext uri="{FF2B5EF4-FFF2-40B4-BE49-F238E27FC236}">
                <a16:creationId xmlns:a16="http://schemas.microsoft.com/office/drawing/2014/main" id="{E1457294-3E3D-64BF-B87B-7BEBB34D2120}"/>
              </a:ext>
            </a:extLst>
          </p:cNvPr>
          <p:cNvCxnSpPr/>
          <p:nvPr/>
        </p:nvCxnSpPr>
        <p:spPr>
          <a:xfrm>
            <a:off x="2059128" y="3952575"/>
            <a:ext cx="733382" cy="0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5">
            <a:extLst>
              <a:ext uri="{FF2B5EF4-FFF2-40B4-BE49-F238E27FC236}">
                <a16:creationId xmlns:a16="http://schemas.microsoft.com/office/drawing/2014/main" id="{76ACDD85-4BAC-553B-A8E7-F455E3F73E3C}"/>
              </a:ext>
            </a:extLst>
          </p:cNvPr>
          <p:cNvCxnSpPr>
            <a:cxnSpLocks/>
          </p:cNvCxnSpPr>
          <p:nvPr/>
        </p:nvCxnSpPr>
        <p:spPr>
          <a:xfrm>
            <a:off x="2059129" y="4995750"/>
            <a:ext cx="2258271" cy="0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87">
            <a:extLst>
              <a:ext uri="{FF2B5EF4-FFF2-40B4-BE49-F238E27FC236}">
                <a16:creationId xmlns:a16="http://schemas.microsoft.com/office/drawing/2014/main" id="{50F67ACF-E28A-ECDE-D0EC-E094F8A95146}"/>
              </a:ext>
            </a:extLst>
          </p:cNvPr>
          <p:cNvCxnSpPr>
            <a:cxnSpLocks/>
          </p:cNvCxnSpPr>
          <p:nvPr/>
        </p:nvCxnSpPr>
        <p:spPr>
          <a:xfrm>
            <a:off x="2074735" y="5944438"/>
            <a:ext cx="3987017" cy="0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89">
            <a:extLst>
              <a:ext uri="{FF2B5EF4-FFF2-40B4-BE49-F238E27FC236}">
                <a16:creationId xmlns:a16="http://schemas.microsoft.com/office/drawing/2014/main" id="{8E3DF608-9AE9-5B40-9250-ABC6309FB4E3}"/>
              </a:ext>
            </a:extLst>
          </p:cNvPr>
          <p:cNvSpPr/>
          <p:nvPr/>
        </p:nvSpPr>
        <p:spPr>
          <a:xfrm>
            <a:off x="6993468" y="2265593"/>
            <a:ext cx="1199517" cy="6834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s-ES_tradnl" sz="1400" b="1" dirty="0">
                <a:solidFill>
                  <a:schemeClr val="tx2"/>
                </a:solidFill>
              </a:rPr>
              <a:t>Modelo Operativo</a:t>
            </a:r>
          </a:p>
        </p:txBody>
      </p:sp>
      <p:sp>
        <p:nvSpPr>
          <p:cNvPr id="30" name="Título 4">
            <a:extLst>
              <a:ext uri="{FF2B5EF4-FFF2-40B4-BE49-F238E27FC236}">
                <a16:creationId xmlns:a16="http://schemas.microsoft.com/office/drawing/2014/main" id="{917DB355-660E-140E-778A-7D5093A6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z="3200" b="1" dirty="0"/>
              <a:t>Enfoque de Solución</a:t>
            </a:r>
            <a:br>
              <a:rPr lang="es-ES_tradnl" sz="3200" b="1" dirty="0"/>
            </a:br>
            <a:r>
              <a:rPr lang="es-ES_tradnl" sz="2400" b="1" dirty="0">
                <a:solidFill>
                  <a:schemeClr val="accent1"/>
                </a:solidFill>
              </a:rPr>
              <a:t>Tres Líneas de Defensa Operativa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D41981-ED87-2A1D-0A49-645B227C58C4}"/>
              </a:ext>
            </a:extLst>
          </p:cNvPr>
          <p:cNvSpPr txBox="1"/>
          <p:nvPr/>
        </p:nvSpPr>
        <p:spPr>
          <a:xfrm>
            <a:off x="681037" y="1475368"/>
            <a:ext cx="8543925" cy="624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Cada línea de defensa </a:t>
            </a:r>
            <a:r>
              <a:rPr lang="es-ES_tradnl" b="1" dirty="0">
                <a:solidFill>
                  <a:srgbClr val="FF0000"/>
                </a:solidFill>
              </a:rPr>
              <a:t>“protege” </a:t>
            </a:r>
            <a:r>
              <a:rPr lang="es-ES_tradnl" dirty="0"/>
              <a:t>a la Organización de posibles ineficiencias y contribuye al logro de los objetivos planteados.</a:t>
            </a:r>
          </a:p>
        </p:txBody>
      </p:sp>
      <p:sp>
        <p:nvSpPr>
          <p:cNvPr id="34" name="Flecha derecha 33">
            <a:extLst>
              <a:ext uri="{FF2B5EF4-FFF2-40B4-BE49-F238E27FC236}">
                <a16:creationId xmlns:a16="http://schemas.microsoft.com/office/drawing/2014/main" id="{1058E534-1100-D722-3490-2A13A37741D8}"/>
              </a:ext>
            </a:extLst>
          </p:cNvPr>
          <p:cNvSpPr/>
          <p:nvPr/>
        </p:nvSpPr>
        <p:spPr>
          <a:xfrm>
            <a:off x="476549" y="3585852"/>
            <a:ext cx="1347045" cy="7334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dirty="0"/>
              <a:t>PROBLEMA</a:t>
            </a:r>
          </a:p>
          <a:p>
            <a:pPr algn="ctr"/>
            <a:r>
              <a:rPr lang="es-ES_tradnl" sz="900" dirty="0"/>
              <a:t>DE OPERACIÓN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D7504946-6E83-9652-4B23-A829152FA751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4441587" y="5486400"/>
            <a:ext cx="1613427" cy="13237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E0B4EF67-FC43-9494-FDA2-0696FD03F08E}"/>
              </a:ext>
            </a:extLst>
          </p:cNvPr>
          <p:cNvCxnSpPr>
            <a:cxnSpLocks/>
          </p:cNvCxnSpPr>
          <p:nvPr/>
        </p:nvCxnSpPr>
        <p:spPr>
          <a:xfrm flipH="1">
            <a:off x="2881437" y="4401805"/>
            <a:ext cx="1435963" cy="8467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6D4CF92-5816-74F2-536F-A4E9D6FF5BB4}"/>
              </a:ext>
            </a:extLst>
          </p:cNvPr>
          <p:cNvSpPr txBox="1"/>
          <p:nvPr/>
        </p:nvSpPr>
        <p:spPr>
          <a:xfrm>
            <a:off x="2948114" y="4429071"/>
            <a:ext cx="14029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700" b="1" dirty="0">
                <a:solidFill>
                  <a:srgbClr val="00B0F0"/>
                </a:solidFill>
              </a:rPr>
              <a:t>CICLO DE MEJORA CONTINUA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6599594-2012-174F-E34B-F8F0B2F4C525}"/>
              </a:ext>
            </a:extLst>
          </p:cNvPr>
          <p:cNvSpPr txBox="1"/>
          <p:nvPr/>
        </p:nvSpPr>
        <p:spPr>
          <a:xfrm>
            <a:off x="4539032" y="5511454"/>
            <a:ext cx="14029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700" b="1" dirty="0">
                <a:solidFill>
                  <a:srgbClr val="00B0F0"/>
                </a:solidFill>
              </a:rPr>
              <a:t>CICLO DE MEJORA CONTINUA</a:t>
            </a:r>
          </a:p>
        </p:txBody>
      </p:sp>
    </p:spTree>
    <p:extLst>
      <p:ext uri="{BB962C8B-B14F-4D97-AF65-F5344CB8AC3E}">
        <p14:creationId xmlns:p14="http://schemas.microsoft.com/office/powerpoint/2010/main" val="214243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11" grpId="0" animBg="1"/>
      <p:bldP spid="13" grpId="0" animBg="1"/>
      <p:bldP spid="17" grpId="0"/>
      <p:bldP spid="18" grpId="0"/>
      <p:bldP spid="19" grpId="0"/>
      <p:bldP spid="23" grpId="0" animBg="1"/>
      <p:bldP spid="27" grpId="0" animBg="1"/>
      <p:bldP spid="34" grpId="0" animBg="1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741A713A-46CB-350A-E02C-EEBB317483C1}"/>
              </a:ext>
            </a:extLst>
          </p:cNvPr>
          <p:cNvSpPr txBox="1">
            <a:spLocks/>
          </p:cNvSpPr>
          <p:nvPr/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Metodología de Trabajo</a:t>
            </a:r>
          </a:p>
          <a:p>
            <a:r>
              <a:rPr lang="es-ES_tradnl" sz="2400" b="1" dirty="0">
                <a:solidFill>
                  <a:schemeClr val="accent1"/>
                </a:solidFill>
              </a:rPr>
              <a:t>Etapas del Estudio</a:t>
            </a:r>
          </a:p>
        </p:txBody>
      </p:sp>
      <p:sp>
        <p:nvSpPr>
          <p:cNvPr id="80" name="Rectangle 33">
            <a:extLst>
              <a:ext uri="{FF2B5EF4-FFF2-40B4-BE49-F238E27FC236}">
                <a16:creationId xmlns:a16="http://schemas.microsoft.com/office/drawing/2014/main" id="{B3268581-2B79-0DF0-B87C-B6A0DDE002BE}"/>
              </a:ext>
            </a:extLst>
          </p:cNvPr>
          <p:cNvSpPr/>
          <p:nvPr/>
        </p:nvSpPr>
        <p:spPr>
          <a:xfrm>
            <a:off x="760874" y="2153937"/>
            <a:ext cx="2723649" cy="3391626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1" name="Rectangle 33">
            <a:extLst>
              <a:ext uri="{FF2B5EF4-FFF2-40B4-BE49-F238E27FC236}">
                <a16:creationId xmlns:a16="http://schemas.microsoft.com/office/drawing/2014/main" id="{5839909D-5FCB-BF75-0DA4-37F7F72D7CD2}"/>
              </a:ext>
            </a:extLst>
          </p:cNvPr>
          <p:cNvSpPr/>
          <p:nvPr/>
        </p:nvSpPr>
        <p:spPr>
          <a:xfrm>
            <a:off x="6488510" y="2153936"/>
            <a:ext cx="2723649" cy="3391625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2" name="Rectangle 33">
            <a:extLst>
              <a:ext uri="{FF2B5EF4-FFF2-40B4-BE49-F238E27FC236}">
                <a16:creationId xmlns:a16="http://schemas.microsoft.com/office/drawing/2014/main" id="{C3933F58-DBE5-7A81-044D-1508289063C6}"/>
              </a:ext>
            </a:extLst>
          </p:cNvPr>
          <p:cNvSpPr/>
          <p:nvPr/>
        </p:nvSpPr>
        <p:spPr>
          <a:xfrm>
            <a:off x="3616093" y="2153937"/>
            <a:ext cx="2723649" cy="3391626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v</a:t>
            </a:r>
          </a:p>
        </p:txBody>
      </p:sp>
      <p:sp>
        <p:nvSpPr>
          <p:cNvPr id="83" name="Rectangle 26">
            <a:extLst>
              <a:ext uri="{FF2B5EF4-FFF2-40B4-BE49-F238E27FC236}">
                <a16:creationId xmlns:a16="http://schemas.microsoft.com/office/drawing/2014/main" id="{FC97AF75-ACB1-555E-5C1C-F0828035F7C4}"/>
              </a:ext>
            </a:extLst>
          </p:cNvPr>
          <p:cNvSpPr/>
          <p:nvPr/>
        </p:nvSpPr>
        <p:spPr bwMode="auto">
          <a:xfrm>
            <a:off x="748415" y="1630177"/>
            <a:ext cx="900000" cy="432000"/>
          </a:xfrm>
          <a:prstGeom prst="rect">
            <a:avLst/>
          </a:prstGeom>
          <a:solidFill>
            <a:srgbClr val="218F8B">
              <a:lumMod val="1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ETAPA 1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84" name="Rectangle 26">
            <a:extLst>
              <a:ext uri="{FF2B5EF4-FFF2-40B4-BE49-F238E27FC236}">
                <a16:creationId xmlns:a16="http://schemas.microsoft.com/office/drawing/2014/main" id="{55D357AC-79DB-3F8D-8920-9C9FD277E207}"/>
              </a:ext>
            </a:extLst>
          </p:cNvPr>
          <p:cNvSpPr/>
          <p:nvPr/>
        </p:nvSpPr>
        <p:spPr bwMode="auto">
          <a:xfrm>
            <a:off x="1672064" y="1630177"/>
            <a:ext cx="1800000" cy="432000"/>
          </a:xfrm>
          <a:prstGeom prst="rect">
            <a:avLst/>
          </a:prstGeom>
          <a:solidFill>
            <a:srgbClr val="ED1A3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Entendimiento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87" name="Rectangle 26">
            <a:extLst>
              <a:ext uri="{FF2B5EF4-FFF2-40B4-BE49-F238E27FC236}">
                <a16:creationId xmlns:a16="http://schemas.microsoft.com/office/drawing/2014/main" id="{7FC4CA27-DF53-A20C-5F87-D5AE968A5F7D}"/>
              </a:ext>
            </a:extLst>
          </p:cNvPr>
          <p:cNvSpPr/>
          <p:nvPr/>
        </p:nvSpPr>
        <p:spPr bwMode="auto">
          <a:xfrm>
            <a:off x="3616093" y="1630177"/>
            <a:ext cx="900000" cy="432000"/>
          </a:xfrm>
          <a:prstGeom prst="rect">
            <a:avLst/>
          </a:prstGeom>
          <a:solidFill>
            <a:srgbClr val="218F8B">
              <a:lumMod val="1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ETAPA 2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89" name="Rectangle 26">
            <a:extLst>
              <a:ext uri="{FF2B5EF4-FFF2-40B4-BE49-F238E27FC236}">
                <a16:creationId xmlns:a16="http://schemas.microsoft.com/office/drawing/2014/main" id="{2A6FF18A-FF95-E543-4A45-9EF20FBBC4C3}"/>
              </a:ext>
            </a:extLst>
          </p:cNvPr>
          <p:cNvSpPr/>
          <p:nvPr/>
        </p:nvSpPr>
        <p:spPr bwMode="auto">
          <a:xfrm>
            <a:off x="4546144" y="1630177"/>
            <a:ext cx="1800000" cy="432000"/>
          </a:xfrm>
          <a:prstGeom prst="rect">
            <a:avLst/>
          </a:prstGeom>
          <a:solidFill>
            <a:srgbClr val="ED1A3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Análisis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91" name="Rectangle 26">
            <a:extLst>
              <a:ext uri="{FF2B5EF4-FFF2-40B4-BE49-F238E27FC236}">
                <a16:creationId xmlns:a16="http://schemas.microsoft.com/office/drawing/2014/main" id="{AEAA85FA-3FAB-60B2-CB09-33411803E43B}"/>
              </a:ext>
            </a:extLst>
          </p:cNvPr>
          <p:cNvSpPr/>
          <p:nvPr/>
        </p:nvSpPr>
        <p:spPr bwMode="auto">
          <a:xfrm>
            <a:off x="6488510" y="1630177"/>
            <a:ext cx="900000" cy="432000"/>
          </a:xfrm>
          <a:prstGeom prst="rect">
            <a:avLst/>
          </a:prstGeom>
          <a:solidFill>
            <a:srgbClr val="218F8B">
              <a:lumMod val="1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ETAPA 3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92" name="Rectangle 26">
            <a:extLst>
              <a:ext uri="{FF2B5EF4-FFF2-40B4-BE49-F238E27FC236}">
                <a16:creationId xmlns:a16="http://schemas.microsoft.com/office/drawing/2014/main" id="{4FDD62B9-E886-695D-7580-773920296D15}"/>
              </a:ext>
            </a:extLst>
          </p:cNvPr>
          <p:cNvSpPr/>
          <p:nvPr/>
        </p:nvSpPr>
        <p:spPr bwMode="auto">
          <a:xfrm>
            <a:off x="7424962" y="1630177"/>
            <a:ext cx="1800000" cy="432000"/>
          </a:xfrm>
          <a:prstGeom prst="rect">
            <a:avLst/>
          </a:prstGeom>
          <a:solidFill>
            <a:srgbClr val="ED1A3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Diseño</a:t>
            </a:r>
          </a:p>
        </p:txBody>
      </p:sp>
      <p:pic>
        <p:nvPicPr>
          <p:cNvPr id="93" name="Imagen 92">
            <a:extLst>
              <a:ext uri="{FF2B5EF4-FFF2-40B4-BE49-F238E27FC236}">
                <a16:creationId xmlns:a16="http://schemas.microsoft.com/office/drawing/2014/main" id="{5F949490-22B9-C262-10A7-3F36472BFC6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297" y="2802012"/>
            <a:ext cx="1322226" cy="680645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1FE45A37-465F-8185-E490-4612B73387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74055" y="4560298"/>
            <a:ext cx="1030322" cy="677183"/>
          </a:xfrm>
          <a:prstGeom prst="rect">
            <a:avLst/>
          </a:prstGeom>
        </p:spPr>
      </p:pic>
      <p:pic>
        <p:nvPicPr>
          <p:cNvPr id="95" name="Imagen 94">
            <a:extLst>
              <a:ext uri="{FF2B5EF4-FFF2-40B4-BE49-F238E27FC236}">
                <a16:creationId xmlns:a16="http://schemas.microsoft.com/office/drawing/2014/main" id="{927A38D4-30D2-3BF6-E880-818403A0DF9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 flipH="1">
            <a:off x="2218593" y="2750274"/>
            <a:ext cx="1197051" cy="804063"/>
          </a:xfrm>
          <a:prstGeom prst="rect">
            <a:avLst/>
          </a:prstGeom>
        </p:spPr>
      </p:pic>
      <p:sp>
        <p:nvSpPr>
          <p:cNvPr id="96" name="123 Rectángulo">
            <a:extLst>
              <a:ext uri="{FF2B5EF4-FFF2-40B4-BE49-F238E27FC236}">
                <a16:creationId xmlns:a16="http://schemas.microsoft.com/office/drawing/2014/main" id="{B3C7FCD9-F641-EBC8-1BB2-655514935932}"/>
              </a:ext>
            </a:extLst>
          </p:cNvPr>
          <p:cNvSpPr/>
          <p:nvPr/>
        </p:nvSpPr>
        <p:spPr bwMode="auto">
          <a:xfrm>
            <a:off x="5165594" y="4295117"/>
            <a:ext cx="1075303" cy="250163"/>
          </a:xfrm>
          <a:prstGeom prst="rect">
            <a:avLst/>
          </a:prstGeom>
          <a:solidFill>
            <a:srgbClr val="ED1A3B"/>
          </a:solidFill>
          <a:ln w="635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Victorias Rápidas</a:t>
            </a:r>
          </a:p>
        </p:txBody>
      </p:sp>
      <p:sp>
        <p:nvSpPr>
          <p:cNvPr id="97" name="126 Rectángulo">
            <a:extLst>
              <a:ext uri="{FF2B5EF4-FFF2-40B4-BE49-F238E27FC236}">
                <a16:creationId xmlns:a16="http://schemas.microsoft.com/office/drawing/2014/main" id="{0B8E352C-3DD4-4AB4-0F9C-165E64111E88}"/>
              </a:ext>
            </a:extLst>
          </p:cNvPr>
          <p:cNvSpPr/>
          <p:nvPr/>
        </p:nvSpPr>
        <p:spPr bwMode="auto">
          <a:xfrm>
            <a:off x="5165594" y="4590582"/>
            <a:ext cx="1075303" cy="250163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s-MX" sz="900" b="1" dirty="0">
                <a:solidFill>
                  <a:srgbClr val="FFFFFF"/>
                </a:solidFill>
                <a:latin typeface="Trebuchet MS" pitchFamily="34" charset="0"/>
                <a:cs typeface="Arial" pitchFamily="34" charset="0"/>
              </a:rPr>
              <a:t>Corto Plazo</a:t>
            </a:r>
          </a:p>
        </p:txBody>
      </p:sp>
      <p:sp>
        <p:nvSpPr>
          <p:cNvPr id="98" name="127 Rectángulo">
            <a:extLst>
              <a:ext uri="{FF2B5EF4-FFF2-40B4-BE49-F238E27FC236}">
                <a16:creationId xmlns:a16="http://schemas.microsoft.com/office/drawing/2014/main" id="{0DAA47C6-DC1B-7D55-0722-B1EB5F9A35ED}"/>
              </a:ext>
            </a:extLst>
          </p:cNvPr>
          <p:cNvSpPr/>
          <p:nvPr/>
        </p:nvSpPr>
        <p:spPr bwMode="auto">
          <a:xfrm>
            <a:off x="5165594" y="4910322"/>
            <a:ext cx="1075303" cy="250163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s-MX" sz="900" b="1" dirty="0">
                <a:solidFill>
                  <a:srgbClr val="FFFFFF"/>
                </a:solidFill>
                <a:latin typeface="Trebuchet MS" pitchFamily="34" charset="0"/>
                <a:cs typeface="Arial" pitchFamily="34" charset="0"/>
              </a:rPr>
              <a:t>Largo Plazo</a:t>
            </a:r>
          </a:p>
        </p:txBody>
      </p:sp>
      <p:sp>
        <p:nvSpPr>
          <p:cNvPr id="99" name="134 Rectángulo">
            <a:extLst>
              <a:ext uri="{FF2B5EF4-FFF2-40B4-BE49-F238E27FC236}">
                <a16:creationId xmlns:a16="http://schemas.microsoft.com/office/drawing/2014/main" id="{FC68A221-9006-D84D-C78E-3C3E6BF5F66E}"/>
              </a:ext>
            </a:extLst>
          </p:cNvPr>
          <p:cNvSpPr/>
          <p:nvPr/>
        </p:nvSpPr>
        <p:spPr bwMode="auto">
          <a:xfrm>
            <a:off x="5165594" y="5230061"/>
            <a:ext cx="1075303" cy="250163"/>
          </a:xfrm>
          <a:prstGeom prst="rect">
            <a:avLst/>
          </a:prstGeom>
          <a:solidFill>
            <a:srgbClr val="E7E7E7"/>
          </a:solidFill>
          <a:ln w="9525" cap="flat" cmpd="sng" algn="ctr">
            <a:noFill/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  <a:t>Deseables</a:t>
            </a:r>
          </a:p>
        </p:txBody>
      </p:sp>
      <p:sp>
        <p:nvSpPr>
          <p:cNvPr id="100" name="66 Rectángulo">
            <a:extLst>
              <a:ext uri="{FF2B5EF4-FFF2-40B4-BE49-F238E27FC236}">
                <a16:creationId xmlns:a16="http://schemas.microsoft.com/office/drawing/2014/main" id="{18105BA0-3F81-220A-0013-7DBB9274AC85}"/>
              </a:ext>
            </a:extLst>
          </p:cNvPr>
          <p:cNvSpPr/>
          <p:nvPr/>
        </p:nvSpPr>
        <p:spPr bwMode="auto">
          <a:xfrm>
            <a:off x="3797750" y="4296244"/>
            <a:ext cx="1301699" cy="1183980"/>
          </a:xfrm>
          <a:prstGeom prst="rect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itchFamily="34" charset="0"/>
              <a:cs typeface="Arial" pitchFamily="34" charset="0"/>
            </a:endParaRPr>
          </a:p>
        </p:txBody>
      </p:sp>
      <p:sp>
        <p:nvSpPr>
          <p:cNvPr id="101" name="109 Trapecio">
            <a:extLst>
              <a:ext uri="{FF2B5EF4-FFF2-40B4-BE49-F238E27FC236}">
                <a16:creationId xmlns:a16="http://schemas.microsoft.com/office/drawing/2014/main" id="{A6E53CC5-8A14-042E-D0DD-025B8B52F165}"/>
              </a:ext>
            </a:extLst>
          </p:cNvPr>
          <p:cNvSpPr/>
          <p:nvPr/>
        </p:nvSpPr>
        <p:spPr bwMode="auto">
          <a:xfrm rot="10800000" flipV="1">
            <a:off x="754610" y="3671624"/>
            <a:ext cx="2712260" cy="376578"/>
          </a:xfrm>
          <a:prstGeom prst="trapezoid">
            <a:avLst>
              <a:gd name="adj" fmla="val 0"/>
            </a:avLst>
          </a:prstGeom>
          <a:solidFill>
            <a:srgbClr val="02A5E2"/>
          </a:solidFill>
          <a:ln w="25400" cap="flat" cmpd="sng" algn="ctr">
            <a:noFill/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  <a:t>Relevamiento </a:t>
            </a:r>
          </a:p>
        </p:txBody>
      </p:sp>
      <p:sp>
        <p:nvSpPr>
          <p:cNvPr id="102" name="109 Trapecio">
            <a:extLst>
              <a:ext uri="{FF2B5EF4-FFF2-40B4-BE49-F238E27FC236}">
                <a16:creationId xmlns:a16="http://schemas.microsoft.com/office/drawing/2014/main" id="{5C244287-594B-8E25-F180-5832853A8208}"/>
              </a:ext>
            </a:extLst>
          </p:cNvPr>
          <p:cNvSpPr/>
          <p:nvPr/>
        </p:nvSpPr>
        <p:spPr bwMode="auto">
          <a:xfrm rot="10800000" flipV="1">
            <a:off x="754610" y="2153936"/>
            <a:ext cx="2712260" cy="429179"/>
          </a:xfrm>
          <a:prstGeom prst="trapezoid">
            <a:avLst>
              <a:gd name="adj" fmla="val 0"/>
            </a:avLst>
          </a:prstGeom>
          <a:solidFill>
            <a:srgbClr val="02A5E2"/>
          </a:solidFill>
          <a:ln w="25400" cap="flat" cmpd="sng" algn="ctr">
            <a:noFill/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  <a:t>Revisión del Modelo de Operación Actual</a:t>
            </a:r>
          </a:p>
        </p:txBody>
      </p:sp>
      <p:sp>
        <p:nvSpPr>
          <p:cNvPr id="103" name="109 Trapecio">
            <a:extLst>
              <a:ext uri="{FF2B5EF4-FFF2-40B4-BE49-F238E27FC236}">
                <a16:creationId xmlns:a16="http://schemas.microsoft.com/office/drawing/2014/main" id="{17E9F953-6AFC-CE81-C02D-F086A465938D}"/>
              </a:ext>
            </a:extLst>
          </p:cNvPr>
          <p:cNvSpPr/>
          <p:nvPr/>
        </p:nvSpPr>
        <p:spPr bwMode="auto">
          <a:xfrm rot="10800000" flipV="1">
            <a:off x="3610899" y="2153936"/>
            <a:ext cx="2735244" cy="429179"/>
          </a:xfrm>
          <a:prstGeom prst="trapezoid">
            <a:avLst>
              <a:gd name="adj" fmla="val 0"/>
            </a:avLst>
          </a:prstGeom>
          <a:solidFill>
            <a:srgbClr val="02A5E2"/>
          </a:solidFill>
          <a:ln w="25400" cap="flat" cmpd="sng" algn="ctr">
            <a:noFill/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  <a:t>Identificación de Brecha funcional y </a:t>
            </a:r>
            <a:b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</a:br>
            <a: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  <a:t>buenas prácticas</a:t>
            </a:r>
          </a:p>
        </p:txBody>
      </p:sp>
      <p:sp>
        <p:nvSpPr>
          <p:cNvPr id="104" name="109 Trapecio">
            <a:extLst>
              <a:ext uri="{FF2B5EF4-FFF2-40B4-BE49-F238E27FC236}">
                <a16:creationId xmlns:a16="http://schemas.microsoft.com/office/drawing/2014/main" id="{49F9E1EC-C374-AA8D-C3ED-B8A943BFD8BD}"/>
              </a:ext>
            </a:extLst>
          </p:cNvPr>
          <p:cNvSpPr/>
          <p:nvPr/>
        </p:nvSpPr>
        <p:spPr bwMode="auto">
          <a:xfrm rot="10800000" flipV="1">
            <a:off x="3627482" y="3870417"/>
            <a:ext cx="2712260" cy="388178"/>
          </a:xfrm>
          <a:prstGeom prst="trapezoid">
            <a:avLst>
              <a:gd name="adj" fmla="val 0"/>
            </a:avLst>
          </a:prstGeom>
          <a:solidFill>
            <a:srgbClr val="02A5E2"/>
          </a:solidFill>
          <a:ln w="25400" cap="flat" cmpd="sng" algn="ctr">
            <a:noFill/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  <a:t>Elaboración de Oportunidades e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  <a:t>Iniciativas de Mejora</a:t>
            </a:r>
          </a:p>
        </p:txBody>
      </p:sp>
      <p:sp>
        <p:nvSpPr>
          <p:cNvPr id="105" name="109 Trapecio">
            <a:extLst>
              <a:ext uri="{FF2B5EF4-FFF2-40B4-BE49-F238E27FC236}">
                <a16:creationId xmlns:a16="http://schemas.microsoft.com/office/drawing/2014/main" id="{E46A69D7-2C3B-D007-F78A-A5CBA6440EA4}"/>
              </a:ext>
            </a:extLst>
          </p:cNvPr>
          <p:cNvSpPr/>
          <p:nvPr/>
        </p:nvSpPr>
        <p:spPr bwMode="auto">
          <a:xfrm rot="10800000" flipV="1">
            <a:off x="6494911" y="2153937"/>
            <a:ext cx="2712260" cy="429179"/>
          </a:xfrm>
          <a:prstGeom prst="trapezoid">
            <a:avLst>
              <a:gd name="adj" fmla="val 0"/>
            </a:avLst>
          </a:prstGeom>
          <a:solidFill>
            <a:srgbClr val="02A5E2"/>
          </a:solidFill>
          <a:ln w="25400" cap="flat" cmpd="sng" algn="ctr">
            <a:noFill/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  <a:t>Diseño de Modelo TO BE</a:t>
            </a:r>
          </a:p>
        </p:txBody>
      </p:sp>
      <p:sp>
        <p:nvSpPr>
          <p:cNvPr id="106" name="109 Trapecio">
            <a:extLst>
              <a:ext uri="{FF2B5EF4-FFF2-40B4-BE49-F238E27FC236}">
                <a16:creationId xmlns:a16="http://schemas.microsoft.com/office/drawing/2014/main" id="{97B76A9B-5CC0-BAAA-0289-DF8E99AAB6F2}"/>
              </a:ext>
            </a:extLst>
          </p:cNvPr>
          <p:cNvSpPr/>
          <p:nvPr/>
        </p:nvSpPr>
        <p:spPr bwMode="auto">
          <a:xfrm rot="10800000" flipV="1">
            <a:off x="6512702" y="3855726"/>
            <a:ext cx="2712260" cy="368121"/>
          </a:xfrm>
          <a:prstGeom prst="trapezoid">
            <a:avLst>
              <a:gd name="adj" fmla="val 0"/>
            </a:avLst>
          </a:prstGeom>
          <a:solidFill>
            <a:srgbClr val="02A5E2"/>
          </a:solidFill>
          <a:ln w="25400" cap="flat" cmpd="sng" algn="ctr">
            <a:noFill/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cs typeface="Arial" pitchFamily="34" charset="0"/>
              </a:rPr>
              <a:t>Diseño de Plan de implementación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F4062CD8-DD63-B472-2CBD-40DA23A99F60}"/>
              </a:ext>
            </a:extLst>
          </p:cNvPr>
          <p:cNvSpPr/>
          <p:nvPr/>
        </p:nvSpPr>
        <p:spPr>
          <a:xfrm>
            <a:off x="4101814" y="4465248"/>
            <a:ext cx="368300" cy="381000"/>
          </a:xfrm>
          <a:prstGeom prst="rect">
            <a:avLst/>
          </a:prstGeom>
          <a:solidFill>
            <a:srgbClr val="ED1A3B"/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VR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4D0FC968-1202-CA3C-AF6A-E6FB4382335A}"/>
              </a:ext>
            </a:extLst>
          </p:cNvPr>
          <p:cNvSpPr/>
          <p:nvPr/>
        </p:nvSpPr>
        <p:spPr>
          <a:xfrm>
            <a:off x="4511271" y="4460792"/>
            <a:ext cx="368300" cy="381000"/>
          </a:xfrm>
          <a:prstGeom prst="rect">
            <a:avLst/>
          </a:prstGeom>
          <a:solidFill>
            <a:srgbClr val="FFC000"/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LP</a:t>
            </a:r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9D2A1F52-A545-5D71-2D00-A6D157641598}"/>
              </a:ext>
            </a:extLst>
          </p:cNvPr>
          <p:cNvSpPr/>
          <p:nvPr/>
        </p:nvSpPr>
        <p:spPr>
          <a:xfrm>
            <a:off x="4101814" y="4877226"/>
            <a:ext cx="368300" cy="381000"/>
          </a:xfrm>
          <a:prstGeom prst="rect">
            <a:avLst/>
          </a:prstGeom>
          <a:solidFill>
            <a:srgbClr val="00B050"/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CP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934C6B7E-8AE8-19C1-C3C6-01034A111888}"/>
              </a:ext>
            </a:extLst>
          </p:cNvPr>
          <p:cNvSpPr/>
          <p:nvPr/>
        </p:nvSpPr>
        <p:spPr>
          <a:xfrm>
            <a:off x="4508214" y="4877226"/>
            <a:ext cx="368300" cy="381000"/>
          </a:xfrm>
          <a:prstGeom prst="rect">
            <a:avLst/>
          </a:prstGeom>
          <a:solidFill>
            <a:srgbClr val="E7E7E7"/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DS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1A93C7AB-7240-6571-0999-6499A7440323}"/>
              </a:ext>
            </a:extLst>
          </p:cNvPr>
          <p:cNvSpPr txBox="1"/>
          <p:nvPr/>
        </p:nvSpPr>
        <p:spPr>
          <a:xfrm rot="16200000">
            <a:off x="3672469" y="4780882"/>
            <a:ext cx="50975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solidFill>
                  <a:srgbClr val="02A5E2"/>
                </a:solidFill>
                <a:latin typeface="Trebuchet MS" pitchFamily="34" charset="0"/>
                <a:cs typeface="Arial" pitchFamily="34" charset="0"/>
              </a:rPr>
              <a:t>Impacto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B9B8C67D-9C37-B482-FC51-4191B06DE8BC}"/>
              </a:ext>
            </a:extLst>
          </p:cNvPr>
          <p:cNvSpPr txBox="1"/>
          <p:nvPr/>
        </p:nvSpPr>
        <p:spPr>
          <a:xfrm>
            <a:off x="4213169" y="5252246"/>
            <a:ext cx="53700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solidFill>
                  <a:srgbClr val="02A5E2"/>
                </a:solidFill>
                <a:latin typeface="Trebuchet MS" pitchFamily="34" charset="0"/>
                <a:cs typeface="Arial" pitchFamily="34" charset="0"/>
              </a:rPr>
              <a:t>Esfuerzo</a:t>
            </a:r>
          </a:p>
        </p:txBody>
      </p:sp>
      <p:pic>
        <p:nvPicPr>
          <p:cNvPr id="113" name="Imagen 112">
            <a:extLst>
              <a:ext uri="{FF2B5EF4-FFF2-40B4-BE49-F238E27FC236}">
                <a16:creationId xmlns:a16="http://schemas.microsoft.com/office/drawing/2014/main" id="{A2405987-3BF7-4D7B-D0E8-54F0817B72E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3263" y="4398419"/>
            <a:ext cx="1649333" cy="1039066"/>
          </a:xfrm>
          <a:prstGeom prst="rect">
            <a:avLst/>
          </a:prstGeom>
        </p:spPr>
      </p:pic>
      <p:pic>
        <p:nvPicPr>
          <p:cNvPr id="114" name="Imagen 113">
            <a:extLst>
              <a:ext uri="{FF2B5EF4-FFF2-40B4-BE49-F238E27FC236}">
                <a16:creationId xmlns:a16="http://schemas.microsoft.com/office/drawing/2014/main" id="{00497214-6AF9-87D0-257D-27F9A45B3DF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0797" y="2832150"/>
            <a:ext cx="981325" cy="644979"/>
          </a:xfrm>
          <a:prstGeom prst="rect">
            <a:avLst/>
          </a:prstGeom>
        </p:spPr>
      </p:pic>
      <p:sp>
        <p:nvSpPr>
          <p:cNvPr id="115" name="Rectángulo redondeado 7">
            <a:extLst>
              <a:ext uri="{FF2B5EF4-FFF2-40B4-BE49-F238E27FC236}">
                <a16:creationId xmlns:a16="http://schemas.microsoft.com/office/drawing/2014/main" id="{AD7501F5-CFFC-A866-69AE-33B32DF063A2}"/>
              </a:ext>
            </a:extLst>
          </p:cNvPr>
          <p:cNvSpPr/>
          <p:nvPr/>
        </p:nvSpPr>
        <p:spPr>
          <a:xfrm>
            <a:off x="7201499" y="2629966"/>
            <a:ext cx="1554579" cy="158950"/>
          </a:xfrm>
          <a:prstGeom prst="roundRect">
            <a:avLst/>
          </a:prstGeom>
          <a:solidFill>
            <a:srgbClr val="00B050"/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Versión TO BE</a:t>
            </a:r>
          </a:p>
        </p:txBody>
      </p:sp>
      <p:pic>
        <p:nvPicPr>
          <p:cNvPr id="116" name="Picture 6" descr="Icono Oficina, base de datos Gratis de Super Flat Remix V1.08">
            <a:extLst>
              <a:ext uri="{FF2B5EF4-FFF2-40B4-BE49-F238E27FC236}">
                <a16:creationId xmlns:a16="http://schemas.microsoft.com/office/drawing/2014/main" id="{C729D75B-CB82-41A4-A150-3670C457D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5345" y="4619733"/>
            <a:ext cx="529942" cy="52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Rectángulo redondeado 7">
            <a:extLst>
              <a:ext uri="{FF2B5EF4-FFF2-40B4-BE49-F238E27FC236}">
                <a16:creationId xmlns:a16="http://schemas.microsoft.com/office/drawing/2014/main" id="{E7784139-F4EE-FEC9-EB62-8BBAD1A64CB9}"/>
              </a:ext>
            </a:extLst>
          </p:cNvPr>
          <p:cNvSpPr/>
          <p:nvPr/>
        </p:nvSpPr>
        <p:spPr>
          <a:xfrm>
            <a:off x="1329703" y="5263928"/>
            <a:ext cx="686387" cy="253058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Funcionalidad de los sistemas</a:t>
            </a:r>
          </a:p>
        </p:txBody>
      </p:sp>
      <p:sp>
        <p:nvSpPr>
          <p:cNvPr id="118" name="Rectángulo redondeado 7">
            <a:extLst>
              <a:ext uri="{FF2B5EF4-FFF2-40B4-BE49-F238E27FC236}">
                <a16:creationId xmlns:a16="http://schemas.microsoft.com/office/drawing/2014/main" id="{C387F311-2C2E-B95D-6BD1-69A738BEABD0}"/>
              </a:ext>
            </a:extLst>
          </p:cNvPr>
          <p:cNvSpPr/>
          <p:nvPr/>
        </p:nvSpPr>
        <p:spPr>
          <a:xfrm>
            <a:off x="2243815" y="5263928"/>
            <a:ext cx="686387" cy="253058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Actividades por proceso</a:t>
            </a:r>
          </a:p>
        </p:txBody>
      </p:sp>
      <p:sp>
        <p:nvSpPr>
          <p:cNvPr id="119" name="Rectángulo redondeado 7">
            <a:extLst>
              <a:ext uri="{FF2B5EF4-FFF2-40B4-BE49-F238E27FC236}">
                <a16:creationId xmlns:a16="http://schemas.microsoft.com/office/drawing/2014/main" id="{80267D09-586D-703B-2EB4-4CC0B95CB121}"/>
              </a:ext>
            </a:extLst>
          </p:cNvPr>
          <p:cNvSpPr/>
          <p:nvPr/>
        </p:nvSpPr>
        <p:spPr>
          <a:xfrm>
            <a:off x="3667800" y="2696677"/>
            <a:ext cx="686387" cy="253058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Tecnología</a:t>
            </a:r>
          </a:p>
        </p:txBody>
      </p:sp>
      <p:sp>
        <p:nvSpPr>
          <p:cNvPr id="120" name="Rectángulo redondeado 7">
            <a:extLst>
              <a:ext uri="{FF2B5EF4-FFF2-40B4-BE49-F238E27FC236}">
                <a16:creationId xmlns:a16="http://schemas.microsoft.com/office/drawing/2014/main" id="{CEE94F2F-7A33-874E-6B3F-6D6247C864EB}"/>
              </a:ext>
            </a:extLst>
          </p:cNvPr>
          <p:cNvSpPr/>
          <p:nvPr/>
        </p:nvSpPr>
        <p:spPr>
          <a:xfrm>
            <a:off x="3674478" y="3106078"/>
            <a:ext cx="686387" cy="253058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Procesos</a:t>
            </a:r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C727CC97-0E3A-951A-4369-D9976CFC1DF1}"/>
              </a:ext>
            </a:extLst>
          </p:cNvPr>
          <p:cNvSpPr/>
          <p:nvPr/>
        </p:nvSpPr>
        <p:spPr>
          <a:xfrm>
            <a:off x="4411298" y="2610823"/>
            <a:ext cx="1907844" cy="388178"/>
          </a:xfrm>
          <a:prstGeom prst="rect">
            <a:avLst/>
          </a:prstGeom>
          <a:solidFill>
            <a:srgbClr val="02A5E2">
              <a:lumMod val="20000"/>
              <a:lumOff val="80000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Cobertura Funcional</a:t>
            </a:r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5AD6F153-9EA6-28C4-B840-64E0B7D7B34C}"/>
              </a:ext>
            </a:extLst>
          </p:cNvPr>
          <p:cNvSpPr/>
          <p:nvPr/>
        </p:nvSpPr>
        <p:spPr>
          <a:xfrm>
            <a:off x="4411298" y="3033140"/>
            <a:ext cx="1907844" cy="388178"/>
          </a:xfrm>
          <a:prstGeom prst="rect">
            <a:avLst/>
          </a:prstGeom>
          <a:solidFill>
            <a:srgbClr val="02A5E2">
              <a:lumMod val="20000"/>
              <a:lumOff val="80000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Análisis de Causa Raíz </a:t>
            </a:r>
          </a:p>
        </p:txBody>
      </p:sp>
      <p:pic>
        <p:nvPicPr>
          <p:cNvPr id="123" name="Picture 6" descr="Icono Oficina, base de datos Gratis de Super Flat Remix V1.08">
            <a:extLst>
              <a:ext uri="{FF2B5EF4-FFF2-40B4-BE49-F238E27FC236}">
                <a16:creationId xmlns:a16="http://schemas.microsoft.com/office/drawing/2014/main" id="{3530083B-69E5-6A53-7CEE-B3983F5AC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99368" y="2885735"/>
            <a:ext cx="529942" cy="52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" name="Rectángulo redondeado 7">
            <a:extLst>
              <a:ext uri="{FF2B5EF4-FFF2-40B4-BE49-F238E27FC236}">
                <a16:creationId xmlns:a16="http://schemas.microsoft.com/office/drawing/2014/main" id="{B5455C81-C527-78FF-B493-A83FC4E1E2D3}"/>
              </a:ext>
            </a:extLst>
          </p:cNvPr>
          <p:cNvSpPr/>
          <p:nvPr/>
        </p:nvSpPr>
        <p:spPr>
          <a:xfrm>
            <a:off x="6961389" y="3441143"/>
            <a:ext cx="790950" cy="370690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Recomendación para cierre de brecha</a:t>
            </a:r>
          </a:p>
        </p:txBody>
      </p:sp>
      <p:sp>
        <p:nvSpPr>
          <p:cNvPr id="125" name="Rectángulo redondeado 7">
            <a:extLst>
              <a:ext uri="{FF2B5EF4-FFF2-40B4-BE49-F238E27FC236}">
                <a16:creationId xmlns:a16="http://schemas.microsoft.com/office/drawing/2014/main" id="{0C54CE1C-B214-D585-89BA-707CFCECFD38}"/>
              </a:ext>
            </a:extLst>
          </p:cNvPr>
          <p:cNvSpPr/>
          <p:nvPr/>
        </p:nvSpPr>
        <p:spPr>
          <a:xfrm>
            <a:off x="7841264" y="3467557"/>
            <a:ext cx="873085" cy="344276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Procesos incluyendo buenas prácticas</a:t>
            </a:r>
          </a:p>
        </p:txBody>
      </p:sp>
      <p:sp>
        <p:nvSpPr>
          <p:cNvPr id="126" name="Rectángulo redondeado 125">
            <a:extLst>
              <a:ext uri="{FF2B5EF4-FFF2-40B4-BE49-F238E27FC236}">
                <a16:creationId xmlns:a16="http://schemas.microsoft.com/office/drawing/2014/main" id="{D0070DA1-90B7-364F-B409-E214142F4CA6}"/>
              </a:ext>
            </a:extLst>
          </p:cNvPr>
          <p:cNvSpPr/>
          <p:nvPr/>
        </p:nvSpPr>
        <p:spPr>
          <a:xfrm>
            <a:off x="811616" y="4090761"/>
            <a:ext cx="907411" cy="170346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Entrevistas</a:t>
            </a:r>
          </a:p>
        </p:txBody>
      </p:sp>
      <p:sp>
        <p:nvSpPr>
          <p:cNvPr id="127" name="Rectángulo redondeado 126">
            <a:extLst>
              <a:ext uri="{FF2B5EF4-FFF2-40B4-BE49-F238E27FC236}">
                <a16:creationId xmlns:a16="http://schemas.microsoft.com/office/drawing/2014/main" id="{21B56B0E-8374-C070-FC44-67A0FC7C7D83}"/>
              </a:ext>
            </a:extLst>
          </p:cNvPr>
          <p:cNvSpPr/>
          <p:nvPr/>
        </p:nvSpPr>
        <p:spPr>
          <a:xfrm>
            <a:off x="2547598" y="4090761"/>
            <a:ext cx="848267" cy="175874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Recorridos</a:t>
            </a:r>
          </a:p>
        </p:txBody>
      </p:sp>
      <p:sp>
        <p:nvSpPr>
          <p:cNvPr id="128" name="Rectángulo redondeado 127">
            <a:extLst>
              <a:ext uri="{FF2B5EF4-FFF2-40B4-BE49-F238E27FC236}">
                <a16:creationId xmlns:a16="http://schemas.microsoft.com/office/drawing/2014/main" id="{851524DD-847A-4563-E6E3-14A204ABA241}"/>
              </a:ext>
            </a:extLst>
          </p:cNvPr>
          <p:cNvSpPr/>
          <p:nvPr/>
        </p:nvSpPr>
        <p:spPr>
          <a:xfrm>
            <a:off x="1744929" y="4090761"/>
            <a:ext cx="778477" cy="177017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Documentos</a:t>
            </a:r>
          </a:p>
        </p:txBody>
      </p:sp>
      <p:sp>
        <p:nvSpPr>
          <p:cNvPr id="129" name="Rectángulo redondeado 7">
            <a:extLst>
              <a:ext uri="{FF2B5EF4-FFF2-40B4-BE49-F238E27FC236}">
                <a16:creationId xmlns:a16="http://schemas.microsoft.com/office/drawing/2014/main" id="{EC94EAB9-A672-5AB7-4C24-B6187C65370F}"/>
              </a:ext>
            </a:extLst>
          </p:cNvPr>
          <p:cNvSpPr/>
          <p:nvPr/>
        </p:nvSpPr>
        <p:spPr>
          <a:xfrm>
            <a:off x="1404652" y="4360945"/>
            <a:ext cx="1554579" cy="158950"/>
          </a:xfrm>
          <a:prstGeom prst="roundRect">
            <a:avLst/>
          </a:prstGeom>
          <a:solidFill>
            <a:srgbClr val="ED1A3B"/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Versión AS IS</a:t>
            </a:r>
          </a:p>
        </p:txBody>
      </p:sp>
      <p:sp>
        <p:nvSpPr>
          <p:cNvPr id="130" name="Rectangle 26">
            <a:extLst>
              <a:ext uri="{FF2B5EF4-FFF2-40B4-BE49-F238E27FC236}">
                <a16:creationId xmlns:a16="http://schemas.microsoft.com/office/drawing/2014/main" id="{EEA81977-366F-EA2A-3408-4EE82EDC4083}"/>
              </a:ext>
            </a:extLst>
          </p:cNvPr>
          <p:cNvSpPr/>
          <p:nvPr/>
        </p:nvSpPr>
        <p:spPr bwMode="auto">
          <a:xfrm>
            <a:off x="772064" y="5595167"/>
            <a:ext cx="2709798" cy="432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112">
              <a:defRPr/>
            </a:pPr>
            <a:r>
              <a:rPr lang="es-PE" sz="1200" b="1" dirty="0">
                <a:solidFill>
                  <a:srgbClr val="FFFFFF"/>
                </a:solidFill>
                <a:latin typeface="Tw Cen MT" pitchFamily="34" charset="0"/>
                <a:cs typeface="Arial" pitchFamily="34" charset="0"/>
              </a:rPr>
              <a:t>Inventario de Puntos de Atención</a:t>
            </a:r>
            <a:endParaRPr lang="en-US" sz="1200" b="1" dirty="0">
              <a:solidFill>
                <a:srgbClr val="FFFFFF"/>
              </a:solidFill>
              <a:latin typeface="Tw Cen MT" pitchFamily="34" charset="0"/>
              <a:cs typeface="Arial" pitchFamily="34" charset="0"/>
            </a:endParaRPr>
          </a:p>
        </p:txBody>
      </p:sp>
      <p:sp>
        <p:nvSpPr>
          <p:cNvPr id="131" name="Rectangle 26">
            <a:extLst>
              <a:ext uri="{FF2B5EF4-FFF2-40B4-BE49-F238E27FC236}">
                <a16:creationId xmlns:a16="http://schemas.microsoft.com/office/drawing/2014/main" id="{4AF36037-1883-6C2D-158F-9AD98DB3F378}"/>
              </a:ext>
            </a:extLst>
          </p:cNvPr>
          <p:cNvSpPr/>
          <p:nvPr/>
        </p:nvSpPr>
        <p:spPr bwMode="auto">
          <a:xfrm>
            <a:off x="3606849" y="5595167"/>
            <a:ext cx="2739293" cy="432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112">
              <a:defRPr/>
            </a:pPr>
            <a:r>
              <a:rPr lang="es-PE" sz="1200" b="1" dirty="0">
                <a:solidFill>
                  <a:srgbClr val="FFFFFF"/>
                </a:solidFill>
                <a:latin typeface="Tw Cen MT" pitchFamily="34" charset="0"/>
                <a:cs typeface="Arial" pitchFamily="34" charset="0"/>
              </a:rPr>
              <a:t>Inventario de Oportunidades de Mejora</a:t>
            </a:r>
            <a:endParaRPr lang="en-US" sz="1200" b="1" dirty="0">
              <a:solidFill>
                <a:srgbClr val="FFFFFF"/>
              </a:solidFill>
              <a:latin typeface="Tw Cen MT" pitchFamily="34" charset="0"/>
              <a:cs typeface="Arial" pitchFamily="34" charset="0"/>
            </a:endParaRPr>
          </a:p>
        </p:txBody>
      </p:sp>
      <p:sp>
        <p:nvSpPr>
          <p:cNvPr id="132" name="Rectangle 26">
            <a:extLst>
              <a:ext uri="{FF2B5EF4-FFF2-40B4-BE49-F238E27FC236}">
                <a16:creationId xmlns:a16="http://schemas.microsoft.com/office/drawing/2014/main" id="{A2DDBA6D-07A2-C0D5-AC9A-1F295A830E92}"/>
              </a:ext>
            </a:extLst>
          </p:cNvPr>
          <p:cNvSpPr/>
          <p:nvPr/>
        </p:nvSpPr>
        <p:spPr bwMode="auto">
          <a:xfrm>
            <a:off x="6478788" y="5595167"/>
            <a:ext cx="2739293" cy="432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112">
              <a:defRPr/>
            </a:pPr>
            <a:r>
              <a:rPr lang="es-PE" sz="1200" b="1" dirty="0">
                <a:solidFill>
                  <a:srgbClr val="FFFFFF"/>
                </a:solidFill>
                <a:latin typeface="Tw Cen MT" pitchFamily="34" charset="0"/>
                <a:cs typeface="Arial" pitchFamily="34" charset="0"/>
              </a:rPr>
              <a:t>Plan de Acción</a:t>
            </a:r>
            <a:endParaRPr lang="en-US" sz="1200" b="1" dirty="0">
              <a:solidFill>
                <a:srgbClr val="FFFFFF"/>
              </a:solidFill>
              <a:latin typeface="Tw Cen MT" pitchFamily="34" charset="0"/>
              <a:cs typeface="Arial" pitchFamily="34" charset="0"/>
            </a:endParaRPr>
          </a:p>
        </p:txBody>
      </p:sp>
      <p:sp>
        <p:nvSpPr>
          <p:cNvPr id="133" name="Rectángulo redondeado 7">
            <a:extLst>
              <a:ext uri="{FF2B5EF4-FFF2-40B4-BE49-F238E27FC236}">
                <a16:creationId xmlns:a16="http://schemas.microsoft.com/office/drawing/2014/main" id="{707D0469-9095-330B-3FA9-BF1170E3A620}"/>
              </a:ext>
            </a:extLst>
          </p:cNvPr>
          <p:cNvSpPr/>
          <p:nvPr/>
        </p:nvSpPr>
        <p:spPr>
          <a:xfrm>
            <a:off x="3676738" y="3524362"/>
            <a:ext cx="686387" cy="253058"/>
          </a:xfrm>
          <a:prstGeom prst="roundRect">
            <a:avLst/>
          </a:prstGeom>
          <a:solidFill>
            <a:srgbClr val="657C91"/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Organizacional</a:t>
            </a:r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DCC29BC4-8AB5-A4C3-D17D-2B5D6DB2AF03}"/>
              </a:ext>
            </a:extLst>
          </p:cNvPr>
          <p:cNvSpPr/>
          <p:nvPr/>
        </p:nvSpPr>
        <p:spPr>
          <a:xfrm>
            <a:off x="4413558" y="3451424"/>
            <a:ext cx="1907844" cy="388178"/>
          </a:xfrm>
          <a:prstGeom prst="rect">
            <a:avLst/>
          </a:prstGeom>
          <a:solidFill>
            <a:srgbClr val="02A5E2">
              <a:lumMod val="20000"/>
              <a:lumOff val="80000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Análisis de Competencias </a:t>
            </a:r>
          </a:p>
        </p:txBody>
      </p:sp>
    </p:spTree>
    <p:extLst>
      <p:ext uri="{BB962C8B-B14F-4D97-AF65-F5344CB8AC3E}">
        <p14:creationId xmlns:p14="http://schemas.microsoft.com/office/powerpoint/2010/main" val="426513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 animBg="1"/>
      <p:bldP spid="82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/>
      <p:bldP spid="112" grpId="0"/>
      <p:bldP spid="115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741A713A-46CB-350A-E02C-EEBB317483C1}"/>
              </a:ext>
            </a:extLst>
          </p:cNvPr>
          <p:cNvSpPr txBox="1">
            <a:spLocks/>
          </p:cNvSpPr>
          <p:nvPr/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Metodología de Trabajo</a:t>
            </a:r>
          </a:p>
          <a:p>
            <a:r>
              <a:rPr lang="es-ES_tradnl" sz="2400" b="1" dirty="0">
                <a:solidFill>
                  <a:schemeClr val="accent1"/>
                </a:solidFill>
              </a:rPr>
              <a:t>Resumen de Actividades Realizadas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417F05B-BFC7-5586-0C24-423AFDEC4489}"/>
              </a:ext>
            </a:extLst>
          </p:cNvPr>
          <p:cNvSpPr txBox="1"/>
          <p:nvPr/>
        </p:nvSpPr>
        <p:spPr>
          <a:xfrm>
            <a:off x="748416" y="2336799"/>
            <a:ext cx="27236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25</a:t>
            </a:r>
            <a:r>
              <a:rPr lang="es-ES_tradnl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Documentos Revisados</a:t>
            </a:r>
            <a:endParaRPr lang="es-ES_tradnl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3 </a:t>
            </a:r>
            <a:r>
              <a:rPr lang="es-ES_tradnl" sz="1400" dirty="0">
                <a:solidFill>
                  <a:schemeClr val="accent1"/>
                </a:solidFill>
              </a:rPr>
              <a:t>Talleres Ejecutivos</a:t>
            </a:r>
            <a:endParaRPr lang="es-ES_tradnl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55</a:t>
            </a:r>
            <a:r>
              <a:rPr lang="es-ES_tradnl" sz="1400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Entrevistas Operativas</a:t>
            </a:r>
            <a:endParaRPr lang="es-ES_tradnl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5 </a:t>
            </a:r>
            <a:r>
              <a:rPr lang="es-ES_tradnl" sz="1400" dirty="0">
                <a:solidFill>
                  <a:schemeClr val="accent1"/>
                </a:solidFill>
              </a:rPr>
              <a:t>Talleres de Validación</a:t>
            </a:r>
            <a:endParaRPr lang="es-ES_tradnl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125</a:t>
            </a:r>
            <a:r>
              <a:rPr lang="es-ES_tradnl" sz="1400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Puntos de Atención</a:t>
            </a: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2D9DDED9-9E2F-6AF6-CA4C-BF93E7BBF17F}"/>
              </a:ext>
            </a:extLst>
          </p:cNvPr>
          <p:cNvSpPr/>
          <p:nvPr/>
        </p:nvSpPr>
        <p:spPr bwMode="auto">
          <a:xfrm>
            <a:off x="748415" y="1630177"/>
            <a:ext cx="900000" cy="432000"/>
          </a:xfrm>
          <a:prstGeom prst="rect">
            <a:avLst/>
          </a:prstGeom>
          <a:solidFill>
            <a:srgbClr val="218F8B">
              <a:lumMod val="1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ETAPA 1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id="{A5195B74-9411-1FA9-2898-4B8FABA26D9A}"/>
              </a:ext>
            </a:extLst>
          </p:cNvPr>
          <p:cNvSpPr/>
          <p:nvPr/>
        </p:nvSpPr>
        <p:spPr bwMode="auto">
          <a:xfrm>
            <a:off x="1672064" y="1630177"/>
            <a:ext cx="1800000" cy="432000"/>
          </a:xfrm>
          <a:prstGeom prst="rect">
            <a:avLst/>
          </a:prstGeom>
          <a:solidFill>
            <a:srgbClr val="ED1A3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Entendimiento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1D619997-F991-7E05-59C2-177B6B23FF69}"/>
              </a:ext>
            </a:extLst>
          </p:cNvPr>
          <p:cNvSpPr/>
          <p:nvPr/>
        </p:nvSpPr>
        <p:spPr bwMode="auto">
          <a:xfrm>
            <a:off x="3616093" y="1630177"/>
            <a:ext cx="900000" cy="432000"/>
          </a:xfrm>
          <a:prstGeom prst="rect">
            <a:avLst/>
          </a:prstGeom>
          <a:solidFill>
            <a:srgbClr val="218F8B">
              <a:lumMod val="1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ETAPA 2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id="{DF4F89F1-8413-F985-CFAC-1EC64D48855E}"/>
              </a:ext>
            </a:extLst>
          </p:cNvPr>
          <p:cNvSpPr/>
          <p:nvPr/>
        </p:nvSpPr>
        <p:spPr bwMode="auto">
          <a:xfrm>
            <a:off x="4546144" y="1630177"/>
            <a:ext cx="1800000" cy="432000"/>
          </a:xfrm>
          <a:prstGeom prst="rect">
            <a:avLst/>
          </a:prstGeom>
          <a:solidFill>
            <a:srgbClr val="ED1A3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Análisis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36" name="Rectangle 26">
            <a:extLst>
              <a:ext uri="{FF2B5EF4-FFF2-40B4-BE49-F238E27FC236}">
                <a16:creationId xmlns:a16="http://schemas.microsoft.com/office/drawing/2014/main" id="{828B2007-6AAD-6ACC-C7D2-074CF52C5403}"/>
              </a:ext>
            </a:extLst>
          </p:cNvPr>
          <p:cNvSpPr/>
          <p:nvPr/>
        </p:nvSpPr>
        <p:spPr bwMode="auto">
          <a:xfrm>
            <a:off x="6488510" y="1630177"/>
            <a:ext cx="900000" cy="432000"/>
          </a:xfrm>
          <a:prstGeom prst="rect">
            <a:avLst/>
          </a:prstGeom>
          <a:solidFill>
            <a:srgbClr val="218F8B">
              <a:lumMod val="1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ETAPA 3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itchFamily="34" charset="0"/>
              <a:cs typeface="Arial" pitchFamily="34" charset="0"/>
            </a:endParaRP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BE08C24D-5D8D-FA67-64D2-D6DEE15DCAC4}"/>
              </a:ext>
            </a:extLst>
          </p:cNvPr>
          <p:cNvSpPr/>
          <p:nvPr/>
        </p:nvSpPr>
        <p:spPr bwMode="auto">
          <a:xfrm>
            <a:off x="7424962" y="1630177"/>
            <a:ext cx="1800000" cy="432000"/>
          </a:xfrm>
          <a:prstGeom prst="rect">
            <a:avLst/>
          </a:prstGeom>
          <a:solidFill>
            <a:srgbClr val="ED1A3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itchFamily="34" charset="0"/>
                <a:cs typeface="Arial" pitchFamily="34" charset="0"/>
              </a:rPr>
              <a:t>Diseño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CFF6FAC-EC53-FDFC-0F8B-AFE08F89BB2B}"/>
              </a:ext>
            </a:extLst>
          </p:cNvPr>
          <p:cNvSpPr txBox="1"/>
          <p:nvPr/>
        </p:nvSpPr>
        <p:spPr>
          <a:xfrm>
            <a:off x="3616093" y="2336799"/>
            <a:ext cx="27236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10</a:t>
            </a:r>
            <a:r>
              <a:rPr lang="es-ES_tradnl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Macroprocesos AS IS</a:t>
            </a:r>
            <a:endParaRPr lang="es-ES_tradnl" dirty="0">
              <a:solidFill>
                <a:schemeClr val="accent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28</a:t>
            </a:r>
            <a:r>
              <a:rPr lang="es-ES_tradnl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Procesos AS IS</a:t>
            </a:r>
            <a:endParaRPr lang="es-ES_tradnl" dirty="0">
              <a:solidFill>
                <a:schemeClr val="accent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120</a:t>
            </a:r>
            <a:r>
              <a:rPr lang="es-ES_tradnl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Flujogramas AS IS</a:t>
            </a:r>
            <a:endParaRPr lang="es-ES_tradnl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25</a:t>
            </a:r>
            <a:r>
              <a:rPr lang="es-ES_tradnl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Grupos de Problemas</a:t>
            </a:r>
            <a:endParaRPr lang="es-ES_tradnl" dirty="0">
              <a:solidFill>
                <a:schemeClr val="accent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5</a:t>
            </a:r>
            <a:r>
              <a:rPr lang="es-ES_tradnl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Talleres de Propuestas</a:t>
            </a:r>
            <a:endParaRPr lang="es-ES_tradnl" dirty="0">
              <a:solidFill>
                <a:schemeClr val="accent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7F27E5F6-CFA6-39C5-1D7F-CE8F1F4F9BE3}"/>
              </a:ext>
            </a:extLst>
          </p:cNvPr>
          <p:cNvSpPr txBox="1"/>
          <p:nvPr/>
        </p:nvSpPr>
        <p:spPr>
          <a:xfrm>
            <a:off x="6478347" y="2336799"/>
            <a:ext cx="27236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10 </a:t>
            </a:r>
            <a:r>
              <a:rPr lang="es-ES_tradnl" sz="1400" dirty="0">
                <a:solidFill>
                  <a:schemeClr val="accent1"/>
                </a:solidFill>
              </a:rPr>
              <a:t>Macroprocesos TO BE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23</a:t>
            </a:r>
            <a:r>
              <a:rPr lang="es-ES_tradnl" sz="1400" b="1" dirty="0">
                <a:solidFill>
                  <a:schemeClr val="accent1"/>
                </a:solidFill>
              </a:rPr>
              <a:t> </a:t>
            </a:r>
            <a:r>
              <a:rPr lang="es-ES_tradnl" sz="1400" dirty="0">
                <a:solidFill>
                  <a:schemeClr val="accent1"/>
                </a:solidFill>
              </a:rPr>
              <a:t>Procesos TO BE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80</a:t>
            </a:r>
            <a:r>
              <a:rPr lang="es-ES_tradnl" sz="1400" b="1" dirty="0">
                <a:solidFill>
                  <a:schemeClr val="accent1"/>
                </a:solidFill>
              </a:rPr>
              <a:t> </a:t>
            </a:r>
            <a:r>
              <a:rPr lang="es-ES_tradnl" sz="1400" dirty="0">
                <a:solidFill>
                  <a:schemeClr val="accent1"/>
                </a:solidFill>
              </a:rPr>
              <a:t>Flujogramas TO BE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12</a:t>
            </a:r>
            <a:r>
              <a:rPr lang="es-ES_tradnl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Iniciativas/Proyectos</a:t>
            </a:r>
            <a:endParaRPr lang="es-ES_tradnl" dirty="0">
              <a:solidFill>
                <a:schemeClr val="accent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3200" b="1" dirty="0">
                <a:solidFill>
                  <a:srgbClr val="C00000"/>
                </a:solidFill>
              </a:rPr>
              <a:t>78</a:t>
            </a:r>
            <a:r>
              <a:rPr lang="es-ES_tradnl" dirty="0"/>
              <a:t> </a:t>
            </a:r>
            <a:r>
              <a:rPr lang="es-ES_tradnl" sz="1400" dirty="0">
                <a:solidFill>
                  <a:schemeClr val="accent1"/>
                </a:solidFill>
              </a:rPr>
              <a:t>Propuestas de Mejora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6264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34F4FBB-154F-F630-0034-9B22A8F59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0" y="1568140"/>
            <a:ext cx="6146800" cy="4762500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741A713A-46CB-350A-E02C-EEBB317483C1}"/>
              </a:ext>
            </a:extLst>
          </p:cNvPr>
          <p:cNvSpPr txBox="1">
            <a:spLocks/>
          </p:cNvSpPr>
          <p:nvPr/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Mapa de Procesos General</a:t>
            </a:r>
          </a:p>
          <a:p>
            <a:r>
              <a:rPr lang="es-ES_tradnl" sz="2400" b="1" dirty="0">
                <a:solidFill>
                  <a:schemeClr val="accent1"/>
                </a:solidFill>
              </a:rPr>
              <a:t>Inventario de Macroprocesos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49836B7-7534-8969-ECCA-E09F70356FED}"/>
              </a:ext>
            </a:extLst>
          </p:cNvPr>
          <p:cNvSpPr/>
          <p:nvPr/>
        </p:nvSpPr>
        <p:spPr>
          <a:xfrm>
            <a:off x="2646556" y="5218771"/>
            <a:ext cx="1226634" cy="7136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0768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741A713A-46CB-350A-E02C-EEBB317483C1}"/>
              </a:ext>
            </a:extLst>
          </p:cNvPr>
          <p:cNvSpPr txBox="1">
            <a:spLocks/>
          </p:cNvSpPr>
          <p:nvPr/>
        </p:nvSpPr>
        <p:spPr>
          <a:xfrm>
            <a:off x="681038" y="365126"/>
            <a:ext cx="88653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Proceso </a:t>
            </a:r>
            <a:r>
              <a:rPr lang="es-ES_tradnl" sz="3200" b="1" dirty="0" err="1"/>
              <a:t>Hire</a:t>
            </a:r>
            <a:r>
              <a:rPr lang="es-ES_tradnl" sz="3200" b="1" dirty="0"/>
              <a:t> </a:t>
            </a:r>
            <a:r>
              <a:rPr lang="es-ES_tradnl" sz="3200" b="1" dirty="0" err="1"/>
              <a:t>to</a:t>
            </a:r>
            <a:r>
              <a:rPr lang="es-ES_tradnl" sz="3200" b="1" dirty="0"/>
              <a:t> Retire</a:t>
            </a:r>
          </a:p>
          <a:p>
            <a:r>
              <a:rPr lang="es-ES_tradnl" sz="2400" b="1" dirty="0">
                <a:solidFill>
                  <a:schemeClr val="accent1"/>
                </a:solidFill>
              </a:rPr>
              <a:t>Reclutamiento y Selección – Estructura Organizacional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34B47D2-89ED-2C67-26CC-02DFD255A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641" y="1690689"/>
            <a:ext cx="7596717" cy="472577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F79CFDE-1736-444B-A89C-D3A461CF119F}"/>
              </a:ext>
            </a:extLst>
          </p:cNvPr>
          <p:cNvSpPr txBox="1"/>
          <p:nvPr/>
        </p:nvSpPr>
        <p:spPr>
          <a:xfrm>
            <a:off x="6594805" y="1541886"/>
            <a:ext cx="30811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sz="2000" b="1" dirty="0" err="1">
                <a:solidFill>
                  <a:srgbClr val="FF0000"/>
                </a:solidFill>
              </a:rPr>
              <a:t>Aréa</a:t>
            </a:r>
            <a:r>
              <a:rPr lang="es-ES_tradnl" sz="2000" b="1" dirty="0">
                <a:solidFill>
                  <a:srgbClr val="FF0000"/>
                </a:solidFill>
              </a:rPr>
              <a:t> de Gestión Humana</a:t>
            </a:r>
          </a:p>
          <a:p>
            <a:r>
              <a:rPr lang="es-ES_tradnl" sz="2000" b="1" dirty="0">
                <a:solidFill>
                  <a:srgbClr val="FF0000"/>
                </a:solidFill>
              </a:rPr>
              <a:t>11</a:t>
            </a:r>
            <a:r>
              <a:rPr lang="es-ES_tradnl" sz="1400" dirty="0"/>
              <a:t> Posiciones (Puestos)</a:t>
            </a:r>
          </a:p>
          <a:p>
            <a:r>
              <a:rPr lang="es-ES_tradnl" sz="2000" b="1" dirty="0">
                <a:solidFill>
                  <a:srgbClr val="FF0000"/>
                </a:solidFill>
              </a:rPr>
              <a:t>19</a:t>
            </a:r>
            <a:r>
              <a:rPr lang="es-ES_tradnl" sz="1400" dirty="0"/>
              <a:t> Colaboradores</a:t>
            </a:r>
          </a:p>
        </p:txBody>
      </p:sp>
    </p:spTree>
    <p:extLst>
      <p:ext uri="{BB962C8B-B14F-4D97-AF65-F5344CB8AC3E}">
        <p14:creationId xmlns:p14="http://schemas.microsoft.com/office/powerpoint/2010/main" val="113699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8" name="Rectángulo 7337">
            <a:extLst>
              <a:ext uri="{FF2B5EF4-FFF2-40B4-BE49-F238E27FC236}">
                <a16:creationId xmlns:a16="http://schemas.microsoft.com/office/drawing/2014/main" id="{20E7EB5A-5051-36B6-423A-BD37F66BB186}"/>
              </a:ext>
            </a:extLst>
          </p:cNvPr>
          <p:cNvSpPr/>
          <p:nvPr/>
        </p:nvSpPr>
        <p:spPr>
          <a:xfrm>
            <a:off x="-5832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1" name="Rectángulo 7330">
            <a:extLst>
              <a:ext uri="{FF2B5EF4-FFF2-40B4-BE49-F238E27FC236}">
                <a16:creationId xmlns:a16="http://schemas.microsoft.com/office/drawing/2014/main" id="{5FDA60CE-0F41-2286-BCD5-9FF3888A107B}"/>
              </a:ext>
            </a:extLst>
          </p:cNvPr>
          <p:cNvSpPr/>
          <p:nvPr/>
        </p:nvSpPr>
        <p:spPr>
          <a:xfrm>
            <a:off x="822437" y="4329950"/>
            <a:ext cx="8942715" cy="13835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0" name="Rectángulo 7329">
            <a:extLst>
              <a:ext uri="{FF2B5EF4-FFF2-40B4-BE49-F238E27FC236}">
                <a16:creationId xmlns:a16="http://schemas.microsoft.com/office/drawing/2014/main" id="{BFC97442-46C2-2A72-D98C-C1FA720F21FA}"/>
              </a:ext>
            </a:extLst>
          </p:cNvPr>
          <p:cNvSpPr/>
          <p:nvPr/>
        </p:nvSpPr>
        <p:spPr>
          <a:xfrm>
            <a:off x="828831" y="1598564"/>
            <a:ext cx="8942715" cy="2661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29" name="Rectángulo 7328">
            <a:extLst>
              <a:ext uri="{FF2B5EF4-FFF2-40B4-BE49-F238E27FC236}">
                <a16:creationId xmlns:a16="http://schemas.microsoft.com/office/drawing/2014/main" id="{E33CDE91-39BA-BBCD-53B7-B711A9F90E5A}"/>
              </a:ext>
            </a:extLst>
          </p:cNvPr>
          <p:cNvSpPr/>
          <p:nvPr/>
        </p:nvSpPr>
        <p:spPr>
          <a:xfrm>
            <a:off x="828832" y="372525"/>
            <a:ext cx="8942715" cy="117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041685-4211-71C2-9F3F-7D94EBE7BB44}"/>
              </a:ext>
            </a:extLst>
          </p:cNvPr>
          <p:cNvSpPr/>
          <p:nvPr/>
        </p:nvSpPr>
        <p:spPr>
          <a:xfrm rot="16200000">
            <a:off x="-144567" y="634872"/>
            <a:ext cx="117662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Área Usuaria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Solicitante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179691-48D1-C7D5-94AB-97E5933FE172}"/>
              </a:ext>
            </a:extLst>
          </p:cNvPr>
          <p:cNvSpPr/>
          <p:nvPr/>
        </p:nvSpPr>
        <p:spPr>
          <a:xfrm>
            <a:off x="900391" y="809129"/>
            <a:ext cx="313266" cy="2878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95854C-760C-B3CE-976B-44FDEE632C3F}"/>
              </a:ext>
            </a:extLst>
          </p:cNvPr>
          <p:cNvSpPr txBox="1"/>
          <p:nvPr/>
        </p:nvSpPr>
        <p:spPr>
          <a:xfrm>
            <a:off x="1557186" y="1756420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Requerimiento de Candidatos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32E2E-694C-43AF-F611-14BF9440B06E}"/>
              </a:ext>
            </a:extLst>
          </p:cNvPr>
          <p:cNvSpPr txBox="1"/>
          <p:nvPr/>
        </p:nvSpPr>
        <p:spPr>
          <a:xfrm>
            <a:off x="1557186" y="673624"/>
            <a:ext cx="1439187" cy="552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Solicitud de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Requerimiento de Candidatos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46CB5C-0563-CD3E-5E2E-50157CA43F77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 flipV="1">
            <a:off x="1213657" y="949979"/>
            <a:ext cx="343529" cy="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011220-994E-58D8-12B9-6683BF6A192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2276780" y="1226334"/>
            <a:ext cx="0" cy="530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E4CC33-75CF-0BD6-B3A7-B315E673A13B}"/>
              </a:ext>
            </a:extLst>
          </p:cNvPr>
          <p:cNvSpPr/>
          <p:nvPr/>
        </p:nvSpPr>
        <p:spPr>
          <a:xfrm rot="16200000">
            <a:off x="-884475" y="2603154"/>
            <a:ext cx="2661113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Desarrollo Organizacional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4EEBC56-DFCF-E1F8-0591-9B938B96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007" y="2306920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22245F2-838A-491E-00D5-CC91547E9642}"/>
              </a:ext>
            </a:extLst>
          </p:cNvPr>
          <p:cNvSpPr txBox="1"/>
          <p:nvPr/>
        </p:nvSpPr>
        <p:spPr>
          <a:xfrm>
            <a:off x="990260" y="2287567"/>
            <a:ext cx="1204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BD de RQ-2024.xlsx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27360A-E6D7-BFA7-E366-F582906D1D84}"/>
              </a:ext>
            </a:extLst>
          </p:cNvPr>
          <p:cNvSpPr txBox="1"/>
          <p:nvPr/>
        </p:nvSpPr>
        <p:spPr>
          <a:xfrm>
            <a:off x="3220071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Publicación de Vacante en Medios Digitales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CC4FD16-4D43-CB5C-829F-F3E179674225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 flipV="1">
            <a:off x="2996373" y="2002245"/>
            <a:ext cx="22369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F1E80D7-522D-C12B-7261-022308BCEC4A}"/>
              </a:ext>
            </a:extLst>
          </p:cNvPr>
          <p:cNvSpPr txBox="1"/>
          <p:nvPr/>
        </p:nvSpPr>
        <p:spPr>
          <a:xfrm>
            <a:off x="4931918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Recepción de Hojas de Vida y Filtro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B3BB4DE-724E-B00E-51C1-56F841AADB36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4659258" y="2002245"/>
            <a:ext cx="272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8130FA-2191-041C-D38A-7802115E83A3}"/>
              </a:ext>
            </a:extLst>
          </p:cNvPr>
          <p:cNvSpPr txBox="1"/>
          <p:nvPr/>
        </p:nvSpPr>
        <p:spPr>
          <a:xfrm>
            <a:off x="4931918" y="269093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Entrevistas y Llenado de Ficha de Candidato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0A727EA-CD2E-7F3D-5DD9-A923B0D79B83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5651512" y="2248072"/>
            <a:ext cx="0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C517EC-706D-AD1E-A15B-D623FDE96247}"/>
              </a:ext>
            </a:extLst>
          </p:cNvPr>
          <p:cNvSpPr txBox="1"/>
          <p:nvPr/>
        </p:nvSpPr>
        <p:spPr>
          <a:xfrm>
            <a:off x="6867466" y="2690930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Psicométricas (Presencial)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364C961-7DB4-D19A-CF8E-FD37AC3BB114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6371105" y="2933302"/>
            <a:ext cx="496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5" name="Rombo 7184">
            <a:extLst>
              <a:ext uri="{FF2B5EF4-FFF2-40B4-BE49-F238E27FC236}">
                <a16:creationId xmlns:a16="http://schemas.microsoft.com/office/drawing/2014/main" id="{0240C84E-ED78-25F2-E418-E79E7BDEB562}"/>
              </a:ext>
            </a:extLst>
          </p:cNvPr>
          <p:cNvSpPr/>
          <p:nvPr/>
        </p:nvSpPr>
        <p:spPr>
          <a:xfrm>
            <a:off x="7258868" y="1783103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187" name="Conector recto de flecha 7186">
            <a:extLst>
              <a:ext uri="{FF2B5EF4-FFF2-40B4-BE49-F238E27FC236}">
                <a16:creationId xmlns:a16="http://schemas.microsoft.com/office/drawing/2014/main" id="{DD994B2F-7E53-E5C0-315C-3F9FEB538246}"/>
              </a:ext>
            </a:extLst>
          </p:cNvPr>
          <p:cNvCxnSpPr>
            <a:cxnSpLocks/>
          </p:cNvCxnSpPr>
          <p:nvPr/>
        </p:nvCxnSpPr>
        <p:spPr>
          <a:xfrm flipH="1" flipV="1">
            <a:off x="7610911" y="2248072"/>
            <a:ext cx="6022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9" name="Conector recto de flecha 7188">
            <a:extLst>
              <a:ext uri="{FF2B5EF4-FFF2-40B4-BE49-F238E27FC236}">
                <a16:creationId xmlns:a16="http://schemas.microsoft.com/office/drawing/2014/main" id="{036C4CD7-B877-1EB6-5A94-F03CC1771E09}"/>
              </a:ext>
            </a:extLst>
          </p:cNvPr>
          <p:cNvCxnSpPr>
            <a:cxnSpLocks/>
            <a:stCxn id="7185" idx="1"/>
            <a:endCxn id="35" idx="3"/>
          </p:cNvCxnSpPr>
          <p:nvPr/>
        </p:nvCxnSpPr>
        <p:spPr>
          <a:xfrm flipH="1" flipV="1">
            <a:off x="6371105" y="2002245"/>
            <a:ext cx="887763" cy="1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4" name="CuadroTexto 7193">
            <a:extLst>
              <a:ext uri="{FF2B5EF4-FFF2-40B4-BE49-F238E27FC236}">
                <a16:creationId xmlns:a16="http://schemas.microsoft.com/office/drawing/2014/main" id="{A45069A6-9C5C-9499-A0D9-42387D5FFD3E}"/>
              </a:ext>
            </a:extLst>
          </p:cNvPr>
          <p:cNvSpPr txBox="1"/>
          <p:nvPr/>
        </p:nvSpPr>
        <p:spPr>
          <a:xfrm>
            <a:off x="6891317" y="647988"/>
            <a:ext cx="1439187" cy="5211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 con Solicitante</a:t>
            </a:r>
          </a:p>
        </p:txBody>
      </p:sp>
      <p:cxnSp>
        <p:nvCxnSpPr>
          <p:cNvPr id="7195" name="Conector recto de flecha 7194">
            <a:extLst>
              <a:ext uri="{FF2B5EF4-FFF2-40B4-BE49-F238E27FC236}">
                <a16:creationId xmlns:a16="http://schemas.microsoft.com/office/drawing/2014/main" id="{49F53781-5CAE-A516-28F2-DEE60E077BCF}"/>
              </a:ext>
            </a:extLst>
          </p:cNvPr>
          <p:cNvCxnSpPr>
            <a:cxnSpLocks/>
            <a:stCxn id="7185" idx="0"/>
          </p:cNvCxnSpPr>
          <p:nvPr/>
        </p:nvCxnSpPr>
        <p:spPr>
          <a:xfrm flipV="1">
            <a:off x="7610911" y="1169178"/>
            <a:ext cx="0" cy="61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9" name="CuadroTexto 7198">
            <a:extLst>
              <a:ext uri="{FF2B5EF4-FFF2-40B4-BE49-F238E27FC236}">
                <a16:creationId xmlns:a16="http://schemas.microsoft.com/office/drawing/2014/main" id="{3DA02FEB-1400-AE79-F4CA-AE05AFFE20F5}"/>
              </a:ext>
            </a:extLst>
          </p:cNvPr>
          <p:cNvSpPr txBox="1"/>
          <p:nvPr/>
        </p:nvSpPr>
        <p:spPr>
          <a:xfrm>
            <a:off x="1188562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Validación de Referencias Crediticias</a:t>
            </a:r>
          </a:p>
        </p:txBody>
      </p:sp>
      <p:sp>
        <p:nvSpPr>
          <p:cNvPr id="7201" name="Rombo 7200">
            <a:extLst>
              <a:ext uri="{FF2B5EF4-FFF2-40B4-BE49-F238E27FC236}">
                <a16:creationId xmlns:a16="http://schemas.microsoft.com/office/drawing/2014/main" id="{EF585719-B760-A389-A1A6-9A9B3A3CCC18}"/>
              </a:ext>
            </a:extLst>
          </p:cNvPr>
          <p:cNvSpPr/>
          <p:nvPr/>
        </p:nvSpPr>
        <p:spPr>
          <a:xfrm>
            <a:off x="8667576" y="673625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02" name="Conector recto de flecha 7201">
            <a:extLst>
              <a:ext uri="{FF2B5EF4-FFF2-40B4-BE49-F238E27FC236}">
                <a16:creationId xmlns:a16="http://schemas.microsoft.com/office/drawing/2014/main" id="{CE6FF1D8-F68E-7F48-762A-C2101C559E28}"/>
              </a:ext>
            </a:extLst>
          </p:cNvPr>
          <p:cNvCxnSpPr>
            <a:cxnSpLocks/>
            <a:stCxn id="7194" idx="3"/>
            <a:endCxn id="7201" idx="1"/>
          </p:cNvCxnSpPr>
          <p:nvPr/>
        </p:nvCxnSpPr>
        <p:spPr>
          <a:xfrm flipV="1">
            <a:off x="8330504" y="906110"/>
            <a:ext cx="337072" cy="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0" name="Conector angular 7219">
            <a:extLst>
              <a:ext uri="{FF2B5EF4-FFF2-40B4-BE49-F238E27FC236}">
                <a16:creationId xmlns:a16="http://schemas.microsoft.com/office/drawing/2014/main" id="{34E84BF1-E801-0064-B550-B25DB745D327}"/>
              </a:ext>
            </a:extLst>
          </p:cNvPr>
          <p:cNvCxnSpPr>
            <a:cxnSpLocks/>
            <a:stCxn id="7201" idx="0"/>
            <a:endCxn id="35" idx="0"/>
          </p:cNvCxnSpPr>
          <p:nvPr/>
        </p:nvCxnSpPr>
        <p:spPr>
          <a:xfrm rot="16200000" flipH="1" flipV="1">
            <a:off x="6794169" y="-469033"/>
            <a:ext cx="1082793" cy="3368107"/>
          </a:xfrm>
          <a:prstGeom prst="bentConnector3">
            <a:avLst>
              <a:gd name="adj1" fmla="val -21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3" name="Conector angular 7222">
            <a:extLst>
              <a:ext uri="{FF2B5EF4-FFF2-40B4-BE49-F238E27FC236}">
                <a16:creationId xmlns:a16="http://schemas.microsoft.com/office/drawing/2014/main" id="{590FB989-7AD0-9DC5-782E-0D518FB3185A}"/>
              </a:ext>
            </a:extLst>
          </p:cNvPr>
          <p:cNvCxnSpPr>
            <a:cxnSpLocks/>
            <a:stCxn id="7201" idx="2"/>
            <a:endCxn id="7199" idx="0"/>
          </p:cNvCxnSpPr>
          <p:nvPr/>
        </p:nvCxnSpPr>
        <p:spPr>
          <a:xfrm rot="5400000">
            <a:off x="4244899" y="-1198148"/>
            <a:ext cx="2437979" cy="7111463"/>
          </a:xfrm>
          <a:prstGeom prst="bentConnector3">
            <a:avLst>
              <a:gd name="adj1" fmla="val 910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66" name="Picture 2">
            <a:extLst>
              <a:ext uri="{FF2B5EF4-FFF2-40B4-BE49-F238E27FC236}">
                <a16:creationId xmlns:a16="http://schemas.microsoft.com/office/drawing/2014/main" id="{AD3C54F7-054D-91A0-699D-2E0F3CD9C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222" y="940292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67" name="CuadroTexto 7266">
            <a:extLst>
              <a:ext uri="{FF2B5EF4-FFF2-40B4-BE49-F238E27FC236}">
                <a16:creationId xmlns:a16="http://schemas.microsoft.com/office/drawing/2014/main" id="{31211F81-6FB3-655C-7A3B-734EEF1F1A27}"/>
              </a:ext>
            </a:extLst>
          </p:cNvPr>
          <p:cNvSpPr txBox="1"/>
          <p:nvPr/>
        </p:nvSpPr>
        <p:spPr>
          <a:xfrm>
            <a:off x="2499117" y="1268586"/>
            <a:ext cx="10903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Formato de Perfil</a:t>
            </a:r>
          </a:p>
        </p:txBody>
      </p:sp>
      <p:sp>
        <p:nvSpPr>
          <p:cNvPr id="7272" name="CuadroTexto 7271">
            <a:extLst>
              <a:ext uri="{FF2B5EF4-FFF2-40B4-BE49-F238E27FC236}">
                <a16:creationId xmlns:a16="http://schemas.microsoft.com/office/drawing/2014/main" id="{F4B1FECB-558F-50F5-60F7-43165D3CF091}"/>
              </a:ext>
            </a:extLst>
          </p:cNvPr>
          <p:cNvSpPr txBox="1"/>
          <p:nvPr/>
        </p:nvSpPr>
        <p:spPr>
          <a:xfrm>
            <a:off x="3024651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Elaboración de Contrato</a:t>
            </a:r>
          </a:p>
        </p:txBody>
      </p:sp>
      <p:cxnSp>
        <p:nvCxnSpPr>
          <p:cNvPr id="7273" name="Conector recto de flecha 7272">
            <a:extLst>
              <a:ext uri="{FF2B5EF4-FFF2-40B4-BE49-F238E27FC236}">
                <a16:creationId xmlns:a16="http://schemas.microsoft.com/office/drawing/2014/main" id="{342CF633-5649-8810-068C-8F823A83D58B}"/>
              </a:ext>
            </a:extLst>
          </p:cNvPr>
          <p:cNvCxnSpPr>
            <a:cxnSpLocks/>
            <a:stCxn id="7199" idx="3"/>
            <a:endCxn id="7272" idx="1"/>
          </p:cNvCxnSpPr>
          <p:nvPr/>
        </p:nvCxnSpPr>
        <p:spPr>
          <a:xfrm>
            <a:off x="2627749" y="3818945"/>
            <a:ext cx="396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6" name="CuadroTexto 7275">
            <a:extLst>
              <a:ext uri="{FF2B5EF4-FFF2-40B4-BE49-F238E27FC236}">
                <a16:creationId xmlns:a16="http://schemas.microsoft.com/office/drawing/2014/main" id="{3AC59DD0-E8BE-6DEB-8B80-0CA1A84CC144}"/>
              </a:ext>
            </a:extLst>
          </p:cNvPr>
          <p:cNvSpPr txBox="1"/>
          <p:nvPr/>
        </p:nvSpPr>
        <p:spPr>
          <a:xfrm>
            <a:off x="4814809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Preparación del Expediente para Inducción</a:t>
            </a:r>
          </a:p>
        </p:txBody>
      </p:sp>
      <p:cxnSp>
        <p:nvCxnSpPr>
          <p:cNvPr id="7277" name="Conector recto de flecha 7276">
            <a:extLst>
              <a:ext uri="{FF2B5EF4-FFF2-40B4-BE49-F238E27FC236}">
                <a16:creationId xmlns:a16="http://schemas.microsoft.com/office/drawing/2014/main" id="{D450196B-EEF9-EEB5-0B90-5289B40A8C85}"/>
              </a:ext>
            </a:extLst>
          </p:cNvPr>
          <p:cNvCxnSpPr>
            <a:cxnSpLocks/>
            <a:stCxn id="7272" idx="3"/>
            <a:endCxn id="7276" idx="1"/>
          </p:cNvCxnSpPr>
          <p:nvPr/>
        </p:nvCxnSpPr>
        <p:spPr>
          <a:xfrm>
            <a:off x="4463838" y="3818945"/>
            <a:ext cx="350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0" name="Rectángulo 7279">
            <a:extLst>
              <a:ext uri="{FF2B5EF4-FFF2-40B4-BE49-F238E27FC236}">
                <a16:creationId xmlns:a16="http://schemas.microsoft.com/office/drawing/2014/main" id="{32506046-B594-41E3-8D8B-CB46306F2DFA}"/>
              </a:ext>
            </a:extLst>
          </p:cNvPr>
          <p:cNvSpPr/>
          <p:nvPr/>
        </p:nvSpPr>
        <p:spPr>
          <a:xfrm rot="16200000">
            <a:off x="-248018" y="4705525"/>
            <a:ext cx="1383530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Nómina</a:t>
            </a:r>
          </a:p>
        </p:txBody>
      </p:sp>
      <p:sp>
        <p:nvSpPr>
          <p:cNvPr id="7282" name="CuadroTexto 7281">
            <a:extLst>
              <a:ext uri="{FF2B5EF4-FFF2-40B4-BE49-F238E27FC236}">
                <a16:creationId xmlns:a16="http://schemas.microsoft.com/office/drawing/2014/main" id="{5E9C4721-7BBA-C1F7-A67D-EF016F4045E3}"/>
              </a:ext>
            </a:extLst>
          </p:cNvPr>
          <p:cNvSpPr txBox="1"/>
          <p:nvPr/>
        </p:nvSpPr>
        <p:spPr>
          <a:xfrm>
            <a:off x="5888708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Inducción de Políticas Laborales</a:t>
            </a:r>
          </a:p>
        </p:txBody>
      </p:sp>
      <p:sp>
        <p:nvSpPr>
          <p:cNvPr id="7293" name="CuadroTexto 7292">
            <a:extLst>
              <a:ext uri="{FF2B5EF4-FFF2-40B4-BE49-F238E27FC236}">
                <a16:creationId xmlns:a16="http://schemas.microsoft.com/office/drawing/2014/main" id="{C509F8E0-B3FB-D3CE-08EF-A2EB36DEC240}"/>
              </a:ext>
            </a:extLst>
          </p:cNvPr>
          <p:cNvSpPr txBox="1"/>
          <p:nvPr/>
        </p:nvSpPr>
        <p:spPr>
          <a:xfrm>
            <a:off x="7573812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Datos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del Colaborador</a:t>
            </a:r>
          </a:p>
        </p:txBody>
      </p:sp>
      <p:cxnSp>
        <p:nvCxnSpPr>
          <p:cNvPr id="7294" name="Conector recto de flecha 7293">
            <a:extLst>
              <a:ext uri="{FF2B5EF4-FFF2-40B4-BE49-F238E27FC236}">
                <a16:creationId xmlns:a16="http://schemas.microsoft.com/office/drawing/2014/main" id="{789D129D-C3FB-9443-B329-B02D1563FD75}"/>
              </a:ext>
            </a:extLst>
          </p:cNvPr>
          <p:cNvCxnSpPr>
            <a:cxnSpLocks/>
            <a:stCxn id="7282" idx="3"/>
            <a:endCxn id="7293" idx="1"/>
          </p:cNvCxnSpPr>
          <p:nvPr/>
        </p:nvCxnSpPr>
        <p:spPr>
          <a:xfrm>
            <a:off x="7327895" y="5275915"/>
            <a:ext cx="245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7" name="Elipse 7296">
            <a:extLst>
              <a:ext uri="{FF2B5EF4-FFF2-40B4-BE49-F238E27FC236}">
                <a16:creationId xmlns:a16="http://schemas.microsoft.com/office/drawing/2014/main" id="{3F8736F1-5A8A-58D6-AF62-899609E565CF}"/>
              </a:ext>
            </a:extLst>
          </p:cNvPr>
          <p:cNvSpPr/>
          <p:nvPr/>
        </p:nvSpPr>
        <p:spPr>
          <a:xfrm>
            <a:off x="9247746" y="5131981"/>
            <a:ext cx="313266" cy="287867"/>
          </a:xfrm>
          <a:prstGeom prst="ellipse">
            <a:avLst/>
          </a:prstGeom>
          <a:solidFill>
            <a:srgbClr val="F7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298" name="Conector recto de flecha 7297">
            <a:extLst>
              <a:ext uri="{FF2B5EF4-FFF2-40B4-BE49-F238E27FC236}">
                <a16:creationId xmlns:a16="http://schemas.microsoft.com/office/drawing/2014/main" id="{233C4B83-066B-84AE-06CD-4ED56116F806}"/>
              </a:ext>
            </a:extLst>
          </p:cNvPr>
          <p:cNvCxnSpPr>
            <a:cxnSpLocks/>
            <a:stCxn id="7293" idx="3"/>
            <a:endCxn id="7297" idx="2"/>
          </p:cNvCxnSpPr>
          <p:nvPr/>
        </p:nvCxnSpPr>
        <p:spPr>
          <a:xfrm>
            <a:off x="9012999" y="5275915"/>
            <a:ext cx="234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02" name="Picture 4" descr="Account, profile, user, avatar, human, man, person">
            <a:extLst>
              <a:ext uri="{FF2B5EF4-FFF2-40B4-BE49-F238E27FC236}">
                <a16:creationId xmlns:a16="http://schemas.microsoft.com/office/drawing/2014/main" id="{C87D82B4-5CB3-AE34-5F46-6C9EBFE0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57" y="5059817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03" name="Picture 6" descr="Hand, finger, gesture">
            <a:extLst>
              <a:ext uri="{FF2B5EF4-FFF2-40B4-BE49-F238E27FC236}">
                <a16:creationId xmlns:a16="http://schemas.microsoft.com/office/drawing/2014/main" id="{87F782B9-E8ED-A3C0-3EDD-80252098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1794606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10" name="Cilindro 7309">
            <a:extLst>
              <a:ext uri="{FF2B5EF4-FFF2-40B4-BE49-F238E27FC236}">
                <a16:creationId xmlns:a16="http://schemas.microsoft.com/office/drawing/2014/main" id="{E3CDFFCF-4D0F-6C6F-58A9-0F997D3BFE04}"/>
              </a:ext>
            </a:extLst>
          </p:cNvPr>
          <p:cNvSpPr/>
          <p:nvPr/>
        </p:nvSpPr>
        <p:spPr>
          <a:xfrm>
            <a:off x="8719023" y="4549717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SAP</a:t>
            </a:r>
          </a:p>
        </p:txBody>
      </p:sp>
      <p:cxnSp>
        <p:nvCxnSpPr>
          <p:cNvPr id="7314" name="Conector angular 7313">
            <a:extLst>
              <a:ext uri="{FF2B5EF4-FFF2-40B4-BE49-F238E27FC236}">
                <a16:creationId xmlns:a16="http://schemas.microsoft.com/office/drawing/2014/main" id="{0CAEB9DB-F9E0-E4B4-C985-C3C1B845EC96}"/>
              </a:ext>
            </a:extLst>
          </p:cNvPr>
          <p:cNvCxnSpPr>
            <a:stCxn id="7293" idx="0"/>
            <a:endCxn id="7310" idx="2"/>
          </p:cNvCxnSpPr>
          <p:nvPr/>
        </p:nvCxnSpPr>
        <p:spPr>
          <a:xfrm rot="5400000" flipH="1" flipV="1">
            <a:off x="8351766" y="4666287"/>
            <a:ext cx="308897" cy="425617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15" name="Picture 6" descr="Hand, finger, gesture">
            <a:extLst>
              <a:ext uri="{FF2B5EF4-FFF2-40B4-BE49-F238E27FC236}">
                <a16:creationId xmlns:a16="http://schemas.microsoft.com/office/drawing/2014/main" id="{C5287B95-A1FF-F132-85BA-29C5ED10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693460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6" name="Picture 6" descr="Hand, finger, gesture">
            <a:extLst>
              <a:ext uri="{FF2B5EF4-FFF2-40B4-BE49-F238E27FC236}">
                <a16:creationId xmlns:a16="http://schemas.microsoft.com/office/drawing/2014/main" id="{927C3BC2-8FE5-1A25-563C-5C42E45A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57719" y="178014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7" name="Picture 6" descr="Hand, finger, gesture">
            <a:extLst>
              <a:ext uri="{FF2B5EF4-FFF2-40B4-BE49-F238E27FC236}">
                <a16:creationId xmlns:a16="http://schemas.microsoft.com/office/drawing/2014/main" id="{CC847320-E6C1-3743-8B21-D604845F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34738" y="272304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8" name="Picture 6" descr="Hand, finger, gesture">
            <a:extLst>
              <a:ext uri="{FF2B5EF4-FFF2-40B4-BE49-F238E27FC236}">
                <a16:creationId xmlns:a16="http://schemas.microsoft.com/office/drawing/2014/main" id="{34CB2F66-8A2B-E255-A5B9-E893463C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39868" y="364370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9" name="Picture 6" descr="Hand, finger, gesture">
            <a:extLst>
              <a:ext uri="{FF2B5EF4-FFF2-40B4-BE49-F238E27FC236}">
                <a16:creationId xmlns:a16="http://schemas.microsoft.com/office/drawing/2014/main" id="{6B05F70D-8B0D-6AFE-5BA2-A306A9524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87746" y="360973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20" name="Picture 8">
            <a:extLst>
              <a:ext uri="{FF2B5EF4-FFF2-40B4-BE49-F238E27FC236}">
                <a16:creationId xmlns:a16="http://schemas.microsoft.com/office/drawing/2014/main" id="{0577736A-742F-639E-FE40-2D4A20B1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03" y="2886178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21" name="CuadroTexto 7320">
            <a:extLst>
              <a:ext uri="{FF2B5EF4-FFF2-40B4-BE49-F238E27FC236}">
                <a16:creationId xmlns:a16="http://schemas.microsoft.com/office/drawing/2014/main" id="{224D39F9-FAEA-C94D-B5FA-4B1CD12ED6AE}"/>
              </a:ext>
            </a:extLst>
          </p:cNvPr>
          <p:cNvSpPr txBox="1"/>
          <p:nvPr/>
        </p:nvSpPr>
        <p:spPr>
          <a:xfrm>
            <a:off x="3079405" y="3016588"/>
            <a:ext cx="14927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Candidato.docx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sp>
        <p:nvSpPr>
          <p:cNvPr id="7324" name="CuadroTexto 7323">
            <a:extLst>
              <a:ext uri="{FF2B5EF4-FFF2-40B4-BE49-F238E27FC236}">
                <a16:creationId xmlns:a16="http://schemas.microsoft.com/office/drawing/2014/main" id="{0147E9D1-DC7C-15AB-ABC6-1711451054F4}"/>
              </a:ext>
            </a:extLst>
          </p:cNvPr>
          <p:cNvSpPr txBox="1"/>
          <p:nvPr/>
        </p:nvSpPr>
        <p:spPr>
          <a:xfrm>
            <a:off x="6771491" y="1761718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5" name="CuadroTexto 7324">
            <a:extLst>
              <a:ext uri="{FF2B5EF4-FFF2-40B4-BE49-F238E27FC236}">
                <a16:creationId xmlns:a16="http://schemas.microsoft.com/office/drawing/2014/main" id="{D026E0D4-F78D-5C66-2A3D-86F10B862C07}"/>
              </a:ext>
            </a:extLst>
          </p:cNvPr>
          <p:cNvSpPr txBox="1"/>
          <p:nvPr/>
        </p:nvSpPr>
        <p:spPr>
          <a:xfrm>
            <a:off x="8634201" y="47438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6" name="CuadroTexto 7325">
            <a:extLst>
              <a:ext uri="{FF2B5EF4-FFF2-40B4-BE49-F238E27FC236}">
                <a16:creationId xmlns:a16="http://schemas.microsoft.com/office/drawing/2014/main" id="{A0C3E2C9-FCC1-ED22-3CCE-9A5F3F0036A1}"/>
              </a:ext>
            </a:extLst>
          </p:cNvPr>
          <p:cNvSpPr txBox="1"/>
          <p:nvPr/>
        </p:nvSpPr>
        <p:spPr>
          <a:xfrm>
            <a:off x="9021689" y="109348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sp>
        <p:nvSpPr>
          <p:cNvPr id="7328" name="CuadroTexto 7327">
            <a:extLst>
              <a:ext uri="{FF2B5EF4-FFF2-40B4-BE49-F238E27FC236}">
                <a16:creationId xmlns:a16="http://schemas.microsoft.com/office/drawing/2014/main" id="{AFAC0600-A70D-A88A-E9CE-040D8040CBF8}"/>
              </a:ext>
            </a:extLst>
          </p:cNvPr>
          <p:cNvSpPr txBox="1"/>
          <p:nvPr/>
        </p:nvSpPr>
        <p:spPr>
          <a:xfrm>
            <a:off x="7616933" y="130029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cxnSp>
        <p:nvCxnSpPr>
          <p:cNvPr id="7342" name="Conector angular 7341">
            <a:extLst>
              <a:ext uri="{FF2B5EF4-FFF2-40B4-BE49-F238E27FC236}">
                <a16:creationId xmlns:a16="http://schemas.microsoft.com/office/drawing/2014/main" id="{3EB5C188-DAAA-4096-90DE-2D189CDCD0CC}"/>
              </a:ext>
            </a:extLst>
          </p:cNvPr>
          <p:cNvCxnSpPr>
            <a:endCxn id="7170" idx="3"/>
          </p:cNvCxnSpPr>
          <p:nvPr/>
        </p:nvCxnSpPr>
        <p:spPr>
          <a:xfrm rot="5400000">
            <a:off x="2598796" y="2266452"/>
            <a:ext cx="245785" cy="209024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3" name="Conector angular 7342">
            <a:extLst>
              <a:ext uri="{FF2B5EF4-FFF2-40B4-BE49-F238E27FC236}">
                <a16:creationId xmlns:a16="http://schemas.microsoft.com/office/drawing/2014/main" id="{7F568F78-AF72-2D66-8FAE-AE1F3EC7690F}"/>
              </a:ext>
            </a:extLst>
          </p:cNvPr>
          <p:cNvCxnSpPr>
            <a:cxnSpLocks/>
            <a:endCxn id="7266" idx="0"/>
          </p:cNvCxnSpPr>
          <p:nvPr/>
        </p:nvCxnSpPr>
        <p:spPr>
          <a:xfrm>
            <a:off x="2994538" y="805844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4" name="Conector angular 7343">
            <a:extLst>
              <a:ext uri="{FF2B5EF4-FFF2-40B4-BE49-F238E27FC236}">
                <a16:creationId xmlns:a16="http://schemas.microsoft.com/office/drawing/2014/main" id="{B9193EA8-ECB8-AC94-A0F7-564D4B912477}"/>
              </a:ext>
            </a:extLst>
          </p:cNvPr>
          <p:cNvCxnSpPr>
            <a:cxnSpLocks/>
            <a:stCxn id="7320" idx="0"/>
          </p:cNvCxnSpPr>
          <p:nvPr/>
        </p:nvCxnSpPr>
        <p:spPr>
          <a:xfrm rot="5400000" flipH="1" flipV="1">
            <a:off x="4771530" y="2727860"/>
            <a:ext cx="88083" cy="228555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49" name="Picture 6" descr="Hand, finger, gesture">
            <a:extLst>
              <a:ext uri="{FF2B5EF4-FFF2-40B4-BE49-F238E27FC236}">
                <a16:creationId xmlns:a16="http://schemas.microsoft.com/office/drawing/2014/main" id="{429A1DCF-D11A-8F54-6EC8-C3DD26AC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49313" y="177652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0" name="Picture 6" descr="Hand, finger, gesture">
            <a:extLst>
              <a:ext uri="{FF2B5EF4-FFF2-40B4-BE49-F238E27FC236}">
                <a16:creationId xmlns:a16="http://schemas.microsoft.com/office/drawing/2014/main" id="{0D261F7F-B551-248D-9521-E4645D0A9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60740" y="3604048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51" name="CuadroTexto 7350">
            <a:extLst>
              <a:ext uri="{FF2B5EF4-FFF2-40B4-BE49-F238E27FC236}">
                <a16:creationId xmlns:a16="http://schemas.microsoft.com/office/drawing/2014/main" id="{EFC11607-3AFA-1339-ED50-D5430813B271}"/>
              </a:ext>
            </a:extLst>
          </p:cNvPr>
          <p:cNvSpPr txBox="1"/>
          <p:nvPr/>
        </p:nvSpPr>
        <p:spPr>
          <a:xfrm>
            <a:off x="107978" y="35073"/>
            <a:ext cx="966356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</a:rPr>
              <a:t>HR12.Proceso </a:t>
            </a:r>
            <a:r>
              <a:rPr lang="es-ES_tradnl" sz="1400" b="1" dirty="0" err="1">
                <a:solidFill>
                  <a:schemeClr val="bg1"/>
                </a:solidFill>
              </a:rPr>
              <a:t>Hire</a:t>
            </a:r>
            <a:r>
              <a:rPr lang="es-ES_tradnl" sz="1400" b="1" dirty="0">
                <a:solidFill>
                  <a:schemeClr val="bg1"/>
                </a:solidFill>
              </a:rPr>
              <a:t> </a:t>
            </a:r>
            <a:r>
              <a:rPr lang="es-ES_tradnl" sz="1400" b="1" dirty="0" err="1">
                <a:solidFill>
                  <a:schemeClr val="bg1"/>
                </a:solidFill>
              </a:rPr>
              <a:t>to</a:t>
            </a:r>
            <a:r>
              <a:rPr lang="es-ES_tradnl" sz="1400" b="1" dirty="0">
                <a:solidFill>
                  <a:schemeClr val="bg1"/>
                </a:solidFill>
              </a:rPr>
              <a:t> Retire </a:t>
            </a:r>
            <a:r>
              <a:rPr lang="es-ES_tradnl" sz="1400" b="1" dirty="0">
                <a:solidFill>
                  <a:schemeClr val="bg1"/>
                </a:solidFill>
                <a:sym typeface="Wingdings" pitchFamily="2" charset="2"/>
              </a:rPr>
              <a:t> HR1201- </a:t>
            </a:r>
            <a:r>
              <a:rPr lang="es-ES_tradnl" sz="1400" b="1" dirty="0">
                <a:solidFill>
                  <a:schemeClr val="bg1"/>
                </a:solidFill>
              </a:rPr>
              <a:t>Selección y Reclutamiento</a:t>
            </a:r>
            <a:endParaRPr lang="es-ES_tradnl" sz="1050" dirty="0">
              <a:solidFill>
                <a:schemeClr val="bg1"/>
              </a:solidFill>
            </a:endParaRPr>
          </a:p>
        </p:txBody>
      </p:sp>
      <p:sp>
        <p:nvSpPr>
          <p:cNvPr id="7352" name="Rectángulo 7351">
            <a:extLst>
              <a:ext uri="{FF2B5EF4-FFF2-40B4-BE49-F238E27FC236}">
                <a16:creationId xmlns:a16="http://schemas.microsoft.com/office/drawing/2014/main" id="{DB334EF8-6484-4AE1-BAFE-C2482534F7A8}"/>
              </a:ext>
            </a:extLst>
          </p:cNvPr>
          <p:cNvSpPr/>
          <p:nvPr/>
        </p:nvSpPr>
        <p:spPr>
          <a:xfrm>
            <a:off x="828831" y="5774020"/>
            <a:ext cx="8942715" cy="999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53" name="Rectángulo 7352">
            <a:extLst>
              <a:ext uri="{FF2B5EF4-FFF2-40B4-BE49-F238E27FC236}">
                <a16:creationId xmlns:a16="http://schemas.microsoft.com/office/drawing/2014/main" id="{EB482C54-E8F3-BA04-E334-D4A8544E7802}"/>
              </a:ext>
            </a:extLst>
          </p:cNvPr>
          <p:cNvSpPr/>
          <p:nvPr/>
        </p:nvSpPr>
        <p:spPr>
          <a:xfrm rot="16200000">
            <a:off x="-49363" y="5947558"/>
            <a:ext cx="99900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Director RRHH</a:t>
            </a:r>
          </a:p>
        </p:txBody>
      </p:sp>
      <p:sp>
        <p:nvSpPr>
          <p:cNvPr id="7354" name="CuadroTexto 7353">
            <a:extLst>
              <a:ext uri="{FF2B5EF4-FFF2-40B4-BE49-F238E27FC236}">
                <a16:creationId xmlns:a16="http://schemas.microsoft.com/office/drawing/2014/main" id="{6438D7A5-FE45-DF56-C484-F31F5AED91A3}"/>
              </a:ext>
            </a:extLst>
          </p:cNvPr>
          <p:cNvSpPr txBox="1"/>
          <p:nvPr/>
        </p:nvSpPr>
        <p:spPr>
          <a:xfrm>
            <a:off x="4814808" y="5877568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Firma de Contrato</a:t>
            </a:r>
          </a:p>
        </p:txBody>
      </p:sp>
      <p:cxnSp>
        <p:nvCxnSpPr>
          <p:cNvPr id="7361" name="Conector angular 7360">
            <a:extLst>
              <a:ext uri="{FF2B5EF4-FFF2-40B4-BE49-F238E27FC236}">
                <a16:creationId xmlns:a16="http://schemas.microsoft.com/office/drawing/2014/main" id="{C1E8C0A7-7D8B-07A2-3A60-A5A3E6494E6E}"/>
              </a:ext>
            </a:extLst>
          </p:cNvPr>
          <p:cNvCxnSpPr>
            <a:stCxn id="7354" idx="3"/>
            <a:endCxn id="7282" idx="2"/>
          </p:cNvCxnSpPr>
          <p:nvPr/>
        </p:nvCxnSpPr>
        <p:spPr>
          <a:xfrm flipV="1">
            <a:off x="6253995" y="5518287"/>
            <a:ext cx="354307" cy="6016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62" name="Picture 6" descr="Hand, finger, gesture">
            <a:extLst>
              <a:ext uri="{FF2B5EF4-FFF2-40B4-BE49-F238E27FC236}">
                <a16:creationId xmlns:a16="http://schemas.microsoft.com/office/drawing/2014/main" id="{A3FF5112-3BA2-41BF-DBB3-840D0AFA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51868" y="591136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3" name="Picture 8">
            <a:extLst>
              <a:ext uri="{FF2B5EF4-FFF2-40B4-BE49-F238E27FC236}">
                <a16:creationId xmlns:a16="http://schemas.microsoft.com/office/drawing/2014/main" id="{BAD3BF62-5C33-4881-1A66-9C40BBE8F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084" y="3539866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64" name="CuadroTexto 7363">
            <a:extLst>
              <a:ext uri="{FF2B5EF4-FFF2-40B4-BE49-F238E27FC236}">
                <a16:creationId xmlns:a16="http://schemas.microsoft.com/office/drawing/2014/main" id="{3D5A94CE-9EFC-7FC4-4D7A-C4002B2F8D8E}"/>
              </a:ext>
            </a:extLst>
          </p:cNvPr>
          <p:cNvSpPr txBox="1"/>
          <p:nvPr/>
        </p:nvSpPr>
        <p:spPr>
          <a:xfrm>
            <a:off x="6263767" y="3879824"/>
            <a:ext cx="16401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Contratación.docx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cxnSp>
        <p:nvCxnSpPr>
          <p:cNvPr id="7367" name="Conector angular 7366">
            <a:extLst>
              <a:ext uri="{FF2B5EF4-FFF2-40B4-BE49-F238E27FC236}">
                <a16:creationId xmlns:a16="http://schemas.microsoft.com/office/drawing/2014/main" id="{7C9D6392-E6AC-75F0-6BA3-C93031C9BD32}"/>
              </a:ext>
            </a:extLst>
          </p:cNvPr>
          <p:cNvCxnSpPr>
            <a:stCxn id="7276" idx="2"/>
            <a:endCxn id="7354" idx="0"/>
          </p:cNvCxnSpPr>
          <p:nvPr/>
        </p:nvCxnSpPr>
        <p:spPr>
          <a:xfrm rot="5400000">
            <a:off x="4626278" y="4969442"/>
            <a:ext cx="181625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5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21" grpId="0"/>
      <p:bldP spid="25" grpId="0" animBg="1"/>
      <p:bldP spid="35" grpId="0" animBg="1"/>
      <p:bldP spid="40" grpId="0" animBg="1"/>
      <p:bldP spid="44" grpId="0" animBg="1"/>
      <p:bldP spid="7185" grpId="0" animBg="1"/>
      <p:bldP spid="7194" grpId="0" animBg="1"/>
      <p:bldP spid="7199" grpId="0" animBg="1"/>
      <p:bldP spid="7201" grpId="0" animBg="1"/>
      <p:bldP spid="7267" grpId="0"/>
      <p:bldP spid="7272" grpId="0" animBg="1"/>
      <p:bldP spid="7276" grpId="0" animBg="1"/>
      <p:bldP spid="7282" grpId="0" animBg="1"/>
      <p:bldP spid="7293" grpId="0" animBg="1"/>
      <p:bldP spid="7297" grpId="0" animBg="1"/>
      <p:bldP spid="7310" grpId="0" animBg="1"/>
      <p:bldP spid="7321" grpId="0"/>
      <p:bldP spid="7324" grpId="0"/>
      <p:bldP spid="7325" grpId="0"/>
      <p:bldP spid="7326" grpId="0"/>
      <p:bldP spid="7328" grpId="0"/>
      <p:bldP spid="7354" grpId="0" animBg="1"/>
      <p:bldP spid="73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741A713A-46CB-350A-E02C-EEBB317483C1}"/>
              </a:ext>
            </a:extLst>
          </p:cNvPr>
          <p:cNvSpPr txBox="1">
            <a:spLocks/>
          </p:cNvSpPr>
          <p:nvPr/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Reclutamiento y Selección</a:t>
            </a:r>
          </a:p>
          <a:p>
            <a:r>
              <a:rPr lang="es-ES_tradnl" sz="2400" b="1" dirty="0">
                <a:solidFill>
                  <a:schemeClr val="accent1"/>
                </a:solidFill>
              </a:rPr>
              <a:t>Análisis Estimado de Tiempos por Actividad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994918DA-FF73-1413-A335-88066C789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31" y="2686864"/>
            <a:ext cx="8733144" cy="314150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A970747-6591-C0A9-9440-A9C6AD3F431D}"/>
              </a:ext>
            </a:extLst>
          </p:cNvPr>
          <p:cNvSpPr txBox="1"/>
          <p:nvPr/>
        </p:nvSpPr>
        <p:spPr>
          <a:xfrm>
            <a:off x="645155" y="1562776"/>
            <a:ext cx="8937096" cy="915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Actualmente se cuenta con seis (6) colaboradores en el puesto de Analista de Desarrollo Organizacional, para atender una demanda mensual que podría requerir al doble del personal. Es posible que </a:t>
            </a:r>
            <a:r>
              <a:rPr lang="es-ES_tradnl" b="1" dirty="0">
                <a:solidFill>
                  <a:srgbClr val="FF0000"/>
                </a:solidFill>
              </a:rPr>
              <a:t>no se estén cumpliendo los plazos acordados</a:t>
            </a:r>
            <a:r>
              <a:rPr lang="es-ES_tradnl" dirty="0"/>
              <a:t>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BA847B5-5179-1FC6-2452-8839A5EE0D9D}"/>
              </a:ext>
            </a:extLst>
          </p:cNvPr>
          <p:cNvSpPr/>
          <p:nvPr/>
        </p:nvSpPr>
        <p:spPr>
          <a:xfrm>
            <a:off x="5165939" y="2686864"/>
            <a:ext cx="4314336" cy="3141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Cuantificación Estimada (*)</a:t>
            </a:r>
          </a:p>
          <a:p>
            <a:pPr algn="ctr"/>
            <a:r>
              <a:rPr lang="es-ES_tradnl" dirty="0"/>
              <a:t>de Horas por Actividad</a:t>
            </a:r>
          </a:p>
          <a:p>
            <a:pPr algn="ctr"/>
            <a:endParaRPr lang="es-ES_tradnl" dirty="0"/>
          </a:p>
          <a:p>
            <a:pPr algn="ctr"/>
            <a:r>
              <a:rPr lang="es-ES_tradnl" sz="1400" dirty="0"/>
              <a:t>(*) No es un Estudio de Tiempos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AE6FDFA-078C-C158-B2B7-95B5F8C62AC2}"/>
              </a:ext>
            </a:extLst>
          </p:cNvPr>
          <p:cNvSpPr/>
          <p:nvPr/>
        </p:nvSpPr>
        <p:spPr>
          <a:xfrm>
            <a:off x="4337331" y="5405480"/>
            <a:ext cx="599485" cy="439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91588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8" name="Rectángulo 7337">
            <a:extLst>
              <a:ext uri="{FF2B5EF4-FFF2-40B4-BE49-F238E27FC236}">
                <a16:creationId xmlns:a16="http://schemas.microsoft.com/office/drawing/2014/main" id="{20E7EB5A-5051-36B6-423A-BD37F66BB186}"/>
              </a:ext>
            </a:extLst>
          </p:cNvPr>
          <p:cNvSpPr/>
          <p:nvPr/>
        </p:nvSpPr>
        <p:spPr>
          <a:xfrm>
            <a:off x="-5832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1" name="Rectángulo 7330">
            <a:extLst>
              <a:ext uri="{FF2B5EF4-FFF2-40B4-BE49-F238E27FC236}">
                <a16:creationId xmlns:a16="http://schemas.microsoft.com/office/drawing/2014/main" id="{5FDA60CE-0F41-2286-BCD5-9FF3888A107B}"/>
              </a:ext>
            </a:extLst>
          </p:cNvPr>
          <p:cNvSpPr/>
          <p:nvPr/>
        </p:nvSpPr>
        <p:spPr>
          <a:xfrm>
            <a:off x="822437" y="4329950"/>
            <a:ext cx="8942715" cy="13835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0" name="Rectángulo 7329">
            <a:extLst>
              <a:ext uri="{FF2B5EF4-FFF2-40B4-BE49-F238E27FC236}">
                <a16:creationId xmlns:a16="http://schemas.microsoft.com/office/drawing/2014/main" id="{BFC97442-46C2-2A72-D98C-C1FA720F21FA}"/>
              </a:ext>
            </a:extLst>
          </p:cNvPr>
          <p:cNvSpPr/>
          <p:nvPr/>
        </p:nvSpPr>
        <p:spPr>
          <a:xfrm>
            <a:off x="828831" y="1598564"/>
            <a:ext cx="8942715" cy="2661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29" name="Rectángulo 7328">
            <a:extLst>
              <a:ext uri="{FF2B5EF4-FFF2-40B4-BE49-F238E27FC236}">
                <a16:creationId xmlns:a16="http://schemas.microsoft.com/office/drawing/2014/main" id="{E33CDE91-39BA-BBCD-53B7-B711A9F90E5A}"/>
              </a:ext>
            </a:extLst>
          </p:cNvPr>
          <p:cNvSpPr/>
          <p:nvPr/>
        </p:nvSpPr>
        <p:spPr>
          <a:xfrm>
            <a:off x="828832" y="372525"/>
            <a:ext cx="8942715" cy="117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041685-4211-71C2-9F3F-7D94EBE7BB44}"/>
              </a:ext>
            </a:extLst>
          </p:cNvPr>
          <p:cNvSpPr/>
          <p:nvPr/>
        </p:nvSpPr>
        <p:spPr>
          <a:xfrm rot="16200000">
            <a:off x="-144567" y="634872"/>
            <a:ext cx="117662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Área Usuaria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Solicitante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179691-48D1-C7D5-94AB-97E5933FE172}"/>
              </a:ext>
            </a:extLst>
          </p:cNvPr>
          <p:cNvSpPr/>
          <p:nvPr/>
        </p:nvSpPr>
        <p:spPr>
          <a:xfrm>
            <a:off x="900391" y="809129"/>
            <a:ext cx="313266" cy="2878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95854C-760C-B3CE-976B-44FDEE632C3F}"/>
              </a:ext>
            </a:extLst>
          </p:cNvPr>
          <p:cNvSpPr txBox="1"/>
          <p:nvPr/>
        </p:nvSpPr>
        <p:spPr>
          <a:xfrm>
            <a:off x="1557186" y="1756420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Requerimiento de Candidatos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32E2E-694C-43AF-F611-14BF9440B06E}"/>
              </a:ext>
            </a:extLst>
          </p:cNvPr>
          <p:cNvSpPr txBox="1"/>
          <p:nvPr/>
        </p:nvSpPr>
        <p:spPr>
          <a:xfrm>
            <a:off x="1557186" y="673624"/>
            <a:ext cx="1439187" cy="552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Solicitud de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Requerimiento de Candidatos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46CB5C-0563-CD3E-5E2E-50157CA43F77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 flipV="1">
            <a:off x="1213657" y="949979"/>
            <a:ext cx="343529" cy="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011220-994E-58D8-12B9-6683BF6A192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2276780" y="1226334"/>
            <a:ext cx="0" cy="530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E4CC33-75CF-0BD6-B3A7-B315E673A13B}"/>
              </a:ext>
            </a:extLst>
          </p:cNvPr>
          <p:cNvSpPr/>
          <p:nvPr/>
        </p:nvSpPr>
        <p:spPr>
          <a:xfrm rot="16200000">
            <a:off x="-884475" y="2603154"/>
            <a:ext cx="2661113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Desarrollo Organizacional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4EEBC56-DFCF-E1F8-0591-9B938B96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007" y="2306920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22245F2-838A-491E-00D5-CC91547E9642}"/>
              </a:ext>
            </a:extLst>
          </p:cNvPr>
          <p:cNvSpPr txBox="1"/>
          <p:nvPr/>
        </p:nvSpPr>
        <p:spPr>
          <a:xfrm>
            <a:off x="990260" y="2287567"/>
            <a:ext cx="1204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BD de RQ-2024.xlsx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27360A-E6D7-BFA7-E366-F582906D1D84}"/>
              </a:ext>
            </a:extLst>
          </p:cNvPr>
          <p:cNvSpPr txBox="1"/>
          <p:nvPr/>
        </p:nvSpPr>
        <p:spPr>
          <a:xfrm>
            <a:off x="3220071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Publicación de Vacante en Medios Digitales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CC4FD16-4D43-CB5C-829F-F3E179674225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 flipV="1">
            <a:off x="2996373" y="2002245"/>
            <a:ext cx="22369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F1E80D7-522D-C12B-7261-022308BCEC4A}"/>
              </a:ext>
            </a:extLst>
          </p:cNvPr>
          <p:cNvSpPr txBox="1"/>
          <p:nvPr/>
        </p:nvSpPr>
        <p:spPr>
          <a:xfrm>
            <a:off x="4931918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Recepción de Hojas de Vida y Filtro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B3BB4DE-724E-B00E-51C1-56F841AADB36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4659258" y="2002245"/>
            <a:ext cx="272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8130FA-2191-041C-D38A-7802115E83A3}"/>
              </a:ext>
            </a:extLst>
          </p:cNvPr>
          <p:cNvSpPr txBox="1"/>
          <p:nvPr/>
        </p:nvSpPr>
        <p:spPr>
          <a:xfrm>
            <a:off x="4931918" y="269093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Entrevistas y Llenado de Ficha de Candidato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0A727EA-CD2E-7F3D-5DD9-A923B0D79B83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5651512" y="2248072"/>
            <a:ext cx="0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C517EC-706D-AD1E-A15B-D623FDE96247}"/>
              </a:ext>
            </a:extLst>
          </p:cNvPr>
          <p:cNvSpPr txBox="1"/>
          <p:nvPr/>
        </p:nvSpPr>
        <p:spPr>
          <a:xfrm>
            <a:off x="6867466" y="2690930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Psicométricas (Presencial)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364C961-7DB4-D19A-CF8E-FD37AC3BB114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6371105" y="2933302"/>
            <a:ext cx="496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5" name="Rombo 7184">
            <a:extLst>
              <a:ext uri="{FF2B5EF4-FFF2-40B4-BE49-F238E27FC236}">
                <a16:creationId xmlns:a16="http://schemas.microsoft.com/office/drawing/2014/main" id="{0240C84E-ED78-25F2-E418-E79E7BDEB562}"/>
              </a:ext>
            </a:extLst>
          </p:cNvPr>
          <p:cNvSpPr/>
          <p:nvPr/>
        </p:nvSpPr>
        <p:spPr>
          <a:xfrm>
            <a:off x="7258868" y="1783103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187" name="Conector recto de flecha 7186">
            <a:extLst>
              <a:ext uri="{FF2B5EF4-FFF2-40B4-BE49-F238E27FC236}">
                <a16:creationId xmlns:a16="http://schemas.microsoft.com/office/drawing/2014/main" id="{DD994B2F-7E53-E5C0-315C-3F9FEB538246}"/>
              </a:ext>
            </a:extLst>
          </p:cNvPr>
          <p:cNvCxnSpPr>
            <a:cxnSpLocks/>
          </p:cNvCxnSpPr>
          <p:nvPr/>
        </p:nvCxnSpPr>
        <p:spPr>
          <a:xfrm flipH="1" flipV="1">
            <a:off x="7610911" y="2248072"/>
            <a:ext cx="6022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9" name="Conector recto de flecha 7188">
            <a:extLst>
              <a:ext uri="{FF2B5EF4-FFF2-40B4-BE49-F238E27FC236}">
                <a16:creationId xmlns:a16="http://schemas.microsoft.com/office/drawing/2014/main" id="{036C4CD7-B877-1EB6-5A94-F03CC1771E09}"/>
              </a:ext>
            </a:extLst>
          </p:cNvPr>
          <p:cNvCxnSpPr>
            <a:cxnSpLocks/>
            <a:stCxn id="7185" idx="1"/>
            <a:endCxn id="35" idx="3"/>
          </p:cNvCxnSpPr>
          <p:nvPr/>
        </p:nvCxnSpPr>
        <p:spPr>
          <a:xfrm flipH="1" flipV="1">
            <a:off x="6371105" y="2002245"/>
            <a:ext cx="887763" cy="1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4" name="CuadroTexto 7193">
            <a:extLst>
              <a:ext uri="{FF2B5EF4-FFF2-40B4-BE49-F238E27FC236}">
                <a16:creationId xmlns:a16="http://schemas.microsoft.com/office/drawing/2014/main" id="{A45069A6-9C5C-9499-A0D9-42387D5FFD3E}"/>
              </a:ext>
            </a:extLst>
          </p:cNvPr>
          <p:cNvSpPr txBox="1"/>
          <p:nvPr/>
        </p:nvSpPr>
        <p:spPr>
          <a:xfrm>
            <a:off x="6891317" y="647988"/>
            <a:ext cx="1439187" cy="5211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 con Solicitante</a:t>
            </a:r>
          </a:p>
        </p:txBody>
      </p:sp>
      <p:cxnSp>
        <p:nvCxnSpPr>
          <p:cNvPr id="7195" name="Conector recto de flecha 7194">
            <a:extLst>
              <a:ext uri="{FF2B5EF4-FFF2-40B4-BE49-F238E27FC236}">
                <a16:creationId xmlns:a16="http://schemas.microsoft.com/office/drawing/2014/main" id="{49F53781-5CAE-A516-28F2-DEE60E077BCF}"/>
              </a:ext>
            </a:extLst>
          </p:cNvPr>
          <p:cNvCxnSpPr>
            <a:cxnSpLocks/>
            <a:stCxn id="7185" idx="0"/>
          </p:cNvCxnSpPr>
          <p:nvPr/>
        </p:nvCxnSpPr>
        <p:spPr>
          <a:xfrm flipV="1">
            <a:off x="7610911" y="1169178"/>
            <a:ext cx="0" cy="61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9" name="CuadroTexto 7198">
            <a:extLst>
              <a:ext uri="{FF2B5EF4-FFF2-40B4-BE49-F238E27FC236}">
                <a16:creationId xmlns:a16="http://schemas.microsoft.com/office/drawing/2014/main" id="{3DA02FEB-1400-AE79-F4CA-AE05AFFE20F5}"/>
              </a:ext>
            </a:extLst>
          </p:cNvPr>
          <p:cNvSpPr txBox="1"/>
          <p:nvPr/>
        </p:nvSpPr>
        <p:spPr>
          <a:xfrm>
            <a:off x="1188562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Validación de Referencias Crediticias</a:t>
            </a:r>
          </a:p>
        </p:txBody>
      </p:sp>
      <p:sp>
        <p:nvSpPr>
          <p:cNvPr id="7201" name="Rombo 7200">
            <a:extLst>
              <a:ext uri="{FF2B5EF4-FFF2-40B4-BE49-F238E27FC236}">
                <a16:creationId xmlns:a16="http://schemas.microsoft.com/office/drawing/2014/main" id="{EF585719-B760-A389-A1A6-9A9B3A3CCC18}"/>
              </a:ext>
            </a:extLst>
          </p:cNvPr>
          <p:cNvSpPr/>
          <p:nvPr/>
        </p:nvSpPr>
        <p:spPr>
          <a:xfrm>
            <a:off x="8667576" y="673625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02" name="Conector recto de flecha 7201">
            <a:extLst>
              <a:ext uri="{FF2B5EF4-FFF2-40B4-BE49-F238E27FC236}">
                <a16:creationId xmlns:a16="http://schemas.microsoft.com/office/drawing/2014/main" id="{CE6FF1D8-F68E-7F48-762A-C2101C559E28}"/>
              </a:ext>
            </a:extLst>
          </p:cNvPr>
          <p:cNvCxnSpPr>
            <a:cxnSpLocks/>
            <a:stCxn id="7194" idx="3"/>
            <a:endCxn id="7201" idx="1"/>
          </p:cNvCxnSpPr>
          <p:nvPr/>
        </p:nvCxnSpPr>
        <p:spPr>
          <a:xfrm flipV="1">
            <a:off x="8330504" y="906110"/>
            <a:ext cx="337072" cy="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0" name="Conector angular 7219">
            <a:extLst>
              <a:ext uri="{FF2B5EF4-FFF2-40B4-BE49-F238E27FC236}">
                <a16:creationId xmlns:a16="http://schemas.microsoft.com/office/drawing/2014/main" id="{34E84BF1-E801-0064-B550-B25DB745D327}"/>
              </a:ext>
            </a:extLst>
          </p:cNvPr>
          <p:cNvCxnSpPr>
            <a:cxnSpLocks/>
            <a:stCxn id="7201" idx="0"/>
            <a:endCxn id="35" idx="0"/>
          </p:cNvCxnSpPr>
          <p:nvPr/>
        </p:nvCxnSpPr>
        <p:spPr>
          <a:xfrm rot="16200000" flipH="1" flipV="1">
            <a:off x="6794169" y="-469033"/>
            <a:ext cx="1082793" cy="3368107"/>
          </a:xfrm>
          <a:prstGeom prst="bentConnector3">
            <a:avLst>
              <a:gd name="adj1" fmla="val -21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3" name="Conector angular 7222">
            <a:extLst>
              <a:ext uri="{FF2B5EF4-FFF2-40B4-BE49-F238E27FC236}">
                <a16:creationId xmlns:a16="http://schemas.microsoft.com/office/drawing/2014/main" id="{590FB989-7AD0-9DC5-782E-0D518FB3185A}"/>
              </a:ext>
            </a:extLst>
          </p:cNvPr>
          <p:cNvCxnSpPr>
            <a:cxnSpLocks/>
            <a:stCxn id="7201" idx="2"/>
            <a:endCxn id="7199" idx="0"/>
          </p:cNvCxnSpPr>
          <p:nvPr/>
        </p:nvCxnSpPr>
        <p:spPr>
          <a:xfrm rot="5400000">
            <a:off x="4244899" y="-1198148"/>
            <a:ext cx="2437979" cy="7111463"/>
          </a:xfrm>
          <a:prstGeom prst="bentConnector3">
            <a:avLst>
              <a:gd name="adj1" fmla="val 910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66" name="Picture 2">
            <a:extLst>
              <a:ext uri="{FF2B5EF4-FFF2-40B4-BE49-F238E27FC236}">
                <a16:creationId xmlns:a16="http://schemas.microsoft.com/office/drawing/2014/main" id="{AD3C54F7-054D-91A0-699D-2E0F3CD9C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222" y="940292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67" name="CuadroTexto 7266">
            <a:extLst>
              <a:ext uri="{FF2B5EF4-FFF2-40B4-BE49-F238E27FC236}">
                <a16:creationId xmlns:a16="http://schemas.microsoft.com/office/drawing/2014/main" id="{31211F81-6FB3-655C-7A3B-734EEF1F1A27}"/>
              </a:ext>
            </a:extLst>
          </p:cNvPr>
          <p:cNvSpPr txBox="1"/>
          <p:nvPr/>
        </p:nvSpPr>
        <p:spPr>
          <a:xfrm>
            <a:off x="2499117" y="1268586"/>
            <a:ext cx="10903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Formato de Perfil</a:t>
            </a:r>
          </a:p>
        </p:txBody>
      </p:sp>
      <p:sp>
        <p:nvSpPr>
          <p:cNvPr id="7272" name="CuadroTexto 7271">
            <a:extLst>
              <a:ext uri="{FF2B5EF4-FFF2-40B4-BE49-F238E27FC236}">
                <a16:creationId xmlns:a16="http://schemas.microsoft.com/office/drawing/2014/main" id="{F4B1FECB-558F-50F5-60F7-43165D3CF091}"/>
              </a:ext>
            </a:extLst>
          </p:cNvPr>
          <p:cNvSpPr txBox="1"/>
          <p:nvPr/>
        </p:nvSpPr>
        <p:spPr>
          <a:xfrm>
            <a:off x="3024651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Elaboración de Contrato</a:t>
            </a:r>
          </a:p>
        </p:txBody>
      </p:sp>
      <p:cxnSp>
        <p:nvCxnSpPr>
          <p:cNvPr id="7273" name="Conector recto de flecha 7272">
            <a:extLst>
              <a:ext uri="{FF2B5EF4-FFF2-40B4-BE49-F238E27FC236}">
                <a16:creationId xmlns:a16="http://schemas.microsoft.com/office/drawing/2014/main" id="{342CF633-5649-8810-068C-8F823A83D58B}"/>
              </a:ext>
            </a:extLst>
          </p:cNvPr>
          <p:cNvCxnSpPr>
            <a:cxnSpLocks/>
            <a:stCxn id="7199" idx="3"/>
            <a:endCxn id="7272" idx="1"/>
          </p:cNvCxnSpPr>
          <p:nvPr/>
        </p:nvCxnSpPr>
        <p:spPr>
          <a:xfrm>
            <a:off x="2627749" y="3818945"/>
            <a:ext cx="396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6" name="CuadroTexto 7275">
            <a:extLst>
              <a:ext uri="{FF2B5EF4-FFF2-40B4-BE49-F238E27FC236}">
                <a16:creationId xmlns:a16="http://schemas.microsoft.com/office/drawing/2014/main" id="{3AC59DD0-E8BE-6DEB-8B80-0CA1A84CC144}"/>
              </a:ext>
            </a:extLst>
          </p:cNvPr>
          <p:cNvSpPr txBox="1"/>
          <p:nvPr/>
        </p:nvSpPr>
        <p:spPr>
          <a:xfrm>
            <a:off x="4814809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Preparación del Expediente para Inducción</a:t>
            </a:r>
          </a:p>
        </p:txBody>
      </p:sp>
      <p:cxnSp>
        <p:nvCxnSpPr>
          <p:cNvPr id="7277" name="Conector recto de flecha 7276">
            <a:extLst>
              <a:ext uri="{FF2B5EF4-FFF2-40B4-BE49-F238E27FC236}">
                <a16:creationId xmlns:a16="http://schemas.microsoft.com/office/drawing/2014/main" id="{D450196B-EEF9-EEB5-0B90-5289B40A8C85}"/>
              </a:ext>
            </a:extLst>
          </p:cNvPr>
          <p:cNvCxnSpPr>
            <a:cxnSpLocks/>
            <a:stCxn id="7272" idx="3"/>
            <a:endCxn id="7276" idx="1"/>
          </p:cNvCxnSpPr>
          <p:nvPr/>
        </p:nvCxnSpPr>
        <p:spPr>
          <a:xfrm>
            <a:off x="4463838" y="3818945"/>
            <a:ext cx="350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0" name="Rectángulo 7279">
            <a:extLst>
              <a:ext uri="{FF2B5EF4-FFF2-40B4-BE49-F238E27FC236}">
                <a16:creationId xmlns:a16="http://schemas.microsoft.com/office/drawing/2014/main" id="{32506046-B594-41E3-8D8B-CB46306F2DFA}"/>
              </a:ext>
            </a:extLst>
          </p:cNvPr>
          <p:cNvSpPr/>
          <p:nvPr/>
        </p:nvSpPr>
        <p:spPr>
          <a:xfrm rot="16200000">
            <a:off x="-248018" y="4705525"/>
            <a:ext cx="1383530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Nómina</a:t>
            </a:r>
          </a:p>
        </p:txBody>
      </p:sp>
      <p:sp>
        <p:nvSpPr>
          <p:cNvPr id="7282" name="CuadroTexto 7281">
            <a:extLst>
              <a:ext uri="{FF2B5EF4-FFF2-40B4-BE49-F238E27FC236}">
                <a16:creationId xmlns:a16="http://schemas.microsoft.com/office/drawing/2014/main" id="{5E9C4721-7BBA-C1F7-A67D-EF016F4045E3}"/>
              </a:ext>
            </a:extLst>
          </p:cNvPr>
          <p:cNvSpPr txBox="1"/>
          <p:nvPr/>
        </p:nvSpPr>
        <p:spPr>
          <a:xfrm>
            <a:off x="5888708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Inducción de Políticas Laborales</a:t>
            </a:r>
          </a:p>
        </p:txBody>
      </p:sp>
      <p:sp>
        <p:nvSpPr>
          <p:cNvPr id="7293" name="CuadroTexto 7292">
            <a:extLst>
              <a:ext uri="{FF2B5EF4-FFF2-40B4-BE49-F238E27FC236}">
                <a16:creationId xmlns:a16="http://schemas.microsoft.com/office/drawing/2014/main" id="{C509F8E0-B3FB-D3CE-08EF-A2EB36DEC240}"/>
              </a:ext>
            </a:extLst>
          </p:cNvPr>
          <p:cNvSpPr txBox="1"/>
          <p:nvPr/>
        </p:nvSpPr>
        <p:spPr>
          <a:xfrm>
            <a:off x="7573812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Datos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del Colaborador</a:t>
            </a:r>
          </a:p>
        </p:txBody>
      </p:sp>
      <p:cxnSp>
        <p:nvCxnSpPr>
          <p:cNvPr id="7294" name="Conector recto de flecha 7293">
            <a:extLst>
              <a:ext uri="{FF2B5EF4-FFF2-40B4-BE49-F238E27FC236}">
                <a16:creationId xmlns:a16="http://schemas.microsoft.com/office/drawing/2014/main" id="{789D129D-C3FB-9443-B329-B02D1563FD75}"/>
              </a:ext>
            </a:extLst>
          </p:cNvPr>
          <p:cNvCxnSpPr>
            <a:cxnSpLocks/>
            <a:stCxn id="7282" idx="3"/>
            <a:endCxn id="7293" idx="1"/>
          </p:cNvCxnSpPr>
          <p:nvPr/>
        </p:nvCxnSpPr>
        <p:spPr>
          <a:xfrm>
            <a:off x="7327895" y="5275915"/>
            <a:ext cx="245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7" name="Elipse 7296">
            <a:extLst>
              <a:ext uri="{FF2B5EF4-FFF2-40B4-BE49-F238E27FC236}">
                <a16:creationId xmlns:a16="http://schemas.microsoft.com/office/drawing/2014/main" id="{3F8736F1-5A8A-58D6-AF62-899609E565CF}"/>
              </a:ext>
            </a:extLst>
          </p:cNvPr>
          <p:cNvSpPr/>
          <p:nvPr/>
        </p:nvSpPr>
        <p:spPr>
          <a:xfrm>
            <a:off x="9247746" y="5131981"/>
            <a:ext cx="313266" cy="287867"/>
          </a:xfrm>
          <a:prstGeom prst="ellipse">
            <a:avLst/>
          </a:prstGeom>
          <a:solidFill>
            <a:srgbClr val="F7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298" name="Conector recto de flecha 7297">
            <a:extLst>
              <a:ext uri="{FF2B5EF4-FFF2-40B4-BE49-F238E27FC236}">
                <a16:creationId xmlns:a16="http://schemas.microsoft.com/office/drawing/2014/main" id="{233C4B83-066B-84AE-06CD-4ED56116F806}"/>
              </a:ext>
            </a:extLst>
          </p:cNvPr>
          <p:cNvCxnSpPr>
            <a:cxnSpLocks/>
            <a:stCxn id="7293" idx="3"/>
            <a:endCxn id="7297" idx="2"/>
          </p:cNvCxnSpPr>
          <p:nvPr/>
        </p:nvCxnSpPr>
        <p:spPr>
          <a:xfrm>
            <a:off x="9012999" y="5275915"/>
            <a:ext cx="234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02" name="Picture 4" descr="Account, profile, user, avatar, human, man, person">
            <a:extLst>
              <a:ext uri="{FF2B5EF4-FFF2-40B4-BE49-F238E27FC236}">
                <a16:creationId xmlns:a16="http://schemas.microsoft.com/office/drawing/2014/main" id="{C87D82B4-5CB3-AE34-5F46-6C9EBFE0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57" y="5059817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03" name="Picture 6" descr="Hand, finger, gesture">
            <a:extLst>
              <a:ext uri="{FF2B5EF4-FFF2-40B4-BE49-F238E27FC236}">
                <a16:creationId xmlns:a16="http://schemas.microsoft.com/office/drawing/2014/main" id="{87F782B9-E8ED-A3C0-3EDD-80252098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1794606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10" name="Cilindro 7309">
            <a:extLst>
              <a:ext uri="{FF2B5EF4-FFF2-40B4-BE49-F238E27FC236}">
                <a16:creationId xmlns:a16="http://schemas.microsoft.com/office/drawing/2014/main" id="{E3CDFFCF-4D0F-6C6F-58A9-0F997D3BFE04}"/>
              </a:ext>
            </a:extLst>
          </p:cNvPr>
          <p:cNvSpPr/>
          <p:nvPr/>
        </p:nvSpPr>
        <p:spPr>
          <a:xfrm>
            <a:off x="8719023" y="4549717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SAP</a:t>
            </a:r>
          </a:p>
        </p:txBody>
      </p:sp>
      <p:cxnSp>
        <p:nvCxnSpPr>
          <p:cNvPr id="7314" name="Conector angular 7313">
            <a:extLst>
              <a:ext uri="{FF2B5EF4-FFF2-40B4-BE49-F238E27FC236}">
                <a16:creationId xmlns:a16="http://schemas.microsoft.com/office/drawing/2014/main" id="{0CAEB9DB-F9E0-E4B4-C985-C3C1B845EC96}"/>
              </a:ext>
            </a:extLst>
          </p:cNvPr>
          <p:cNvCxnSpPr>
            <a:stCxn id="7293" idx="0"/>
            <a:endCxn id="7310" idx="2"/>
          </p:cNvCxnSpPr>
          <p:nvPr/>
        </p:nvCxnSpPr>
        <p:spPr>
          <a:xfrm rot="5400000" flipH="1" flipV="1">
            <a:off x="8351766" y="4666287"/>
            <a:ext cx="308897" cy="425617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15" name="Picture 6" descr="Hand, finger, gesture">
            <a:extLst>
              <a:ext uri="{FF2B5EF4-FFF2-40B4-BE49-F238E27FC236}">
                <a16:creationId xmlns:a16="http://schemas.microsoft.com/office/drawing/2014/main" id="{C5287B95-A1FF-F132-85BA-29C5ED10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693460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6" name="Picture 6" descr="Hand, finger, gesture">
            <a:extLst>
              <a:ext uri="{FF2B5EF4-FFF2-40B4-BE49-F238E27FC236}">
                <a16:creationId xmlns:a16="http://schemas.microsoft.com/office/drawing/2014/main" id="{927C3BC2-8FE5-1A25-563C-5C42E45A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57719" y="178014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7" name="Picture 6" descr="Hand, finger, gesture">
            <a:extLst>
              <a:ext uri="{FF2B5EF4-FFF2-40B4-BE49-F238E27FC236}">
                <a16:creationId xmlns:a16="http://schemas.microsoft.com/office/drawing/2014/main" id="{CC847320-E6C1-3743-8B21-D604845F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34738" y="272304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8" name="Picture 6" descr="Hand, finger, gesture">
            <a:extLst>
              <a:ext uri="{FF2B5EF4-FFF2-40B4-BE49-F238E27FC236}">
                <a16:creationId xmlns:a16="http://schemas.microsoft.com/office/drawing/2014/main" id="{34CB2F66-8A2B-E255-A5B9-E893463C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39868" y="364370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9" name="Picture 6" descr="Hand, finger, gesture">
            <a:extLst>
              <a:ext uri="{FF2B5EF4-FFF2-40B4-BE49-F238E27FC236}">
                <a16:creationId xmlns:a16="http://schemas.microsoft.com/office/drawing/2014/main" id="{6B05F70D-8B0D-6AFE-5BA2-A306A9524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87746" y="360973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20" name="Picture 8">
            <a:extLst>
              <a:ext uri="{FF2B5EF4-FFF2-40B4-BE49-F238E27FC236}">
                <a16:creationId xmlns:a16="http://schemas.microsoft.com/office/drawing/2014/main" id="{0577736A-742F-639E-FE40-2D4A20B1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03" y="2886178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21" name="CuadroTexto 7320">
            <a:extLst>
              <a:ext uri="{FF2B5EF4-FFF2-40B4-BE49-F238E27FC236}">
                <a16:creationId xmlns:a16="http://schemas.microsoft.com/office/drawing/2014/main" id="{224D39F9-FAEA-C94D-B5FA-4B1CD12ED6AE}"/>
              </a:ext>
            </a:extLst>
          </p:cNvPr>
          <p:cNvSpPr txBox="1"/>
          <p:nvPr/>
        </p:nvSpPr>
        <p:spPr>
          <a:xfrm>
            <a:off x="3079405" y="3016588"/>
            <a:ext cx="14927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Candidato.docx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sp>
        <p:nvSpPr>
          <p:cNvPr id="7324" name="CuadroTexto 7323">
            <a:extLst>
              <a:ext uri="{FF2B5EF4-FFF2-40B4-BE49-F238E27FC236}">
                <a16:creationId xmlns:a16="http://schemas.microsoft.com/office/drawing/2014/main" id="{0147E9D1-DC7C-15AB-ABC6-1711451054F4}"/>
              </a:ext>
            </a:extLst>
          </p:cNvPr>
          <p:cNvSpPr txBox="1"/>
          <p:nvPr/>
        </p:nvSpPr>
        <p:spPr>
          <a:xfrm>
            <a:off x="6771491" y="1761718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5" name="CuadroTexto 7324">
            <a:extLst>
              <a:ext uri="{FF2B5EF4-FFF2-40B4-BE49-F238E27FC236}">
                <a16:creationId xmlns:a16="http://schemas.microsoft.com/office/drawing/2014/main" id="{D026E0D4-F78D-5C66-2A3D-86F10B862C07}"/>
              </a:ext>
            </a:extLst>
          </p:cNvPr>
          <p:cNvSpPr txBox="1"/>
          <p:nvPr/>
        </p:nvSpPr>
        <p:spPr>
          <a:xfrm>
            <a:off x="8634201" y="47438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6" name="CuadroTexto 7325">
            <a:extLst>
              <a:ext uri="{FF2B5EF4-FFF2-40B4-BE49-F238E27FC236}">
                <a16:creationId xmlns:a16="http://schemas.microsoft.com/office/drawing/2014/main" id="{A0C3E2C9-FCC1-ED22-3CCE-9A5F3F0036A1}"/>
              </a:ext>
            </a:extLst>
          </p:cNvPr>
          <p:cNvSpPr txBox="1"/>
          <p:nvPr/>
        </p:nvSpPr>
        <p:spPr>
          <a:xfrm>
            <a:off x="9021689" y="109348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sp>
        <p:nvSpPr>
          <p:cNvPr id="7328" name="CuadroTexto 7327">
            <a:extLst>
              <a:ext uri="{FF2B5EF4-FFF2-40B4-BE49-F238E27FC236}">
                <a16:creationId xmlns:a16="http://schemas.microsoft.com/office/drawing/2014/main" id="{AFAC0600-A70D-A88A-E9CE-040D8040CBF8}"/>
              </a:ext>
            </a:extLst>
          </p:cNvPr>
          <p:cNvSpPr txBox="1"/>
          <p:nvPr/>
        </p:nvSpPr>
        <p:spPr>
          <a:xfrm>
            <a:off x="7616933" y="130029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cxnSp>
        <p:nvCxnSpPr>
          <p:cNvPr id="7342" name="Conector angular 7341">
            <a:extLst>
              <a:ext uri="{FF2B5EF4-FFF2-40B4-BE49-F238E27FC236}">
                <a16:creationId xmlns:a16="http://schemas.microsoft.com/office/drawing/2014/main" id="{3EB5C188-DAAA-4096-90DE-2D189CDCD0CC}"/>
              </a:ext>
            </a:extLst>
          </p:cNvPr>
          <p:cNvCxnSpPr>
            <a:endCxn id="7170" idx="3"/>
          </p:cNvCxnSpPr>
          <p:nvPr/>
        </p:nvCxnSpPr>
        <p:spPr>
          <a:xfrm rot="5400000">
            <a:off x="2598796" y="2266452"/>
            <a:ext cx="245785" cy="209024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3" name="Conector angular 7342">
            <a:extLst>
              <a:ext uri="{FF2B5EF4-FFF2-40B4-BE49-F238E27FC236}">
                <a16:creationId xmlns:a16="http://schemas.microsoft.com/office/drawing/2014/main" id="{7F568F78-AF72-2D66-8FAE-AE1F3EC7690F}"/>
              </a:ext>
            </a:extLst>
          </p:cNvPr>
          <p:cNvCxnSpPr>
            <a:cxnSpLocks/>
            <a:endCxn id="7266" idx="0"/>
          </p:cNvCxnSpPr>
          <p:nvPr/>
        </p:nvCxnSpPr>
        <p:spPr>
          <a:xfrm>
            <a:off x="2994538" y="805844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4" name="Conector angular 7343">
            <a:extLst>
              <a:ext uri="{FF2B5EF4-FFF2-40B4-BE49-F238E27FC236}">
                <a16:creationId xmlns:a16="http://schemas.microsoft.com/office/drawing/2014/main" id="{B9193EA8-ECB8-AC94-A0F7-564D4B912477}"/>
              </a:ext>
            </a:extLst>
          </p:cNvPr>
          <p:cNvCxnSpPr>
            <a:cxnSpLocks/>
            <a:stCxn id="7320" idx="0"/>
          </p:cNvCxnSpPr>
          <p:nvPr/>
        </p:nvCxnSpPr>
        <p:spPr>
          <a:xfrm rot="5400000" flipH="1" flipV="1">
            <a:off x="4771530" y="2727860"/>
            <a:ext cx="88083" cy="228555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49" name="Picture 6" descr="Hand, finger, gesture">
            <a:extLst>
              <a:ext uri="{FF2B5EF4-FFF2-40B4-BE49-F238E27FC236}">
                <a16:creationId xmlns:a16="http://schemas.microsoft.com/office/drawing/2014/main" id="{429A1DCF-D11A-8F54-6EC8-C3DD26AC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49313" y="177652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0" name="Picture 6" descr="Hand, finger, gesture">
            <a:extLst>
              <a:ext uri="{FF2B5EF4-FFF2-40B4-BE49-F238E27FC236}">
                <a16:creationId xmlns:a16="http://schemas.microsoft.com/office/drawing/2014/main" id="{0D261F7F-B551-248D-9521-E4645D0A9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60740" y="3604048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51" name="CuadroTexto 7350">
            <a:extLst>
              <a:ext uri="{FF2B5EF4-FFF2-40B4-BE49-F238E27FC236}">
                <a16:creationId xmlns:a16="http://schemas.microsoft.com/office/drawing/2014/main" id="{EFC11607-3AFA-1339-ED50-D5430813B271}"/>
              </a:ext>
            </a:extLst>
          </p:cNvPr>
          <p:cNvSpPr txBox="1"/>
          <p:nvPr/>
        </p:nvSpPr>
        <p:spPr>
          <a:xfrm>
            <a:off x="107978" y="35073"/>
            <a:ext cx="966356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</a:rPr>
              <a:t>HR12.Proceso </a:t>
            </a:r>
            <a:r>
              <a:rPr lang="es-ES_tradnl" sz="1400" b="1" dirty="0" err="1">
                <a:solidFill>
                  <a:schemeClr val="bg1"/>
                </a:solidFill>
              </a:rPr>
              <a:t>Hire</a:t>
            </a:r>
            <a:r>
              <a:rPr lang="es-ES_tradnl" sz="1400" b="1" dirty="0">
                <a:solidFill>
                  <a:schemeClr val="bg1"/>
                </a:solidFill>
              </a:rPr>
              <a:t> </a:t>
            </a:r>
            <a:r>
              <a:rPr lang="es-ES_tradnl" sz="1400" b="1" dirty="0" err="1">
                <a:solidFill>
                  <a:schemeClr val="bg1"/>
                </a:solidFill>
              </a:rPr>
              <a:t>to</a:t>
            </a:r>
            <a:r>
              <a:rPr lang="es-ES_tradnl" sz="1400" b="1" dirty="0">
                <a:solidFill>
                  <a:schemeClr val="bg1"/>
                </a:solidFill>
              </a:rPr>
              <a:t> Retire </a:t>
            </a:r>
            <a:r>
              <a:rPr lang="es-ES_tradnl" sz="1400" b="1" dirty="0">
                <a:solidFill>
                  <a:schemeClr val="bg1"/>
                </a:solidFill>
                <a:sym typeface="Wingdings" pitchFamily="2" charset="2"/>
              </a:rPr>
              <a:t> HR1201- </a:t>
            </a:r>
            <a:r>
              <a:rPr lang="es-ES_tradnl" sz="1400" b="1" dirty="0">
                <a:solidFill>
                  <a:schemeClr val="bg1"/>
                </a:solidFill>
              </a:rPr>
              <a:t>Selección y Reclutamiento</a:t>
            </a:r>
            <a:endParaRPr lang="es-ES_tradnl" sz="1050" dirty="0">
              <a:solidFill>
                <a:schemeClr val="bg1"/>
              </a:solidFill>
            </a:endParaRPr>
          </a:p>
        </p:txBody>
      </p:sp>
      <p:sp>
        <p:nvSpPr>
          <p:cNvPr id="7352" name="Rectángulo 7351">
            <a:extLst>
              <a:ext uri="{FF2B5EF4-FFF2-40B4-BE49-F238E27FC236}">
                <a16:creationId xmlns:a16="http://schemas.microsoft.com/office/drawing/2014/main" id="{DB334EF8-6484-4AE1-BAFE-C2482534F7A8}"/>
              </a:ext>
            </a:extLst>
          </p:cNvPr>
          <p:cNvSpPr/>
          <p:nvPr/>
        </p:nvSpPr>
        <p:spPr>
          <a:xfrm>
            <a:off x="828831" y="5774020"/>
            <a:ext cx="8942715" cy="999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53" name="Rectángulo 7352">
            <a:extLst>
              <a:ext uri="{FF2B5EF4-FFF2-40B4-BE49-F238E27FC236}">
                <a16:creationId xmlns:a16="http://schemas.microsoft.com/office/drawing/2014/main" id="{EB482C54-E8F3-BA04-E334-D4A8544E7802}"/>
              </a:ext>
            </a:extLst>
          </p:cNvPr>
          <p:cNvSpPr/>
          <p:nvPr/>
        </p:nvSpPr>
        <p:spPr>
          <a:xfrm rot="16200000">
            <a:off x="-49363" y="5947558"/>
            <a:ext cx="99900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Director RRHH</a:t>
            </a:r>
          </a:p>
        </p:txBody>
      </p:sp>
      <p:sp>
        <p:nvSpPr>
          <p:cNvPr id="7354" name="CuadroTexto 7353">
            <a:extLst>
              <a:ext uri="{FF2B5EF4-FFF2-40B4-BE49-F238E27FC236}">
                <a16:creationId xmlns:a16="http://schemas.microsoft.com/office/drawing/2014/main" id="{6438D7A5-FE45-DF56-C484-F31F5AED91A3}"/>
              </a:ext>
            </a:extLst>
          </p:cNvPr>
          <p:cNvSpPr txBox="1"/>
          <p:nvPr/>
        </p:nvSpPr>
        <p:spPr>
          <a:xfrm>
            <a:off x="4814808" y="5877568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Firma de Contrato</a:t>
            </a:r>
          </a:p>
        </p:txBody>
      </p:sp>
      <p:cxnSp>
        <p:nvCxnSpPr>
          <p:cNvPr id="7361" name="Conector angular 7360">
            <a:extLst>
              <a:ext uri="{FF2B5EF4-FFF2-40B4-BE49-F238E27FC236}">
                <a16:creationId xmlns:a16="http://schemas.microsoft.com/office/drawing/2014/main" id="{C1E8C0A7-7D8B-07A2-3A60-A5A3E6494E6E}"/>
              </a:ext>
            </a:extLst>
          </p:cNvPr>
          <p:cNvCxnSpPr>
            <a:stCxn id="7354" idx="3"/>
            <a:endCxn id="7282" idx="2"/>
          </p:cNvCxnSpPr>
          <p:nvPr/>
        </p:nvCxnSpPr>
        <p:spPr>
          <a:xfrm flipV="1">
            <a:off x="6253995" y="5518287"/>
            <a:ext cx="354307" cy="6016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62" name="Picture 6" descr="Hand, finger, gesture">
            <a:extLst>
              <a:ext uri="{FF2B5EF4-FFF2-40B4-BE49-F238E27FC236}">
                <a16:creationId xmlns:a16="http://schemas.microsoft.com/office/drawing/2014/main" id="{A3FF5112-3BA2-41BF-DBB3-840D0AFA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51868" y="591136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3" name="Picture 8">
            <a:extLst>
              <a:ext uri="{FF2B5EF4-FFF2-40B4-BE49-F238E27FC236}">
                <a16:creationId xmlns:a16="http://schemas.microsoft.com/office/drawing/2014/main" id="{BAD3BF62-5C33-4881-1A66-9C40BBE8F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084" y="3539866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64" name="CuadroTexto 7363">
            <a:extLst>
              <a:ext uri="{FF2B5EF4-FFF2-40B4-BE49-F238E27FC236}">
                <a16:creationId xmlns:a16="http://schemas.microsoft.com/office/drawing/2014/main" id="{3D5A94CE-9EFC-7FC4-4D7A-C4002B2F8D8E}"/>
              </a:ext>
            </a:extLst>
          </p:cNvPr>
          <p:cNvSpPr txBox="1"/>
          <p:nvPr/>
        </p:nvSpPr>
        <p:spPr>
          <a:xfrm>
            <a:off x="6263767" y="3879824"/>
            <a:ext cx="16401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Contratación.docx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cxnSp>
        <p:nvCxnSpPr>
          <p:cNvPr id="7367" name="Conector angular 7366">
            <a:extLst>
              <a:ext uri="{FF2B5EF4-FFF2-40B4-BE49-F238E27FC236}">
                <a16:creationId xmlns:a16="http://schemas.microsoft.com/office/drawing/2014/main" id="{7C9D6392-E6AC-75F0-6BA3-C93031C9BD32}"/>
              </a:ext>
            </a:extLst>
          </p:cNvPr>
          <p:cNvCxnSpPr>
            <a:stCxn id="7276" idx="2"/>
            <a:endCxn id="7354" idx="0"/>
          </p:cNvCxnSpPr>
          <p:nvPr/>
        </p:nvCxnSpPr>
        <p:spPr>
          <a:xfrm rot="5400000">
            <a:off x="4626278" y="4969442"/>
            <a:ext cx="181625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65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8" name="Rectángulo 7337">
            <a:extLst>
              <a:ext uri="{FF2B5EF4-FFF2-40B4-BE49-F238E27FC236}">
                <a16:creationId xmlns:a16="http://schemas.microsoft.com/office/drawing/2014/main" id="{20E7EB5A-5051-36B6-423A-BD37F66BB186}"/>
              </a:ext>
            </a:extLst>
          </p:cNvPr>
          <p:cNvSpPr/>
          <p:nvPr/>
        </p:nvSpPr>
        <p:spPr>
          <a:xfrm>
            <a:off x="-5832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1" name="Rectángulo 7330">
            <a:extLst>
              <a:ext uri="{FF2B5EF4-FFF2-40B4-BE49-F238E27FC236}">
                <a16:creationId xmlns:a16="http://schemas.microsoft.com/office/drawing/2014/main" id="{5FDA60CE-0F41-2286-BCD5-9FF3888A107B}"/>
              </a:ext>
            </a:extLst>
          </p:cNvPr>
          <p:cNvSpPr/>
          <p:nvPr/>
        </p:nvSpPr>
        <p:spPr>
          <a:xfrm>
            <a:off x="822437" y="4329950"/>
            <a:ext cx="8942715" cy="13835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0" name="Rectángulo 7329">
            <a:extLst>
              <a:ext uri="{FF2B5EF4-FFF2-40B4-BE49-F238E27FC236}">
                <a16:creationId xmlns:a16="http://schemas.microsoft.com/office/drawing/2014/main" id="{BFC97442-46C2-2A72-D98C-C1FA720F21FA}"/>
              </a:ext>
            </a:extLst>
          </p:cNvPr>
          <p:cNvSpPr/>
          <p:nvPr/>
        </p:nvSpPr>
        <p:spPr>
          <a:xfrm>
            <a:off x="828831" y="1598564"/>
            <a:ext cx="8942715" cy="2661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29" name="Rectángulo 7328">
            <a:extLst>
              <a:ext uri="{FF2B5EF4-FFF2-40B4-BE49-F238E27FC236}">
                <a16:creationId xmlns:a16="http://schemas.microsoft.com/office/drawing/2014/main" id="{E33CDE91-39BA-BBCD-53B7-B711A9F90E5A}"/>
              </a:ext>
            </a:extLst>
          </p:cNvPr>
          <p:cNvSpPr/>
          <p:nvPr/>
        </p:nvSpPr>
        <p:spPr>
          <a:xfrm>
            <a:off x="828832" y="372525"/>
            <a:ext cx="8942715" cy="117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041685-4211-71C2-9F3F-7D94EBE7BB44}"/>
              </a:ext>
            </a:extLst>
          </p:cNvPr>
          <p:cNvSpPr/>
          <p:nvPr/>
        </p:nvSpPr>
        <p:spPr>
          <a:xfrm rot="16200000">
            <a:off x="-144567" y="634872"/>
            <a:ext cx="117662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Área Usuaria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Solicitante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179691-48D1-C7D5-94AB-97E5933FE172}"/>
              </a:ext>
            </a:extLst>
          </p:cNvPr>
          <p:cNvSpPr/>
          <p:nvPr/>
        </p:nvSpPr>
        <p:spPr>
          <a:xfrm>
            <a:off x="900391" y="809129"/>
            <a:ext cx="313266" cy="2878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95854C-760C-B3CE-976B-44FDEE632C3F}"/>
              </a:ext>
            </a:extLst>
          </p:cNvPr>
          <p:cNvSpPr txBox="1"/>
          <p:nvPr/>
        </p:nvSpPr>
        <p:spPr>
          <a:xfrm>
            <a:off x="1557186" y="1756420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Requerimiento de Candidatos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32E2E-694C-43AF-F611-14BF9440B06E}"/>
              </a:ext>
            </a:extLst>
          </p:cNvPr>
          <p:cNvSpPr txBox="1"/>
          <p:nvPr/>
        </p:nvSpPr>
        <p:spPr>
          <a:xfrm>
            <a:off x="1557186" y="673624"/>
            <a:ext cx="1439187" cy="552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Solicitud de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Requerimiento de Candidatos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46CB5C-0563-CD3E-5E2E-50157CA43F77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 flipV="1">
            <a:off x="1213657" y="949979"/>
            <a:ext cx="343529" cy="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011220-994E-58D8-12B9-6683BF6A192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2276780" y="1226334"/>
            <a:ext cx="0" cy="530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E4CC33-75CF-0BD6-B3A7-B315E673A13B}"/>
              </a:ext>
            </a:extLst>
          </p:cNvPr>
          <p:cNvSpPr/>
          <p:nvPr/>
        </p:nvSpPr>
        <p:spPr>
          <a:xfrm rot="16200000">
            <a:off x="-884475" y="2603154"/>
            <a:ext cx="2661113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Desarrollo Organizacional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4EEBC56-DFCF-E1F8-0591-9B938B96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007" y="2306920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22245F2-838A-491E-00D5-CC91547E9642}"/>
              </a:ext>
            </a:extLst>
          </p:cNvPr>
          <p:cNvSpPr txBox="1"/>
          <p:nvPr/>
        </p:nvSpPr>
        <p:spPr>
          <a:xfrm>
            <a:off x="990260" y="2287567"/>
            <a:ext cx="1204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BD de RQ-2024.xlsx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27360A-E6D7-BFA7-E366-F582906D1D84}"/>
              </a:ext>
            </a:extLst>
          </p:cNvPr>
          <p:cNvSpPr txBox="1"/>
          <p:nvPr/>
        </p:nvSpPr>
        <p:spPr>
          <a:xfrm>
            <a:off x="3220071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Publicación de Vacante en Medios Digitales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CC4FD16-4D43-CB5C-829F-F3E179674225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 flipV="1">
            <a:off x="2996373" y="2002245"/>
            <a:ext cx="22369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F1E80D7-522D-C12B-7261-022308BCEC4A}"/>
              </a:ext>
            </a:extLst>
          </p:cNvPr>
          <p:cNvSpPr txBox="1"/>
          <p:nvPr/>
        </p:nvSpPr>
        <p:spPr>
          <a:xfrm>
            <a:off x="4931918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Recepción de Hojas de Vida y Filtro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B3BB4DE-724E-B00E-51C1-56F841AADB36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4659258" y="2002245"/>
            <a:ext cx="272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8130FA-2191-041C-D38A-7802115E83A3}"/>
              </a:ext>
            </a:extLst>
          </p:cNvPr>
          <p:cNvSpPr txBox="1"/>
          <p:nvPr/>
        </p:nvSpPr>
        <p:spPr>
          <a:xfrm>
            <a:off x="4931918" y="269093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Entrevistas y Llenado de Ficha de Candidato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0A727EA-CD2E-7F3D-5DD9-A923B0D79B83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5651512" y="2248072"/>
            <a:ext cx="0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C517EC-706D-AD1E-A15B-D623FDE96247}"/>
              </a:ext>
            </a:extLst>
          </p:cNvPr>
          <p:cNvSpPr txBox="1"/>
          <p:nvPr/>
        </p:nvSpPr>
        <p:spPr>
          <a:xfrm>
            <a:off x="6867466" y="2690930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Psicométricas (Presencial)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364C961-7DB4-D19A-CF8E-FD37AC3BB114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6371105" y="2933302"/>
            <a:ext cx="496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5" name="Rombo 7184">
            <a:extLst>
              <a:ext uri="{FF2B5EF4-FFF2-40B4-BE49-F238E27FC236}">
                <a16:creationId xmlns:a16="http://schemas.microsoft.com/office/drawing/2014/main" id="{0240C84E-ED78-25F2-E418-E79E7BDEB562}"/>
              </a:ext>
            </a:extLst>
          </p:cNvPr>
          <p:cNvSpPr/>
          <p:nvPr/>
        </p:nvSpPr>
        <p:spPr>
          <a:xfrm>
            <a:off x="7258868" y="1783103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187" name="Conector recto de flecha 7186">
            <a:extLst>
              <a:ext uri="{FF2B5EF4-FFF2-40B4-BE49-F238E27FC236}">
                <a16:creationId xmlns:a16="http://schemas.microsoft.com/office/drawing/2014/main" id="{DD994B2F-7E53-E5C0-315C-3F9FEB538246}"/>
              </a:ext>
            </a:extLst>
          </p:cNvPr>
          <p:cNvCxnSpPr>
            <a:cxnSpLocks/>
          </p:cNvCxnSpPr>
          <p:nvPr/>
        </p:nvCxnSpPr>
        <p:spPr>
          <a:xfrm flipH="1" flipV="1">
            <a:off x="7610911" y="2248072"/>
            <a:ext cx="6022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9" name="Conector recto de flecha 7188">
            <a:extLst>
              <a:ext uri="{FF2B5EF4-FFF2-40B4-BE49-F238E27FC236}">
                <a16:creationId xmlns:a16="http://schemas.microsoft.com/office/drawing/2014/main" id="{036C4CD7-B877-1EB6-5A94-F03CC1771E09}"/>
              </a:ext>
            </a:extLst>
          </p:cNvPr>
          <p:cNvCxnSpPr>
            <a:cxnSpLocks/>
            <a:stCxn id="7185" idx="1"/>
            <a:endCxn id="35" idx="3"/>
          </p:cNvCxnSpPr>
          <p:nvPr/>
        </p:nvCxnSpPr>
        <p:spPr>
          <a:xfrm flipH="1" flipV="1">
            <a:off x="6371105" y="2002245"/>
            <a:ext cx="887763" cy="1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4" name="CuadroTexto 7193">
            <a:extLst>
              <a:ext uri="{FF2B5EF4-FFF2-40B4-BE49-F238E27FC236}">
                <a16:creationId xmlns:a16="http://schemas.microsoft.com/office/drawing/2014/main" id="{A45069A6-9C5C-9499-A0D9-42387D5FFD3E}"/>
              </a:ext>
            </a:extLst>
          </p:cNvPr>
          <p:cNvSpPr txBox="1"/>
          <p:nvPr/>
        </p:nvSpPr>
        <p:spPr>
          <a:xfrm>
            <a:off x="6891317" y="647988"/>
            <a:ext cx="1439187" cy="5211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 con Solicitante</a:t>
            </a:r>
          </a:p>
        </p:txBody>
      </p:sp>
      <p:cxnSp>
        <p:nvCxnSpPr>
          <p:cNvPr id="7195" name="Conector recto de flecha 7194">
            <a:extLst>
              <a:ext uri="{FF2B5EF4-FFF2-40B4-BE49-F238E27FC236}">
                <a16:creationId xmlns:a16="http://schemas.microsoft.com/office/drawing/2014/main" id="{49F53781-5CAE-A516-28F2-DEE60E077BCF}"/>
              </a:ext>
            </a:extLst>
          </p:cNvPr>
          <p:cNvCxnSpPr>
            <a:cxnSpLocks/>
            <a:stCxn id="7185" idx="0"/>
          </p:cNvCxnSpPr>
          <p:nvPr/>
        </p:nvCxnSpPr>
        <p:spPr>
          <a:xfrm flipV="1">
            <a:off x="7610911" y="1169178"/>
            <a:ext cx="0" cy="61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9" name="CuadroTexto 7198">
            <a:extLst>
              <a:ext uri="{FF2B5EF4-FFF2-40B4-BE49-F238E27FC236}">
                <a16:creationId xmlns:a16="http://schemas.microsoft.com/office/drawing/2014/main" id="{3DA02FEB-1400-AE79-F4CA-AE05AFFE20F5}"/>
              </a:ext>
            </a:extLst>
          </p:cNvPr>
          <p:cNvSpPr txBox="1"/>
          <p:nvPr/>
        </p:nvSpPr>
        <p:spPr>
          <a:xfrm>
            <a:off x="1188562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Validación de Referencias Crediticias</a:t>
            </a:r>
          </a:p>
        </p:txBody>
      </p:sp>
      <p:sp>
        <p:nvSpPr>
          <p:cNvPr id="7201" name="Rombo 7200">
            <a:extLst>
              <a:ext uri="{FF2B5EF4-FFF2-40B4-BE49-F238E27FC236}">
                <a16:creationId xmlns:a16="http://schemas.microsoft.com/office/drawing/2014/main" id="{EF585719-B760-A389-A1A6-9A9B3A3CCC18}"/>
              </a:ext>
            </a:extLst>
          </p:cNvPr>
          <p:cNvSpPr/>
          <p:nvPr/>
        </p:nvSpPr>
        <p:spPr>
          <a:xfrm>
            <a:off x="8667576" y="673625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02" name="Conector recto de flecha 7201">
            <a:extLst>
              <a:ext uri="{FF2B5EF4-FFF2-40B4-BE49-F238E27FC236}">
                <a16:creationId xmlns:a16="http://schemas.microsoft.com/office/drawing/2014/main" id="{CE6FF1D8-F68E-7F48-762A-C2101C559E28}"/>
              </a:ext>
            </a:extLst>
          </p:cNvPr>
          <p:cNvCxnSpPr>
            <a:cxnSpLocks/>
            <a:stCxn id="7194" idx="3"/>
            <a:endCxn id="7201" idx="1"/>
          </p:cNvCxnSpPr>
          <p:nvPr/>
        </p:nvCxnSpPr>
        <p:spPr>
          <a:xfrm flipV="1">
            <a:off x="8330504" y="906110"/>
            <a:ext cx="337072" cy="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0" name="Conector angular 7219">
            <a:extLst>
              <a:ext uri="{FF2B5EF4-FFF2-40B4-BE49-F238E27FC236}">
                <a16:creationId xmlns:a16="http://schemas.microsoft.com/office/drawing/2014/main" id="{34E84BF1-E801-0064-B550-B25DB745D327}"/>
              </a:ext>
            </a:extLst>
          </p:cNvPr>
          <p:cNvCxnSpPr>
            <a:cxnSpLocks/>
            <a:stCxn id="7201" idx="0"/>
            <a:endCxn id="35" idx="0"/>
          </p:cNvCxnSpPr>
          <p:nvPr/>
        </p:nvCxnSpPr>
        <p:spPr>
          <a:xfrm rot="16200000" flipH="1" flipV="1">
            <a:off x="6794169" y="-469033"/>
            <a:ext cx="1082793" cy="3368107"/>
          </a:xfrm>
          <a:prstGeom prst="bentConnector3">
            <a:avLst>
              <a:gd name="adj1" fmla="val -21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3" name="Conector angular 7222">
            <a:extLst>
              <a:ext uri="{FF2B5EF4-FFF2-40B4-BE49-F238E27FC236}">
                <a16:creationId xmlns:a16="http://schemas.microsoft.com/office/drawing/2014/main" id="{590FB989-7AD0-9DC5-782E-0D518FB3185A}"/>
              </a:ext>
            </a:extLst>
          </p:cNvPr>
          <p:cNvCxnSpPr>
            <a:cxnSpLocks/>
            <a:stCxn id="7201" idx="2"/>
            <a:endCxn id="7199" idx="0"/>
          </p:cNvCxnSpPr>
          <p:nvPr/>
        </p:nvCxnSpPr>
        <p:spPr>
          <a:xfrm rot="5400000">
            <a:off x="4244899" y="-1198148"/>
            <a:ext cx="2437979" cy="7111463"/>
          </a:xfrm>
          <a:prstGeom prst="bentConnector3">
            <a:avLst>
              <a:gd name="adj1" fmla="val 910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66" name="Picture 2">
            <a:extLst>
              <a:ext uri="{FF2B5EF4-FFF2-40B4-BE49-F238E27FC236}">
                <a16:creationId xmlns:a16="http://schemas.microsoft.com/office/drawing/2014/main" id="{AD3C54F7-054D-91A0-699D-2E0F3CD9C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222" y="940292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67" name="CuadroTexto 7266">
            <a:extLst>
              <a:ext uri="{FF2B5EF4-FFF2-40B4-BE49-F238E27FC236}">
                <a16:creationId xmlns:a16="http://schemas.microsoft.com/office/drawing/2014/main" id="{31211F81-6FB3-655C-7A3B-734EEF1F1A27}"/>
              </a:ext>
            </a:extLst>
          </p:cNvPr>
          <p:cNvSpPr txBox="1"/>
          <p:nvPr/>
        </p:nvSpPr>
        <p:spPr>
          <a:xfrm>
            <a:off x="2499117" y="1268586"/>
            <a:ext cx="10903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Formato de Perfil</a:t>
            </a:r>
          </a:p>
        </p:txBody>
      </p:sp>
      <p:sp>
        <p:nvSpPr>
          <p:cNvPr id="7272" name="CuadroTexto 7271">
            <a:extLst>
              <a:ext uri="{FF2B5EF4-FFF2-40B4-BE49-F238E27FC236}">
                <a16:creationId xmlns:a16="http://schemas.microsoft.com/office/drawing/2014/main" id="{F4B1FECB-558F-50F5-60F7-43165D3CF091}"/>
              </a:ext>
            </a:extLst>
          </p:cNvPr>
          <p:cNvSpPr txBox="1"/>
          <p:nvPr/>
        </p:nvSpPr>
        <p:spPr>
          <a:xfrm>
            <a:off x="3024651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Elaboración de Contrato</a:t>
            </a:r>
          </a:p>
        </p:txBody>
      </p:sp>
      <p:cxnSp>
        <p:nvCxnSpPr>
          <p:cNvPr id="7273" name="Conector recto de flecha 7272">
            <a:extLst>
              <a:ext uri="{FF2B5EF4-FFF2-40B4-BE49-F238E27FC236}">
                <a16:creationId xmlns:a16="http://schemas.microsoft.com/office/drawing/2014/main" id="{342CF633-5649-8810-068C-8F823A83D58B}"/>
              </a:ext>
            </a:extLst>
          </p:cNvPr>
          <p:cNvCxnSpPr>
            <a:cxnSpLocks/>
            <a:stCxn id="7199" idx="3"/>
            <a:endCxn id="7272" idx="1"/>
          </p:cNvCxnSpPr>
          <p:nvPr/>
        </p:nvCxnSpPr>
        <p:spPr>
          <a:xfrm>
            <a:off x="2627749" y="3818945"/>
            <a:ext cx="396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6" name="CuadroTexto 7275">
            <a:extLst>
              <a:ext uri="{FF2B5EF4-FFF2-40B4-BE49-F238E27FC236}">
                <a16:creationId xmlns:a16="http://schemas.microsoft.com/office/drawing/2014/main" id="{3AC59DD0-E8BE-6DEB-8B80-0CA1A84CC144}"/>
              </a:ext>
            </a:extLst>
          </p:cNvPr>
          <p:cNvSpPr txBox="1"/>
          <p:nvPr/>
        </p:nvSpPr>
        <p:spPr>
          <a:xfrm>
            <a:off x="4814809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Preparación del Expediente para Inducción</a:t>
            </a:r>
          </a:p>
        </p:txBody>
      </p:sp>
      <p:cxnSp>
        <p:nvCxnSpPr>
          <p:cNvPr id="7277" name="Conector recto de flecha 7276">
            <a:extLst>
              <a:ext uri="{FF2B5EF4-FFF2-40B4-BE49-F238E27FC236}">
                <a16:creationId xmlns:a16="http://schemas.microsoft.com/office/drawing/2014/main" id="{D450196B-EEF9-EEB5-0B90-5289B40A8C85}"/>
              </a:ext>
            </a:extLst>
          </p:cNvPr>
          <p:cNvCxnSpPr>
            <a:cxnSpLocks/>
            <a:stCxn id="7272" idx="3"/>
            <a:endCxn id="7276" idx="1"/>
          </p:cNvCxnSpPr>
          <p:nvPr/>
        </p:nvCxnSpPr>
        <p:spPr>
          <a:xfrm>
            <a:off x="4463838" y="3818945"/>
            <a:ext cx="350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0" name="Rectángulo 7279">
            <a:extLst>
              <a:ext uri="{FF2B5EF4-FFF2-40B4-BE49-F238E27FC236}">
                <a16:creationId xmlns:a16="http://schemas.microsoft.com/office/drawing/2014/main" id="{32506046-B594-41E3-8D8B-CB46306F2DFA}"/>
              </a:ext>
            </a:extLst>
          </p:cNvPr>
          <p:cNvSpPr/>
          <p:nvPr/>
        </p:nvSpPr>
        <p:spPr>
          <a:xfrm rot="16200000">
            <a:off x="-248018" y="4705525"/>
            <a:ext cx="1383530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Nómina</a:t>
            </a:r>
          </a:p>
        </p:txBody>
      </p:sp>
      <p:sp>
        <p:nvSpPr>
          <p:cNvPr id="7282" name="CuadroTexto 7281">
            <a:extLst>
              <a:ext uri="{FF2B5EF4-FFF2-40B4-BE49-F238E27FC236}">
                <a16:creationId xmlns:a16="http://schemas.microsoft.com/office/drawing/2014/main" id="{5E9C4721-7BBA-C1F7-A67D-EF016F4045E3}"/>
              </a:ext>
            </a:extLst>
          </p:cNvPr>
          <p:cNvSpPr txBox="1"/>
          <p:nvPr/>
        </p:nvSpPr>
        <p:spPr>
          <a:xfrm>
            <a:off x="5888708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Inducción de Políticas Laborales</a:t>
            </a:r>
          </a:p>
        </p:txBody>
      </p:sp>
      <p:sp>
        <p:nvSpPr>
          <p:cNvPr id="7293" name="CuadroTexto 7292">
            <a:extLst>
              <a:ext uri="{FF2B5EF4-FFF2-40B4-BE49-F238E27FC236}">
                <a16:creationId xmlns:a16="http://schemas.microsoft.com/office/drawing/2014/main" id="{C509F8E0-B3FB-D3CE-08EF-A2EB36DEC240}"/>
              </a:ext>
            </a:extLst>
          </p:cNvPr>
          <p:cNvSpPr txBox="1"/>
          <p:nvPr/>
        </p:nvSpPr>
        <p:spPr>
          <a:xfrm>
            <a:off x="7573812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Datos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del Colaborador</a:t>
            </a:r>
          </a:p>
        </p:txBody>
      </p:sp>
      <p:cxnSp>
        <p:nvCxnSpPr>
          <p:cNvPr id="7294" name="Conector recto de flecha 7293">
            <a:extLst>
              <a:ext uri="{FF2B5EF4-FFF2-40B4-BE49-F238E27FC236}">
                <a16:creationId xmlns:a16="http://schemas.microsoft.com/office/drawing/2014/main" id="{789D129D-C3FB-9443-B329-B02D1563FD75}"/>
              </a:ext>
            </a:extLst>
          </p:cNvPr>
          <p:cNvCxnSpPr>
            <a:cxnSpLocks/>
            <a:stCxn id="7282" idx="3"/>
            <a:endCxn id="7293" idx="1"/>
          </p:cNvCxnSpPr>
          <p:nvPr/>
        </p:nvCxnSpPr>
        <p:spPr>
          <a:xfrm>
            <a:off x="7327895" y="5275915"/>
            <a:ext cx="245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7" name="Elipse 7296">
            <a:extLst>
              <a:ext uri="{FF2B5EF4-FFF2-40B4-BE49-F238E27FC236}">
                <a16:creationId xmlns:a16="http://schemas.microsoft.com/office/drawing/2014/main" id="{3F8736F1-5A8A-58D6-AF62-899609E565CF}"/>
              </a:ext>
            </a:extLst>
          </p:cNvPr>
          <p:cNvSpPr/>
          <p:nvPr/>
        </p:nvSpPr>
        <p:spPr>
          <a:xfrm>
            <a:off x="9247746" y="5131981"/>
            <a:ext cx="313266" cy="287867"/>
          </a:xfrm>
          <a:prstGeom prst="ellipse">
            <a:avLst/>
          </a:prstGeom>
          <a:solidFill>
            <a:srgbClr val="F7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298" name="Conector recto de flecha 7297">
            <a:extLst>
              <a:ext uri="{FF2B5EF4-FFF2-40B4-BE49-F238E27FC236}">
                <a16:creationId xmlns:a16="http://schemas.microsoft.com/office/drawing/2014/main" id="{233C4B83-066B-84AE-06CD-4ED56116F806}"/>
              </a:ext>
            </a:extLst>
          </p:cNvPr>
          <p:cNvCxnSpPr>
            <a:cxnSpLocks/>
            <a:stCxn id="7293" idx="3"/>
            <a:endCxn id="7297" idx="2"/>
          </p:cNvCxnSpPr>
          <p:nvPr/>
        </p:nvCxnSpPr>
        <p:spPr>
          <a:xfrm>
            <a:off x="9012999" y="5275915"/>
            <a:ext cx="234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02" name="Picture 4" descr="Account, profile, user, avatar, human, man, person">
            <a:extLst>
              <a:ext uri="{FF2B5EF4-FFF2-40B4-BE49-F238E27FC236}">
                <a16:creationId xmlns:a16="http://schemas.microsoft.com/office/drawing/2014/main" id="{C87D82B4-5CB3-AE34-5F46-6C9EBFE0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57" y="5059817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03" name="Picture 6" descr="Hand, finger, gesture">
            <a:extLst>
              <a:ext uri="{FF2B5EF4-FFF2-40B4-BE49-F238E27FC236}">
                <a16:creationId xmlns:a16="http://schemas.microsoft.com/office/drawing/2014/main" id="{87F782B9-E8ED-A3C0-3EDD-80252098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1794606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10" name="Cilindro 7309">
            <a:extLst>
              <a:ext uri="{FF2B5EF4-FFF2-40B4-BE49-F238E27FC236}">
                <a16:creationId xmlns:a16="http://schemas.microsoft.com/office/drawing/2014/main" id="{E3CDFFCF-4D0F-6C6F-58A9-0F997D3BFE04}"/>
              </a:ext>
            </a:extLst>
          </p:cNvPr>
          <p:cNvSpPr/>
          <p:nvPr/>
        </p:nvSpPr>
        <p:spPr>
          <a:xfrm>
            <a:off x="8719023" y="4549717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SAP</a:t>
            </a:r>
          </a:p>
        </p:txBody>
      </p:sp>
      <p:cxnSp>
        <p:nvCxnSpPr>
          <p:cNvPr id="7314" name="Conector angular 7313">
            <a:extLst>
              <a:ext uri="{FF2B5EF4-FFF2-40B4-BE49-F238E27FC236}">
                <a16:creationId xmlns:a16="http://schemas.microsoft.com/office/drawing/2014/main" id="{0CAEB9DB-F9E0-E4B4-C985-C3C1B845EC96}"/>
              </a:ext>
            </a:extLst>
          </p:cNvPr>
          <p:cNvCxnSpPr>
            <a:stCxn id="7293" idx="0"/>
            <a:endCxn id="7310" idx="2"/>
          </p:cNvCxnSpPr>
          <p:nvPr/>
        </p:nvCxnSpPr>
        <p:spPr>
          <a:xfrm rot="5400000" flipH="1" flipV="1">
            <a:off x="8351766" y="4666287"/>
            <a:ext cx="308897" cy="425617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15" name="Picture 6" descr="Hand, finger, gesture">
            <a:extLst>
              <a:ext uri="{FF2B5EF4-FFF2-40B4-BE49-F238E27FC236}">
                <a16:creationId xmlns:a16="http://schemas.microsoft.com/office/drawing/2014/main" id="{C5287B95-A1FF-F132-85BA-29C5ED10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693460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6" name="Picture 6" descr="Hand, finger, gesture">
            <a:extLst>
              <a:ext uri="{FF2B5EF4-FFF2-40B4-BE49-F238E27FC236}">
                <a16:creationId xmlns:a16="http://schemas.microsoft.com/office/drawing/2014/main" id="{927C3BC2-8FE5-1A25-563C-5C42E45A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57719" y="178014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7" name="Picture 6" descr="Hand, finger, gesture">
            <a:extLst>
              <a:ext uri="{FF2B5EF4-FFF2-40B4-BE49-F238E27FC236}">
                <a16:creationId xmlns:a16="http://schemas.microsoft.com/office/drawing/2014/main" id="{CC847320-E6C1-3743-8B21-D604845F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34738" y="272304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8" name="Picture 6" descr="Hand, finger, gesture">
            <a:extLst>
              <a:ext uri="{FF2B5EF4-FFF2-40B4-BE49-F238E27FC236}">
                <a16:creationId xmlns:a16="http://schemas.microsoft.com/office/drawing/2014/main" id="{34CB2F66-8A2B-E255-A5B9-E893463C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39868" y="364370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9" name="Picture 6" descr="Hand, finger, gesture">
            <a:extLst>
              <a:ext uri="{FF2B5EF4-FFF2-40B4-BE49-F238E27FC236}">
                <a16:creationId xmlns:a16="http://schemas.microsoft.com/office/drawing/2014/main" id="{6B05F70D-8B0D-6AFE-5BA2-A306A9524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87746" y="360973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20" name="Picture 8">
            <a:extLst>
              <a:ext uri="{FF2B5EF4-FFF2-40B4-BE49-F238E27FC236}">
                <a16:creationId xmlns:a16="http://schemas.microsoft.com/office/drawing/2014/main" id="{0577736A-742F-639E-FE40-2D4A20B1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03" y="2886178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21" name="CuadroTexto 7320">
            <a:extLst>
              <a:ext uri="{FF2B5EF4-FFF2-40B4-BE49-F238E27FC236}">
                <a16:creationId xmlns:a16="http://schemas.microsoft.com/office/drawing/2014/main" id="{224D39F9-FAEA-C94D-B5FA-4B1CD12ED6AE}"/>
              </a:ext>
            </a:extLst>
          </p:cNvPr>
          <p:cNvSpPr txBox="1"/>
          <p:nvPr/>
        </p:nvSpPr>
        <p:spPr>
          <a:xfrm>
            <a:off x="3079405" y="3016588"/>
            <a:ext cx="14927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Candidato.docx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sp>
        <p:nvSpPr>
          <p:cNvPr id="7324" name="CuadroTexto 7323">
            <a:extLst>
              <a:ext uri="{FF2B5EF4-FFF2-40B4-BE49-F238E27FC236}">
                <a16:creationId xmlns:a16="http://schemas.microsoft.com/office/drawing/2014/main" id="{0147E9D1-DC7C-15AB-ABC6-1711451054F4}"/>
              </a:ext>
            </a:extLst>
          </p:cNvPr>
          <p:cNvSpPr txBox="1"/>
          <p:nvPr/>
        </p:nvSpPr>
        <p:spPr>
          <a:xfrm>
            <a:off x="6771491" y="1761718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5" name="CuadroTexto 7324">
            <a:extLst>
              <a:ext uri="{FF2B5EF4-FFF2-40B4-BE49-F238E27FC236}">
                <a16:creationId xmlns:a16="http://schemas.microsoft.com/office/drawing/2014/main" id="{D026E0D4-F78D-5C66-2A3D-86F10B862C07}"/>
              </a:ext>
            </a:extLst>
          </p:cNvPr>
          <p:cNvSpPr txBox="1"/>
          <p:nvPr/>
        </p:nvSpPr>
        <p:spPr>
          <a:xfrm>
            <a:off x="8634201" y="47438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6" name="CuadroTexto 7325">
            <a:extLst>
              <a:ext uri="{FF2B5EF4-FFF2-40B4-BE49-F238E27FC236}">
                <a16:creationId xmlns:a16="http://schemas.microsoft.com/office/drawing/2014/main" id="{A0C3E2C9-FCC1-ED22-3CCE-9A5F3F0036A1}"/>
              </a:ext>
            </a:extLst>
          </p:cNvPr>
          <p:cNvSpPr txBox="1"/>
          <p:nvPr/>
        </p:nvSpPr>
        <p:spPr>
          <a:xfrm>
            <a:off x="9021689" y="109348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sp>
        <p:nvSpPr>
          <p:cNvPr id="7328" name="CuadroTexto 7327">
            <a:extLst>
              <a:ext uri="{FF2B5EF4-FFF2-40B4-BE49-F238E27FC236}">
                <a16:creationId xmlns:a16="http://schemas.microsoft.com/office/drawing/2014/main" id="{AFAC0600-A70D-A88A-E9CE-040D8040CBF8}"/>
              </a:ext>
            </a:extLst>
          </p:cNvPr>
          <p:cNvSpPr txBox="1"/>
          <p:nvPr/>
        </p:nvSpPr>
        <p:spPr>
          <a:xfrm>
            <a:off x="7616933" y="130029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cxnSp>
        <p:nvCxnSpPr>
          <p:cNvPr id="7342" name="Conector angular 7341">
            <a:extLst>
              <a:ext uri="{FF2B5EF4-FFF2-40B4-BE49-F238E27FC236}">
                <a16:creationId xmlns:a16="http://schemas.microsoft.com/office/drawing/2014/main" id="{3EB5C188-DAAA-4096-90DE-2D189CDCD0CC}"/>
              </a:ext>
            </a:extLst>
          </p:cNvPr>
          <p:cNvCxnSpPr>
            <a:endCxn id="7170" idx="3"/>
          </p:cNvCxnSpPr>
          <p:nvPr/>
        </p:nvCxnSpPr>
        <p:spPr>
          <a:xfrm rot="5400000">
            <a:off x="2598796" y="2266452"/>
            <a:ext cx="245785" cy="209024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3" name="Conector angular 7342">
            <a:extLst>
              <a:ext uri="{FF2B5EF4-FFF2-40B4-BE49-F238E27FC236}">
                <a16:creationId xmlns:a16="http://schemas.microsoft.com/office/drawing/2014/main" id="{7F568F78-AF72-2D66-8FAE-AE1F3EC7690F}"/>
              </a:ext>
            </a:extLst>
          </p:cNvPr>
          <p:cNvCxnSpPr>
            <a:cxnSpLocks/>
            <a:endCxn id="7266" idx="0"/>
          </p:cNvCxnSpPr>
          <p:nvPr/>
        </p:nvCxnSpPr>
        <p:spPr>
          <a:xfrm>
            <a:off x="2994538" y="805844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4" name="Conector angular 7343">
            <a:extLst>
              <a:ext uri="{FF2B5EF4-FFF2-40B4-BE49-F238E27FC236}">
                <a16:creationId xmlns:a16="http://schemas.microsoft.com/office/drawing/2014/main" id="{B9193EA8-ECB8-AC94-A0F7-564D4B912477}"/>
              </a:ext>
            </a:extLst>
          </p:cNvPr>
          <p:cNvCxnSpPr>
            <a:cxnSpLocks/>
            <a:stCxn id="7320" idx="0"/>
          </p:cNvCxnSpPr>
          <p:nvPr/>
        </p:nvCxnSpPr>
        <p:spPr>
          <a:xfrm rot="5400000" flipH="1" flipV="1">
            <a:off x="4771530" y="2727860"/>
            <a:ext cx="88083" cy="228555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49" name="Picture 6" descr="Hand, finger, gesture">
            <a:extLst>
              <a:ext uri="{FF2B5EF4-FFF2-40B4-BE49-F238E27FC236}">
                <a16:creationId xmlns:a16="http://schemas.microsoft.com/office/drawing/2014/main" id="{429A1DCF-D11A-8F54-6EC8-C3DD26AC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49313" y="177652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0" name="Picture 6" descr="Hand, finger, gesture">
            <a:extLst>
              <a:ext uri="{FF2B5EF4-FFF2-40B4-BE49-F238E27FC236}">
                <a16:creationId xmlns:a16="http://schemas.microsoft.com/office/drawing/2014/main" id="{0D261F7F-B551-248D-9521-E4645D0A9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60740" y="3604048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51" name="CuadroTexto 7350">
            <a:extLst>
              <a:ext uri="{FF2B5EF4-FFF2-40B4-BE49-F238E27FC236}">
                <a16:creationId xmlns:a16="http://schemas.microsoft.com/office/drawing/2014/main" id="{EFC11607-3AFA-1339-ED50-D5430813B271}"/>
              </a:ext>
            </a:extLst>
          </p:cNvPr>
          <p:cNvSpPr txBox="1"/>
          <p:nvPr/>
        </p:nvSpPr>
        <p:spPr>
          <a:xfrm>
            <a:off x="107978" y="35073"/>
            <a:ext cx="966356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</a:rPr>
              <a:t>HR12.Proceso </a:t>
            </a:r>
            <a:r>
              <a:rPr lang="es-ES_tradnl" sz="1400" b="1" dirty="0" err="1">
                <a:solidFill>
                  <a:schemeClr val="bg1"/>
                </a:solidFill>
              </a:rPr>
              <a:t>Hire</a:t>
            </a:r>
            <a:r>
              <a:rPr lang="es-ES_tradnl" sz="1400" b="1" dirty="0">
                <a:solidFill>
                  <a:schemeClr val="bg1"/>
                </a:solidFill>
              </a:rPr>
              <a:t> </a:t>
            </a:r>
            <a:r>
              <a:rPr lang="es-ES_tradnl" sz="1400" b="1" dirty="0" err="1">
                <a:solidFill>
                  <a:schemeClr val="bg1"/>
                </a:solidFill>
              </a:rPr>
              <a:t>to</a:t>
            </a:r>
            <a:r>
              <a:rPr lang="es-ES_tradnl" sz="1400" b="1" dirty="0">
                <a:solidFill>
                  <a:schemeClr val="bg1"/>
                </a:solidFill>
              </a:rPr>
              <a:t> Retire </a:t>
            </a:r>
            <a:r>
              <a:rPr lang="es-ES_tradnl" sz="1400" b="1" dirty="0">
                <a:solidFill>
                  <a:schemeClr val="bg1"/>
                </a:solidFill>
                <a:sym typeface="Wingdings" pitchFamily="2" charset="2"/>
              </a:rPr>
              <a:t> HR1201- </a:t>
            </a:r>
            <a:r>
              <a:rPr lang="es-ES_tradnl" sz="1400" b="1" dirty="0">
                <a:solidFill>
                  <a:schemeClr val="bg1"/>
                </a:solidFill>
              </a:rPr>
              <a:t>Selección y Reclutamiento</a:t>
            </a:r>
            <a:endParaRPr lang="es-ES_tradnl" sz="1050" dirty="0">
              <a:solidFill>
                <a:schemeClr val="bg1"/>
              </a:solidFill>
            </a:endParaRPr>
          </a:p>
        </p:txBody>
      </p:sp>
      <p:sp>
        <p:nvSpPr>
          <p:cNvPr id="7352" name="Rectángulo 7351">
            <a:extLst>
              <a:ext uri="{FF2B5EF4-FFF2-40B4-BE49-F238E27FC236}">
                <a16:creationId xmlns:a16="http://schemas.microsoft.com/office/drawing/2014/main" id="{DB334EF8-6484-4AE1-BAFE-C2482534F7A8}"/>
              </a:ext>
            </a:extLst>
          </p:cNvPr>
          <p:cNvSpPr/>
          <p:nvPr/>
        </p:nvSpPr>
        <p:spPr>
          <a:xfrm>
            <a:off x="828831" y="5774020"/>
            <a:ext cx="8942715" cy="999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53" name="Rectángulo 7352">
            <a:extLst>
              <a:ext uri="{FF2B5EF4-FFF2-40B4-BE49-F238E27FC236}">
                <a16:creationId xmlns:a16="http://schemas.microsoft.com/office/drawing/2014/main" id="{EB482C54-E8F3-BA04-E334-D4A8544E7802}"/>
              </a:ext>
            </a:extLst>
          </p:cNvPr>
          <p:cNvSpPr/>
          <p:nvPr/>
        </p:nvSpPr>
        <p:spPr>
          <a:xfrm rot="16200000">
            <a:off x="-49363" y="5947558"/>
            <a:ext cx="99900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Director RRHH</a:t>
            </a:r>
          </a:p>
        </p:txBody>
      </p:sp>
      <p:sp>
        <p:nvSpPr>
          <p:cNvPr id="7354" name="CuadroTexto 7353">
            <a:extLst>
              <a:ext uri="{FF2B5EF4-FFF2-40B4-BE49-F238E27FC236}">
                <a16:creationId xmlns:a16="http://schemas.microsoft.com/office/drawing/2014/main" id="{6438D7A5-FE45-DF56-C484-F31F5AED91A3}"/>
              </a:ext>
            </a:extLst>
          </p:cNvPr>
          <p:cNvSpPr txBox="1"/>
          <p:nvPr/>
        </p:nvSpPr>
        <p:spPr>
          <a:xfrm>
            <a:off x="4814808" y="5877568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Firma de Contrato</a:t>
            </a:r>
          </a:p>
        </p:txBody>
      </p:sp>
      <p:cxnSp>
        <p:nvCxnSpPr>
          <p:cNvPr id="7361" name="Conector angular 7360">
            <a:extLst>
              <a:ext uri="{FF2B5EF4-FFF2-40B4-BE49-F238E27FC236}">
                <a16:creationId xmlns:a16="http://schemas.microsoft.com/office/drawing/2014/main" id="{C1E8C0A7-7D8B-07A2-3A60-A5A3E6494E6E}"/>
              </a:ext>
            </a:extLst>
          </p:cNvPr>
          <p:cNvCxnSpPr>
            <a:stCxn id="7354" idx="3"/>
            <a:endCxn id="7282" idx="2"/>
          </p:cNvCxnSpPr>
          <p:nvPr/>
        </p:nvCxnSpPr>
        <p:spPr>
          <a:xfrm flipV="1">
            <a:off x="6253995" y="5518287"/>
            <a:ext cx="354307" cy="6016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62" name="Picture 6" descr="Hand, finger, gesture">
            <a:extLst>
              <a:ext uri="{FF2B5EF4-FFF2-40B4-BE49-F238E27FC236}">
                <a16:creationId xmlns:a16="http://schemas.microsoft.com/office/drawing/2014/main" id="{A3FF5112-3BA2-41BF-DBB3-840D0AFA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51868" y="591136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3" name="Picture 8">
            <a:extLst>
              <a:ext uri="{FF2B5EF4-FFF2-40B4-BE49-F238E27FC236}">
                <a16:creationId xmlns:a16="http://schemas.microsoft.com/office/drawing/2014/main" id="{BAD3BF62-5C33-4881-1A66-9C40BBE8F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084" y="3539866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64" name="CuadroTexto 7363">
            <a:extLst>
              <a:ext uri="{FF2B5EF4-FFF2-40B4-BE49-F238E27FC236}">
                <a16:creationId xmlns:a16="http://schemas.microsoft.com/office/drawing/2014/main" id="{3D5A94CE-9EFC-7FC4-4D7A-C4002B2F8D8E}"/>
              </a:ext>
            </a:extLst>
          </p:cNvPr>
          <p:cNvSpPr txBox="1"/>
          <p:nvPr/>
        </p:nvSpPr>
        <p:spPr>
          <a:xfrm>
            <a:off x="6263767" y="3879824"/>
            <a:ext cx="16401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Contratación.docx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cxnSp>
        <p:nvCxnSpPr>
          <p:cNvPr id="7367" name="Conector angular 7366">
            <a:extLst>
              <a:ext uri="{FF2B5EF4-FFF2-40B4-BE49-F238E27FC236}">
                <a16:creationId xmlns:a16="http://schemas.microsoft.com/office/drawing/2014/main" id="{7C9D6392-E6AC-75F0-6BA3-C93031C9BD32}"/>
              </a:ext>
            </a:extLst>
          </p:cNvPr>
          <p:cNvCxnSpPr>
            <a:stCxn id="7276" idx="2"/>
            <a:endCxn id="7354" idx="0"/>
          </p:cNvCxnSpPr>
          <p:nvPr/>
        </p:nvCxnSpPr>
        <p:spPr>
          <a:xfrm rot="5400000">
            <a:off x="4626278" y="4969442"/>
            <a:ext cx="181625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CB57E3D6-FA7E-4A67-BDDE-5EB42DD62E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054" y="2820198"/>
            <a:ext cx="7672019" cy="570545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3E23A87-BE2A-9A36-6566-886DAFBA8C66}"/>
              </a:ext>
            </a:extLst>
          </p:cNvPr>
          <p:cNvSpPr/>
          <p:nvPr/>
        </p:nvSpPr>
        <p:spPr>
          <a:xfrm>
            <a:off x="1005054" y="2279393"/>
            <a:ext cx="1814628" cy="4428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E4A706-986F-9E40-3A42-A1A136664700}"/>
              </a:ext>
            </a:extLst>
          </p:cNvPr>
          <p:cNvSpPr txBox="1"/>
          <p:nvPr/>
        </p:nvSpPr>
        <p:spPr>
          <a:xfrm>
            <a:off x="980717" y="3487820"/>
            <a:ext cx="2530570" cy="73866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Ineficiencia</a:t>
            </a:r>
            <a:endParaRPr lang="es-ES_tradnl" sz="1400" dirty="0">
              <a:solidFill>
                <a:schemeClr val="bg1"/>
              </a:solidFill>
            </a:endParaRPr>
          </a:p>
          <a:p>
            <a:pPr algn="ctr"/>
            <a:r>
              <a:rPr lang="es-ES_tradnl" sz="1400" dirty="0">
                <a:solidFill>
                  <a:schemeClr val="bg1"/>
                </a:solidFill>
              </a:rPr>
              <a:t>Trabajo repetitivo, se pierde información</a:t>
            </a:r>
          </a:p>
        </p:txBody>
      </p:sp>
    </p:spTree>
    <p:extLst>
      <p:ext uri="{BB962C8B-B14F-4D97-AF65-F5344CB8AC3E}">
        <p14:creationId xmlns:p14="http://schemas.microsoft.com/office/powerpoint/2010/main" val="2925415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8" name="Rectángulo 7337">
            <a:extLst>
              <a:ext uri="{FF2B5EF4-FFF2-40B4-BE49-F238E27FC236}">
                <a16:creationId xmlns:a16="http://schemas.microsoft.com/office/drawing/2014/main" id="{20E7EB5A-5051-36B6-423A-BD37F66BB186}"/>
              </a:ext>
            </a:extLst>
          </p:cNvPr>
          <p:cNvSpPr/>
          <p:nvPr/>
        </p:nvSpPr>
        <p:spPr>
          <a:xfrm>
            <a:off x="-5832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1" name="Rectángulo 7330">
            <a:extLst>
              <a:ext uri="{FF2B5EF4-FFF2-40B4-BE49-F238E27FC236}">
                <a16:creationId xmlns:a16="http://schemas.microsoft.com/office/drawing/2014/main" id="{5FDA60CE-0F41-2286-BCD5-9FF3888A107B}"/>
              </a:ext>
            </a:extLst>
          </p:cNvPr>
          <p:cNvSpPr/>
          <p:nvPr/>
        </p:nvSpPr>
        <p:spPr>
          <a:xfrm>
            <a:off x="822437" y="4329950"/>
            <a:ext cx="8942715" cy="13835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330" name="Rectángulo 7329">
            <a:extLst>
              <a:ext uri="{FF2B5EF4-FFF2-40B4-BE49-F238E27FC236}">
                <a16:creationId xmlns:a16="http://schemas.microsoft.com/office/drawing/2014/main" id="{BFC97442-46C2-2A72-D98C-C1FA720F21FA}"/>
              </a:ext>
            </a:extLst>
          </p:cNvPr>
          <p:cNvSpPr/>
          <p:nvPr/>
        </p:nvSpPr>
        <p:spPr>
          <a:xfrm>
            <a:off x="828831" y="1598564"/>
            <a:ext cx="8942715" cy="2661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29" name="Rectángulo 7328">
            <a:extLst>
              <a:ext uri="{FF2B5EF4-FFF2-40B4-BE49-F238E27FC236}">
                <a16:creationId xmlns:a16="http://schemas.microsoft.com/office/drawing/2014/main" id="{E33CDE91-39BA-BBCD-53B7-B711A9F90E5A}"/>
              </a:ext>
            </a:extLst>
          </p:cNvPr>
          <p:cNvSpPr/>
          <p:nvPr/>
        </p:nvSpPr>
        <p:spPr>
          <a:xfrm>
            <a:off x="828832" y="372525"/>
            <a:ext cx="8942715" cy="117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041685-4211-71C2-9F3F-7D94EBE7BB44}"/>
              </a:ext>
            </a:extLst>
          </p:cNvPr>
          <p:cNvSpPr/>
          <p:nvPr/>
        </p:nvSpPr>
        <p:spPr>
          <a:xfrm rot="16200000">
            <a:off x="-144567" y="634872"/>
            <a:ext cx="117662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Área Usuaria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Solicitante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179691-48D1-C7D5-94AB-97E5933FE172}"/>
              </a:ext>
            </a:extLst>
          </p:cNvPr>
          <p:cNvSpPr/>
          <p:nvPr/>
        </p:nvSpPr>
        <p:spPr>
          <a:xfrm>
            <a:off x="900391" y="809129"/>
            <a:ext cx="313266" cy="2878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95854C-760C-B3CE-976B-44FDEE632C3F}"/>
              </a:ext>
            </a:extLst>
          </p:cNvPr>
          <p:cNvSpPr txBox="1"/>
          <p:nvPr/>
        </p:nvSpPr>
        <p:spPr>
          <a:xfrm>
            <a:off x="1557186" y="1756420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Requerimiento de Candidatos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32E2E-694C-43AF-F611-14BF9440B06E}"/>
              </a:ext>
            </a:extLst>
          </p:cNvPr>
          <p:cNvSpPr txBox="1"/>
          <p:nvPr/>
        </p:nvSpPr>
        <p:spPr>
          <a:xfrm>
            <a:off x="1557186" y="673624"/>
            <a:ext cx="1439187" cy="552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Solicitud de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Requerimiento de Candidatos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46CB5C-0563-CD3E-5E2E-50157CA43F77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 flipV="1">
            <a:off x="1213657" y="949979"/>
            <a:ext cx="343529" cy="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011220-994E-58D8-12B9-6683BF6A192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2276780" y="1226334"/>
            <a:ext cx="0" cy="530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E4CC33-75CF-0BD6-B3A7-B315E673A13B}"/>
              </a:ext>
            </a:extLst>
          </p:cNvPr>
          <p:cNvSpPr/>
          <p:nvPr/>
        </p:nvSpPr>
        <p:spPr>
          <a:xfrm rot="16200000">
            <a:off x="-884475" y="2603154"/>
            <a:ext cx="2661113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Desarrollo Organizacional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4EEBC56-DFCF-E1F8-0591-9B938B96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007" y="2306920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22245F2-838A-491E-00D5-CC91547E9642}"/>
              </a:ext>
            </a:extLst>
          </p:cNvPr>
          <p:cNvSpPr txBox="1"/>
          <p:nvPr/>
        </p:nvSpPr>
        <p:spPr>
          <a:xfrm>
            <a:off x="990260" y="2287567"/>
            <a:ext cx="1204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BD de RQ-2024.xlsx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27360A-E6D7-BFA7-E366-F582906D1D84}"/>
              </a:ext>
            </a:extLst>
          </p:cNvPr>
          <p:cNvSpPr txBox="1"/>
          <p:nvPr/>
        </p:nvSpPr>
        <p:spPr>
          <a:xfrm>
            <a:off x="3220071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Publicación de Vacante en Medios Digitales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CC4FD16-4D43-CB5C-829F-F3E179674225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 flipV="1">
            <a:off x="2996373" y="2002245"/>
            <a:ext cx="22369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F1E80D7-522D-C12B-7261-022308BCEC4A}"/>
              </a:ext>
            </a:extLst>
          </p:cNvPr>
          <p:cNvSpPr txBox="1"/>
          <p:nvPr/>
        </p:nvSpPr>
        <p:spPr>
          <a:xfrm>
            <a:off x="4931918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Recepción de Hojas de Vida y Filtro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B3BB4DE-724E-B00E-51C1-56F841AADB36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4659258" y="2002245"/>
            <a:ext cx="272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8130FA-2191-041C-D38A-7802115E83A3}"/>
              </a:ext>
            </a:extLst>
          </p:cNvPr>
          <p:cNvSpPr txBox="1"/>
          <p:nvPr/>
        </p:nvSpPr>
        <p:spPr>
          <a:xfrm>
            <a:off x="4931918" y="269093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Entrevistas y Llenado de Ficha de Candidato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0A727EA-CD2E-7F3D-5DD9-A923B0D79B83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5651512" y="2248072"/>
            <a:ext cx="0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C517EC-706D-AD1E-A15B-D623FDE96247}"/>
              </a:ext>
            </a:extLst>
          </p:cNvPr>
          <p:cNvSpPr txBox="1"/>
          <p:nvPr/>
        </p:nvSpPr>
        <p:spPr>
          <a:xfrm>
            <a:off x="6867466" y="2690930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Psicométricas (Presencial)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364C961-7DB4-D19A-CF8E-FD37AC3BB114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6371105" y="2933302"/>
            <a:ext cx="496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5" name="Rombo 7184">
            <a:extLst>
              <a:ext uri="{FF2B5EF4-FFF2-40B4-BE49-F238E27FC236}">
                <a16:creationId xmlns:a16="http://schemas.microsoft.com/office/drawing/2014/main" id="{0240C84E-ED78-25F2-E418-E79E7BDEB562}"/>
              </a:ext>
            </a:extLst>
          </p:cNvPr>
          <p:cNvSpPr/>
          <p:nvPr/>
        </p:nvSpPr>
        <p:spPr>
          <a:xfrm>
            <a:off x="7258868" y="1783103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187" name="Conector recto de flecha 7186">
            <a:extLst>
              <a:ext uri="{FF2B5EF4-FFF2-40B4-BE49-F238E27FC236}">
                <a16:creationId xmlns:a16="http://schemas.microsoft.com/office/drawing/2014/main" id="{DD994B2F-7E53-E5C0-315C-3F9FEB538246}"/>
              </a:ext>
            </a:extLst>
          </p:cNvPr>
          <p:cNvCxnSpPr>
            <a:cxnSpLocks/>
          </p:cNvCxnSpPr>
          <p:nvPr/>
        </p:nvCxnSpPr>
        <p:spPr>
          <a:xfrm flipH="1" flipV="1">
            <a:off x="7610911" y="2248072"/>
            <a:ext cx="6022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9" name="Conector recto de flecha 7188">
            <a:extLst>
              <a:ext uri="{FF2B5EF4-FFF2-40B4-BE49-F238E27FC236}">
                <a16:creationId xmlns:a16="http://schemas.microsoft.com/office/drawing/2014/main" id="{036C4CD7-B877-1EB6-5A94-F03CC1771E09}"/>
              </a:ext>
            </a:extLst>
          </p:cNvPr>
          <p:cNvCxnSpPr>
            <a:cxnSpLocks/>
            <a:stCxn id="7185" idx="1"/>
            <a:endCxn id="35" idx="3"/>
          </p:cNvCxnSpPr>
          <p:nvPr/>
        </p:nvCxnSpPr>
        <p:spPr>
          <a:xfrm flipH="1" flipV="1">
            <a:off x="6371105" y="2002245"/>
            <a:ext cx="887763" cy="1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4" name="CuadroTexto 7193">
            <a:extLst>
              <a:ext uri="{FF2B5EF4-FFF2-40B4-BE49-F238E27FC236}">
                <a16:creationId xmlns:a16="http://schemas.microsoft.com/office/drawing/2014/main" id="{A45069A6-9C5C-9499-A0D9-42387D5FFD3E}"/>
              </a:ext>
            </a:extLst>
          </p:cNvPr>
          <p:cNvSpPr txBox="1"/>
          <p:nvPr/>
        </p:nvSpPr>
        <p:spPr>
          <a:xfrm>
            <a:off x="6891317" y="647988"/>
            <a:ext cx="1439187" cy="5211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 con Solicitante</a:t>
            </a:r>
          </a:p>
        </p:txBody>
      </p:sp>
      <p:cxnSp>
        <p:nvCxnSpPr>
          <p:cNvPr id="7195" name="Conector recto de flecha 7194">
            <a:extLst>
              <a:ext uri="{FF2B5EF4-FFF2-40B4-BE49-F238E27FC236}">
                <a16:creationId xmlns:a16="http://schemas.microsoft.com/office/drawing/2014/main" id="{49F53781-5CAE-A516-28F2-DEE60E077BCF}"/>
              </a:ext>
            </a:extLst>
          </p:cNvPr>
          <p:cNvCxnSpPr>
            <a:cxnSpLocks/>
            <a:stCxn id="7185" idx="0"/>
          </p:cNvCxnSpPr>
          <p:nvPr/>
        </p:nvCxnSpPr>
        <p:spPr>
          <a:xfrm flipV="1">
            <a:off x="7610911" y="1169178"/>
            <a:ext cx="0" cy="61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9" name="CuadroTexto 7198">
            <a:extLst>
              <a:ext uri="{FF2B5EF4-FFF2-40B4-BE49-F238E27FC236}">
                <a16:creationId xmlns:a16="http://schemas.microsoft.com/office/drawing/2014/main" id="{3DA02FEB-1400-AE79-F4CA-AE05AFFE20F5}"/>
              </a:ext>
            </a:extLst>
          </p:cNvPr>
          <p:cNvSpPr txBox="1"/>
          <p:nvPr/>
        </p:nvSpPr>
        <p:spPr>
          <a:xfrm>
            <a:off x="1188562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Validación de Referencias Crediticias</a:t>
            </a:r>
          </a:p>
        </p:txBody>
      </p:sp>
      <p:sp>
        <p:nvSpPr>
          <p:cNvPr id="7201" name="Rombo 7200">
            <a:extLst>
              <a:ext uri="{FF2B5EF4-FFF2-40B4-BE49-F238E27FC236}">
                <a16:creationId xmlns:a16="http://schemas.microsoft.com/office/drawing/2014/main" id="{EF585719-B760-A389-A1A6-9A9B3A3CCC18}"/>
              </a:ext>
            </a:extLst>
          </p:cNvPr>
          <p:cNvSpPr/>
          <p:nvPr/>
        </p:nvSpPr>
        <p:spPr>
          <a:xfrm>
            <a:off x="8667576" y="673625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02" name="Conector recto de flecha 7201">
            <a:extLst>
              <a:ext uri="{FF2B5EF4-FFF2-40B4-BE49-F238E27FC236}">
                <a16:creationId xmlns:a16="http://schemas.microsoft.com/office/drawing/2014/main" id="{CE6FF1D8-F68E-7F48-762A-C2101C559E28}"/>
              </a:ext>
            </a:extLst>
          </p:cNvPr>
          <p:cNvCxnSpPr>
            <a:cxnSpLocks/>
            <a:stCxn id="7194" idx="3"/>
            <a:endCxn id="7201" idx="1"/>
          </p:cNvCxnSpPr>
          <p:nvPr/>
        </p:nvCxnSpPr>
        <p:spPr>
          <a:xfrm flipV="1">
            <a:off x="8330504" y="906110"/>
            <a:ext cx="337072" cy="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0" name="Conector angular 7219">
            <a:extLst>
              <a:ext uri="{FF2B5EF4-FFF2-40B4-BE49-F238E27FC236}">
                <a16:creationId xmlns:a16="http://schemas.microsoft.com/office/drawing/2014/main" id="{34E84BF1-E801-0064-B550-B25DB745D327}"/>
              </a:ext>
            </a:extLst>
          </p:cNvPr>
          <p:cNvCxnSpPr>
            <a:cxnSpLocks/>
            <a:stCxn id="7201" idx="0"/>
            <a:endCxn id="35" idx="0"/>
          </p:cNvCxnSpPr>
          <p:nvPr/>
        </p:nvCxnSpPr>
        <p:spPr>
          <a:xfrm rot="16200000" flipH="1" flipV="1">
            <a:off x="6794169" y="-469033"/>
            <a:ext cx="1082793" cy="3368107"/>
          </a:xfrm>
          <a:prstGeom prst="bentConnector3">
            <a:avLst>
              <a:gd name="adj1" fmla="val -21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3" name="Conector angular 7222">
            <a:extLst>
              <a:ext uri="{FF2B5EF4-FFF2-40B4-BE49-F238E27FC236}">
                <a16:creationId xmlns:a16="http://schemas.microsoft.com/office/drawing/2014/main" id="{590FB989-7AD0-9DC5-782E-0D518FB3185A}"/>
              </a:ext>
            </a:extLst>
          </p:cNvPr>
          <p:cNvCxnSpPr>
            <a:cxnSpLocks/>
            <a:stCxn id="7201" idx="2"/>
            <a:endCxn id="7199" idx="0"/>
          </p:cNvCxnSpPr>
          <p:nvPr/>
        </p:nvCxnSpPr>
        <p:spPr>
          <a:xfrm rot="5400000">
            <a:off x="4244899" y="-1198148"/>
            <a:ext cx="2437979" cy="7111463"/>
          </a:xfrm>
          <a:prstGeom prst="bentConnector3">
            <a:avLst>
              <a:gd name="adj1" fmla="val 910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66" name="Picture 2">
            <a:extLst>
              <a:ext uri="{FF2B5EF4-FFF2-40B4-BE49-F238E27FC236}">
                <a16:creationId xmlns:a16="http://schemas.microsoft.com/office/drawing/2014/main" id="{AD3C54F7-054D-91A0-699D-2E0F3CD9C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222" y="940292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67" name="CuadroTexto 7266">
            <a:extLst>
              <a:ext uri="{FF2B5EF4-FFF2-40B4-BE49-F238E27FC236}">
                <a16:creationId xmlns:a16="http://schemas.microsoft.com/office/drawing/2014/main" id="{31211F81-6FB3-655C-7A3B-734EEF1F1A27}"/>
              </a:ext>
            </a:extLst>
          </p:cNvPr>
          <p:cNvSpPr txBox="1"/>
          <p:nvPr/>
        </p:nvSpPr>
        <p:spPr>
          <a:xfrm>
            <a:off x="2499117" y="1268586"/>
            <a:ext cx="10903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Formato de Perfil</a:t>
            </a:r>
          </a:p>
        </p:txBody>
      </p:sp>
      <p:sp>
        <p:nvSpPr>
          <p:cNvPr id="7272" name="CuadroTexto 7271">
            <a:extLst>
              <a:ext uri="{FF2B5EF4-FFF2-40B4-BE49-F238E27FC236}">
                <a16:creationId xmlns:a16="http://schemas.microsoft.com/office/drawing/2014/main" id="{F4B1FECB-558F-50F5-60F7-43165D3CF091}"/>
              </a:ext>
            </a:extLst>
          </p:cNvPr>
          <p:cNvSpPr txBox="1"/>
          <p:nvPr/>
        </p:nvSpPr>
        <p:spPr>
          <a:xfrm>
            <a:off x="3024651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Elaboración de Contrato</a:t>
            </a:r>
          </a:p>
        </p:txBody>
      </p:sp>
      <p:cxnSp>
        <p:nvCxnSpPr>
          <p:cNvPr id="7273" name="Conector recto de flecha 7272">
            <a:extLst>
              <a:ext uri="{FF2B5EF4-FFF2-40B4-BE49-F238E27FC236}">
                <a16:creationId xmlns:a16="http://schemas.microsoft.com/office/drawing/2014/main" id="{342CF633-5649-8810-068C-8F823A83D58B}"/>
              </a:ext>
            </a:extLst>
          </p:cNvPr>
          <p:cNvCxnSpPr>
            <a:cxnSpLocks/>
            <a:stCxn id="7199" idx="3"/>
            <a:endCxn id="7272" idx="1"/>
          </p:cNvCxnSpPr>
          <p:nvPr/>
        </p:nvCxnSpPr>
        <p:spPr>
          <a:xfrm>
            <a:off x="2627749" y="3818945"/>
            <a:ext cx="396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6" name="CuadroTexto 7275">
            <a:extLst>
              <a:ext uri="{FF2B5EF4-FFF2-40B4-BE49-F238E27FC236}">
                <a16:creationId xmlns:a16="http://schemas.microsoft.com/office/drawing/2014/main" id="{3AC59DD0-E8BE-6DEB-8B80-0CA1A84CC144}"/>
              </a:ext>
            </a:extLst>
          </p:cNvPr>
          <p:cNvSpPr txBox="1"/>
          <p:nvPr/>
        </p:nvSpPr>
        <p:spPr>
          <a:xfrm>
            <a:off x="4814809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Preparación del Expediente para Inducción</a:t>
            </a:r>
          </a:p>
        </p:txBody>
      </p:sp>
      <p:cxnSp>
        <p:nvCxnSpPr>
          <p:cNvPr id="7277" name="Conector recto de flecha 7276">
            <a:extLst>
              <a:ext uri="{FF2B5EF4-FFF2-40B4-BE49-F238E27FC236}">
                <a16:creationId xmlns:a16="http://schemas.microsoft.com/office/drawing/2014/main" id="{D450196B-EEF9-EEB5-0B90-5289B40A8C85}"/>
              </a:ext>
            </a:extLst>
          </p:cNvPr>
          <p:cNvCxnSpPr>
            <a:cxnSpLocks/>
            <a:stCxn id="7272" idx="3"/>
            <a:endCxn id="7276" idx="1"/>
          </p:cNvCxnSpPr>
          <p:nvPr/>
        </p:nvCxnSpPr>
        <p:spPr>
          <a:xfrm>
            <a:off x="4463838" y="3818945"/>
            <a:ext cx="350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0" name="Rectángulo 7279">
            <a:extLst>
              <a:ext uri="{FF2B5EF4-FFF2-40B4-BE49-F238E27FC236}">
                <a16:creationId xmlns:a16="http://schemas.microsoft.com/office/drawing/2014/main" id="{32506046-B594-41E3-8D8B-CB46306F2DFA}"/>
              </a:ext>
            </a:extLst>
          </p:cNvPr>
          <p:cNvSpPr/>
          <p:nvPr/>
        </p:nvSpPr>
        <p:spPr>
          <a:xfrm rot="16200000">
            <a:off x="-248018" y="4705525"/>
            <a:ext cx="1383530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Nómina</a:t>
            </a:r>
          </a:p>
        </p:txBody>
      </p:sp>
      <p:sp>
        <p:nvSpPr>
          <p:cNvPr id="7282" name="CuadroTexto 7281">
            <a:extLst>
              <a:ext uri="{FF2B5EF4-FFF2-40B4-BE49-F238E27FC236}">
                <a16:creationId xmlns:a16="http://schemas.microsoft.com/office/drawing/2014/main" id="{5E9C4721-7BBA-C1F7-A67D-EF016F4045E3}"/>
              </a:ext>
            </a:extLst>
          </p:cNvPr>
          <p:cNvSpPr txBox="1"/>
          <p:nvPr/>
        </p:nvSpPr>
        <p:spPr>
          <a:xfrm>
            <a:off x="5888708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Inducción de Políticas Laborales</a:t>
            </a:r>
          </a:p>
        </p:txBody>
      </p:sp>
      <p:sp>
        <p:nvSpPr>
          <p:cNvPr id="7293" name="CuadroTexto 7292">
            <a:extLst>
              <a:ext uri="{FF2B5EF4-FFF2-40B4-BE49-F238E27FC236}">
                <a16:creationId xmlns:a16="http://schemas.microsoft.com/office/drawing/2014/main" id="{C509F8E0-B3FB-D3CE-08EF-A2EB36DEC240}"/>
              </a:ext>
            </a:extLst>
          </p:cNvPr>
          <p:cNvSpPr txBox="1"/>
          <p:nvPr/>
        </p:nvSpPr>
        <p:spPr>
          <a:xfrm>
            <a:off x="7573812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Datos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del Colaborador</a:t>
            </a:r>
          </a:p>
        </p:txBody>
      </p:sp>
      <p:cxnSp>
        <p:nvCxnSpPr>
          <p:cNvPr id="7294" name="Conector recto de flecha 7293">
            <a:extLst>
              <a:ext uri="{FF2B5EF4-FFF2-40B4-BE49-F238E27FC236}">
                <a16:creationId xmlns:a16="http://schemas.microsoft.com/office/drawing/2014/main" id="{789D129D-C3FB-9443-B329-B02D1563FD75}"/>
              </a:ext>
            </a:extLst>
          </p:cNvPr>
          <p:cNvCxnSpPr>
            <a:cxnSpLocks/>
            <a:stCxn id="7282" idx="3"/>
            <a:endCxn id="7293" idx="1"/>
          </p:cNvCxnSpPr>
          <p:nvPr/>
        </p:nvCxnSpPr>
        <p:spPr>
          <a:xfrm>
            <a:off x="7327895" y="5275915"/>
            <a:ext cx="245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7" name="Elipse 7296">
            <a:extLst>
              <a:ext uri="{FF2B5EF4-FFF2-40B4-BE49-F238E27FC236}">
                <a16:creationId xmlns:a16="http://schemas.microsoft.com/office/drawing/2014/main" id="{3F8736F1-5A8A-58D6-AF62-899609E565CF}"/>
              </a:ext>
            </a:extLst>
          </p:cNvPr>
          <p:cNvSpPr/>
          <p:nvPr/>
        </p:nvSpPr>
        <p:spPr>
          <a:xfrm>
            <a:off x="9247746" y="5131981"/>
            <a:ext cx="313266" cy="287867"/>
          </a:xfrm>
          <a:prstGeom prst="ellipse">
            <a:avLst/>
          </a:prstGeom>
          <a:solidFill>
            <a:srgbClr val="F7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298" name="Conector recto de flecha 7297">
            <a:extLst>
              <a:ext uri="{FF2B5EF4-FFF2-40B4-BE49-F238E27FC236}">
                <a16:creationId xmlns:a16="http://schemas.microsoft.com/office/drawing/2014/main" id="{233C4B83-066B-84AE-06CD-4ED56116F806}"/>
              </a:ext>
            </a:extLst>
          </p:cNvPr>
          <p:cNvCxnSpPr>
            <a:cxnSpLocks/>
            <a:stCxn id="7293" idx="3"/>
            <a:endCxn id="7297" idx="2"/>
          </p:cNvCxnSpPr>
          <p:nvPr/>
        </p:nvCxnSpPr>
        <p:spPr>
          <a:xfrm>
            <a:off x="9012999" y="5275915"/>
            <a:ext cx="234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02" name="Picture 4" descr="Account, profile, user, avatar, human, man, person">
            <a:extLst>
              <a:ext uri="{FF2B5EF4-FFF2-40B4-BE49-F238E27FC236}">
                <a16:creationId xmlns:a16="http://schemas.microsoft.com/office/drawing/2014/main" id="{C87D82B4-5CB3-AE34-5F46-6C9EBFE0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57" y="5059817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03" name="Picture 6" descr="Hand, finger, gesture">
            <a:extLst>
              <a:ext uri="{FF2B5EF4-FFF2-40B4-BE49-F238E27FC236}">
                <a16:creationId xmlns:a16="http://schemas.microsoft.com/office/drawing/2014/main" id="{87F782B9-E8ED-A3C0-3EDD-80252098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1794606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10" name="Cilindro 7309">
            <a:extLst>
              <a:ext uri="{FF2B5EF4-FFF2-40B4-BE49-F238E27FC236}">
                <a16:creationId xmlns:a16="http://schemas.microsoft.com/office/drawing/2014/main" id="{E3CDFFCF-4D0F-6C6F-58A9-0F997D3BFE04}"/>
              </a:ext>
            </a:extLst>
          </p:cNvPr>
          <p:cNvSpPr/>
          <p:nvPr/>
        </p:nvSpPr>
        <p:spPr>
          <a:xfrm>
            <a:off x="8719023" y="4549717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SAP</a:t>
            </a:r>
          </a:p>
        </p:txBody>
      </p:sp>
      <p:cxnSp>
        <p:nvCxnSpPr>
          <p:cNvPr id="7314" name="Conector angular 7313">
            <a:extLst>
              <a:ext uri="{FF2B5EF4-FFF2-40B4-BE49-F238E27FC236}">
                <a16:creationId xmlns:a16="http://schemas.microsoft.com/office/drawing/2014/main" id="{0CAEB9DB-F9E0-E4B4-C985-C3C1B845EC96}"/>
              </a:ext>
            </a:extLst>
          </p:cNvPr>
          <p:cNvCxnSpPr>
            <a:stCxn id="7293" idx="0"/>
            <a:endCxn id="7310" idx="2"/>
          </p:cNvCxnSpPr>
          <p:nvPr/>
        </p:nvCxnSpPr>
        <p:spPr>
          <a:xfrm rot="5400000" flipH="1" flipV="1">
            <a:off x="8351766" y="4666287"/>
            <a:ext cx="308897" cy="425617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15" name="Picture 6" descr="Hand, finger, gesture">
            <a:extLst>
              <a:ext uri="{FF2B5EF4-FFF2-40B4-BE49-F238E27FC236}">
                <a16:creationId xmlns:a16="http://schemas.microsoft.com/office/drawing/2014/main" id="{C5287B95-A1FF-F132-85BA-29C5ED10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693460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6" name="Picture 6" descr="Hand, finger, gesture">
            <a:extLst>
              <a:ext uri="{FF2B5EF4-FFF2-40B4-BE49-F238E27FC236}">
                <a16:creationId xmlns:a16="http://schemas.microsoft.com/office/drawing/2014/main" id="{927C3BC2-8FE5-1A25-563C-5C42E45A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57719" y="178014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7" name="Picture 6" descr="Hand, finger, gesture">
            <a:extLst>
              <a:ext uri="{FF2B5EF4-FFF2-40B4-BE49-F238E27FC236}">
                <a16:creationId xmlns:a16="http://schemas.microsoft.com/office/drawing/2014/main" id="{CC847320-E6C1-3743-8B21-D604845F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34738" y="272304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8" name="Picture 6" descr="Hand, finger, gesture">
            <a:extLst>
              <a:ext uri="{FF2B5EF4-FFF2-40B4-BE49-F238E27FC236}">
                <a16:creationId xmlns:a16="http://schemas.microsoft.com/office/drawing/2014/main" id="{34CB2F66-8A2B-E255-A5B9-E893463C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39868" y="364370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9" name="Picture 6" descr="Hand, finger, gesture">
            <a:extLst>
              <a:ext uri="{FF2B5EF4-FFF2-40B4-BE49-F238E27FC236}">
                <a16:creationId xmlns:a16="http://schemas.microsoft.com/office/drawing/2014/main" id="{6B05F70D-8B0D-6AFE-5BA2-A306A9524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87746" y="360973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20" name="Picture 8">
            <a:extLst>
              <a:ext uri="{FF2B5EF4-FFF2-40B4-BE49-F238E27FC236}">
                <a16:creationId xmlns:a16="http://schemas.microsoft.com/office/drawing/2014/main" id="{0577736A-742F-639E-FE40-2D4A20B1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03" y="2886178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21" name="CuadroTexto 7320">
            <a:extLst>
              <a:ext uri="{FF2B5EF4-FFF2-40B4-BE49-F238E27FC236}">
                <a16:creationId xmlns:a16="http://schemas.microsoft.com/office/drawing/2014/main" id="{224D39F9-FAEA-C94D-B5FA-4B1CD12ED6AE}"/>
              </a:ext>
            </a:extLst>
          </p:cNvPr>
          <p:cNvSpPr txBox="1"/>
          <p:nvPr/>
        </p:nvSpPr>
        <p:spPr>
          <a:xfrm>
            <a:off x="3079405" y="3016588"/>
            <a:ext cx="14927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Candidato.docx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sp>
        <p:nvSpPr>
          <p:cNvPr id="7324" name="CuadroTexto 7323">
            <a:extLst>
              <a:ext uri="{FF2B5EF4-FFF2-40B4-BE49-F238E27FC236}">
                <a16:creationId xmlns:a16="http://schemas.microsoft.com/office/drawing/2014/main" id="{0147E9D1-DC7C-15AB-ABC6-1711451054F4}"/>
              </a:ext>
            </a:extLst>
          </p:cNvPr>
          <p:cNvSpPr txBox="1"/>
          <p:nvPr/>
        </p:nvSpPr>
        <p:spPr>
          <a:xfrm>
            <a:off x="6771491" y="1761718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5" name="CuadroTexto 7324">
            <a:extLst>
              <a:ext uri="{FF2B5EF4-FFF2-40B4-BE49-F238E27FC236}">
                <a16:creationId xmlns:a16="http://schemas.microsoft.com/office/drawing/2014/main" id="{D026E0D4-F78D-5C66-2A3D-86F10B862C07}"/>
              </a:ext>
            </a:extLst>
          </p:cNvPr>
          <p:cNvSpPr txBox="1"/>
          <p:nvPr/>
        </p:nvSpPr>
        <p:spPr>
          <a:xfrm>
            <a:off x="8634201" y="47438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6" name="CuadroTexto 7325">
            <a:extLst>
              <a:ext uri="{FF2B5EF4-FFF2-40B4-BE49-F238E27FC236}">
                <a16:creationId xmlns:a16="http://schemas.microsoft.com/office/drawing/2014/main" id="{A0C3E2C9-FCC1-ED22-3CCE-9A5F3F0036A1}"/>
              </a:ext>
            </a:extLst>
          </p:cNvPr>
          <p:cNvSpPr txBox="1"/>
          <p:nvPr/>
        </p:nvSpPr>
        <p:spPr>
          <a:xfrm>
            <a:off x="9021689" y="109348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sp>
        <p:nvSpPr>
          <p:cNvPr id="7328" name="CuadroTexto 7327">
            <a:extLst>
              <a:ext uri="{FF2B5EF4-FFF2-40B4-BE49-F238E27FC236}">
                <a16:creationId xmlns:a16="http://schemas.microsoft.com/office/drawing/2014/main" id="{AFAC0600-A70D-A88A-E9CE-040D8040CBF8}"/>
              </a:ext>
            </a:extLst>
          </p:cNvPr>
          <p:cNvSpPr txBox="1"/>
          <p:nvPr/>
        </p:nvSpPr>
        <p:spPr>
          <a:xfrm>
            <a:off x="7616933" y="130029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cxnSp>
        <p:nvCxnSpPr>
          <p:cNvPr id="7342" name="Conector angular 7341">
            <a:extLst>
              <a:ext uri="{FF2B5EF4-FFF2-40B4-BE49-F238E27FC236}">
                <a16:creationId xmlns:a16="http://schemas.microsoft.com/office/drawing/2014/main" id="{3EB5C188-DAAA-4096-90DE-2D189CDCD0CC}"/>
              </a:ext>
            </a:extLst>
          </p:cNvPr>
          <p:cNvCxnSpPr>
            <a:endCxn id="7170" idx="3"/>
          </p:cNvCxnSpPr>
          <p:nvPr/>
        </p:nvCxnSpPr>
        <p:spPr>
          <a:xfrm rot="5400000">
            <a:off x="2598796" y="2266452"/>
            <a:ext cx="245785" cy="209024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3" name="Conector angular 7342">
            <a:extLst>
              <a:ext uri="{FF2B5EF4-FFF2-40B4-BE49-F238E27FC236}">
                <a16:creationId xmlns:a16="http://schemas.microsoft.com/office/drawing/2014/main" id="{7F568F78-AF72-2D66-8FAE-AE1F3EC7690F}"/>
              </a:ext>
            </a:extLst>
          </p:cNvPr>
          <p:cNvCxnSpPr>
            <a:cxnSpLocks/>
            <a:endCxn id="7266" idx="0"/>
          </p:cNvCxnSpPr>
          <p:nvPr/>
        </p:nvCxnSpPr>
        <p:spPr>
          <a:xfrm>
            <a:off x="2994538" y="805844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4" name="Conector angular 7343">
            <a:extLst>
              <a:ext uri="{FF2B5EF4-FFF2-40B4-BE49-F238E27FC236}">
                <a16:creationId xmlns:a16="http://schemas.microsoft.com/office/drawing/2014/main" id="{B9193EA8-ECB8-AC94-A0F7-564D4B912477}"/>
              </a:ext>
            </a:extLst>
          </p:cNvPr>
          <p:cNvCxnSpPr>
            <a:cxnSpLocks/>
            <a:stCxn id="7320" idx="0"/>
          </p:cNvCxnSpPr>
          <p:nvPr/>
        </p:nvCxnSpPr>
        <p:spPr>
          <a:xfrm rot="5400000" flipH="1" flipV="1">
            <a:off x="4771530" y="2727860"/>
            <a:ext cx="88083" cy="228555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49" name="Picture 6" descr="Hand, finger, gesture">
            <a:extLst>
              <a:ext uri="{FF2B5EF4-FFF2-40B4-BE49-F238E27FC236}">
                <a16:creationId xmlns:a16="http://schemas.microsoft.com/office/drawing/2014/main" id="{429A1DCF-D11A-8F54-6EC8-C3DD26AC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49313" y="177652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0" name="Picture 6" descr="Hand, finger, gesture">
            <a:extLst>
              <a:ext uri="{FF2B5EF4-FFF2-40B4-BE49-F238E27FC236}">
                <a16:creationId xmlns:a16="http://schemas.microsoft.com/office/drawing/2014/main" id="{0D261F7F-B551-248D-9521-E4645D0A9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60740" y="3604048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51" name="CuadroTexto 7350">
            <a:extLst>
              <a:ext uri="{FF2B5EF4-FFF2-40B4-BE49-F238E27FC236}">
                <a16:creationId xmlns:a16="http://schemas.microsoft.com/office/drawing/2014/main" id="{EFC11607-3AFA-1339-ED50-D5430813B271}"/>
              </a:ext>
            </a:extLst>
          </p:cNvPr>
          <p:cNvSpPr txBox="1"/>
          <p:nvPr/>
        </p:nvSpPr>
        <p:spPr>
          <a:xfrm>
            <a:off x="107978" y="35073"/>
            <a:ext cx="966356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</a:rPr>
              <a:t>HR12.Proceso </a:t>
            </a:r>
            <a:r>
              <a:rPr lang="es-ES_tradnl" sz="1400" b="1" dirty="0" err="1">
                <a:solidFill>
                  <a:schemeClr val="bg1"/>
                </a:solidFill>
              </a:rPr>
              <a:t>Hire</a:t>
            </a:r>
            <a:r>
              <a:rPr lang="es-ES_tradnl" sz="1400" b="1" dirty="0">
                <a:solidFill>
                  <a:schemeClr val="bg1"/>
                </a:solidFill>
              </a:rPr>
              <a:t> </a:t>
            </a:r>
            <a:r>
              <a:rPr lang="es-ES_tradnl" sz="1400" b="1" dirty="0" err="1">
                <a:solidFill>
                  <a:schemeClr val="bg1"/>
                </a:solidFill>
              </a:rPr>
              <a:t>to</a:t>
            </a:r>
            <a:r>
              <a:rPr lang="es-ES_tradnl" sz="1400" b="1" dirty="0">
                <a:solidFill>
                  <a:schemeClr val="bg1"/>
                </a:solidFill>
              </a:rPr>
              <a:t> Retire </a:t>
            </a:r>
            <a:r>
              <a:rPr lang="es-ES_tradnl" sz="1400" b="1" dirty="0">
                <a:solidFill>
                  <a:schemeClr val="bg1"/>
                </a:solidFill>
                <a:sym typeface="Wingdings" pitchFamily="2" charset="2"/>
              </a:rPr>
              <a:t> HR1201- </a:t>
            </a:r>
            <a:r>
              <a:rPr lang="es-ES_tradnl" sz="1400" b="1" dirty="0">
                <a:solidFill>
                  <a:schemeClr val="bg1"/>
                </a:solidFill>
              </a:rPr>
              <a:t>Selección y Reclutamiento</a:t>
            </a:r>
            <a:endParaRPr lang="es-ES_tradnl" sz="1050" dirty="0">
              <a:solidFill>
                <a:schemeClr val="bg1"/>
              </a:solidFill>
            </a:endParaRPr>
          </a:p>
        </p:txBody>
      </p:sp>
      <p:sp>
        <p:nvSpPr>
          <p:cNvPr id="7352" name="Rectángulo 7351">
            <a:extLst>
              <a:ext uri="{FF2B5EF4-FFF2-40B4-BE49-F238E27FC236}">
                <a16:creationId xmlns:a16="http://schemas.microsoft.com/office/drawing/2014/main" id="{DB334EF8-6484-4AE1-BAFE-C2482534F7A8}"/>
              </a:ext>
            </a:extLst>
          </p:cNvPr>
          <p:cNvSpPr/>
          <p:nvPr/>
        </p:nvSpPr>
        <p:spPr>
          <a:xfrm>
            <a:off x="828831" y="5774020"/>
            <a:ext cx="8942715" cy="999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53" name="Rectángulo 7352">
            <a:extLst>
              <a:ext uri="{FF2B5EF4-FFF2-40B4-BE49-F238E27FC236}">
                <a16:creationId xmlns:a16="http://schemas.microsoft.com/office/drawing/2014/main" id="{EB482C54-E8F3-BA04-E334-D4A8544E7802}"/>
              </a:ext>
            </a:extLst>
          </p:cNvPr>
          <p:cNvSpPr/>
          <p:nvPr/>
        </p:nvSpPr>
        <p:spPr>
          <a:xfrm rot="16200000">
            <a:off x="-49363" y="5947558"/>
            <a:ext cx="99900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Director RRHH</a:t>
            </a:r>
          </a:p>
        </p:txBody>
      </p:sp>
      <p:sp>
        <p:nvSpPr>
          <p:cNvPr id="7354" name="CuadroTexto 7353">
            <a:extLst>
              <a:ext uri="{FF2B5EF4-FFF2-40B4-BE49-F238E27FC236}">
                <a16:creationId xmlns:a16="http://schemas.microsoft.com/office/drawing/2014/main" id="{6438D7A5-FE45-DF56-C484-F31F5AED91A3}"/>
              </a:ext>
            </a:extLst>
          </p:cNvPr>
          <p:cNvSpPr txBox="1"/>
          <p:nvPr/>
        </p:nvSpPr>
        <p:spPr>
          <a:xfrm>
            <a:off x="4814808" y="5877568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Firma de Contrato</a:t>
            </a:r>
          </a:p>
        </p:txBody>
      </p:sp>
      <p:cxnSp>
        <p:nvCxnSpPr>
          <p:cNvPr id="7361" name="Conector angular 7360">
            <a:extLst>
              <a:ext uri="{FF2B5EF4-FFF2-40B4-BE49-F238E27FC236}">
                <a16:creationId xmlns:a16="http://schemas.microsoft.com/office/drawing/2014/main" id="{C1E8C0A7-7D8B-07A2-3A60-A5A3E6494E6E}"/>
              </a:ext>
            </a:extLst>
          </p:cNvPr>
          <p:cNvCxnSpPr>
            <a:stCxn id="7354" idx="3"/>
            <a:endCxn id="7282" idx="2"/>
          </p:cNvCxnSpPr>
          <p:nvPr/>
        </p:nvCxnSpPr>
        <p:spPr>
          <a:xfrm flipV="1">
            <a:off x="6253995" y="5518287"/>
            <a:ext cx="354307" cy="6016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62" name="Picture 6" descr="Hand, finger, gesture">
            <a:extLst>
              <a:ext uri="{FF2B5EF4-FFF2-40B4-BE49-F238E27FC236}">
                <a16:creationId xmlns:a16="http://schemas.microsoft.com/office/drawing/2014/main" id="{A3FF5112-3BA2-41BF-DBB3-840D0AFA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51868" y="591136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3" name="Picture 8">
            <a:extLst>
              <a:ext uri="{FF2B5EF4-FFF2-40B4-BE49-F238E27FC236}">
                <a16:creationId xmlns:a16="http://schemas.microsoft.com/office/drawing/2014/main" id="{BAD3BF62-5C33-4881-1A66-9C40BBE8F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084" y="3539866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64" name="CuadroTexto 7363">
            <a:extLst>
              <a:ext uri="{FF2B5EF4-FFF2-40B4-BE49-F238E27FC236}">
                <a16:creationId xmlns:a16="http://schemas.microsoft.com/office/drawing/2014/main" id="{3D5A94CE-9EFC-7FC4-4D7A-C4002B2F8D8E}"/>
              </a:ext>
            </a:extLst>
          </p:cNvPr>
          <p:cNvSpPr txBox="1"/>
          <p:nvPr/>
        </p:nvSpPr>
        <p:spPr>
          <a:xfrm>
            <a:off x="6263767" y="3879824"/>
            <a:ext cx="16401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Contratación.docx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cxnSp>
        <p:nvCxnSpPr>
          <p:cNvPr id="7367" name="Conector angular 7366">
            <a:extLst>
              <a:ext uri="{FF2B5EF4-FFF2-40B4-BE49-F238E27FC236}">
                <a16:creationId xmlns:a16="http://schemas.microsoft.com/office/drawing/2014/main" id="{7C9D6392-E6AC-75F0-6BA3-C93031C9BD32}"/>
              </a:ext>
            </a:extLst>
          </p:cNvPr>
          <p:cNvCxnSpPr>
            <a:stCxn id="7276" idx="2"/>
            <a:endCxn id="7354" idx="0"/>
          </p:cNvCxnSpPr>
          <p:nvPr/>
        </p:nvCxnSpPr>
        <p:spPr>
          <a:xfrm rot="5400000">
            <a:off x="4626278" y="4969442"/>
            <a:ext cx="181625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AA02559F-D2E1-18AD-F316-66C00E44ED06}"/>
              </a:ext>
            </a:extLst>
          </p:cNvPr>
          <p:cNvSpPr/>
          <p:nvPr/>
        </p:nvSpPr>
        <p:spPr>
          <a:xfrm>
            <a:off x="1145392" y="3527196"/>
            <a:ext cx="1535815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3459FF-5BF2-1BA0-8BBB-ECC4E2F342FB}"/>
              </a:ext>
            </a:extLst>
          </p:cNvPr>
          <p:cNvSpPr txBox="1"/>
          <p:nvPr/>
        </p:nvSpPr>
        <p:spPr>
          <a:xfrm>
            <a:off x="1151824" y="4855406"/>
            <a:ext cx="3360358" cy="73866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Mal Diseño</a:t>
            </a:r>
            <a:endParaRPr lang="es-ES_tradnl" sz="1400" dirty="0">
              <a:solidFill>
                <a:schemeClr val="bg1"/>
              </a:solidFill>
            </a:endParaRPr>
          </a:p>
          <a:p>
            <a:pPr algn="ctr"/>
            <a:r>
              <a:rPr lang="es-ES_tradnl" sz="1400" dirty="0">
                <a:solidFill>
                  <a:schemeClr val="bg1"/>
                </a:solidFill>
              </a:rPr>
              <a:t>La actividad de control no tiene ninguna consecuencia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F7F0A49-3ED0-EA81-FACA-41C9923CF6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500" y="4182141"/>
            <a:ext cx="7772400" cy="590308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208942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8" name="Rectángulo 7337">
            <a:extLst>
              <a:ext uri="{FF2B5EF4-FFF2-40B4-BE49-F238E27FC236}">
                <a16:creationId xmlns:a16="http://schemas.microsoft.com/office/drawing/2014/main" id="{20E7EB5A-5051-36B6-423A-BD37F66BB186}"/>
              </a:ext>
            </a:extLst>
          </p:cNvPr>
          <p:cNvSpPr/>
          <p:nvPr/>
        </p:nvSpPr>
        <p:spPr>
          <a:xfrm>
            <a:off x="-5832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1" name="Rectángulo 7330">
            <a:extLst>
              <a:ext uri="{FF2B5EF4-FFF2-40B4-BE49-F238E27FC236}">
                <a16:creationId xmlns:a16="http://schemas.microsoft.com/office/drawing/2014/main" id="{5FDA60CE-0F41-2286-BCD5-9FF3888A107B}"/>
              </a:ext>
            </a:extLst>
          </p:cNvPr>
          <p:cNvSpPr/>
          <p:nvPr/>
        </p:nvSpPr>
        <p:spPr>
          <a:xfrm>
            <a:off x="822437" y="4329950"/>
            <a:ext cx="8942715" cy="13835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330" name="Rectángulo 7329">
            <a:extLst>
              <a:ext uri="{FF2B5EF4-FFF2-40B4-BE49-F238E27FC236}">
                <a16:creationId xmlns:a16="http://schemas.microsoft.com/office/drawing/2014/main" id="{BFC97442-46C2-2A72-D98C-C1FA720F21FA}"/>
              </a:ext>
            </a:extLst>
          </p:cNvPr>
          <p:cNvSpPr/>
          <p:nvPr/>
        </p:nvSpPr>
        <p:spPr>
          <a:xfrm>
            <a:off x="828831" y="1598564"/>
            <a:ext cx="8942715" cy="2661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29" name="Rectángulo 7328">
            <a:extLst>
              <a:ext uri="{FF2B5EF4-FFF2-40B4-BE49-F238E27FC236}">
                <a16:creationId xmlns:a16="http://schemas.microsoft.com/office/drawing/2014/main" id="{E33CDE91-39BA-BBCD-53B7-B711A9F90E5A}"/>
              </a:ext>
            </a:extLst>
          </p:cNvPr>
          <p:cNvSpPr/>
          <p:nvPr/>
        </p:nvSpPr>
        <p:spPr>
          <a:xfrm>
            <a:off x="828832" y="372525"/>
            <a:ext cx="8942715" cy="117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041685-4211-71C2-9F3F-7D94EBE7BB44}"/>
              </a:ext>
            </a:extLst>
          </p:cNvPr>
          <p:cNvSpPr/>
          <p:nvPr/>
        </p:nvSpPr>
        <p:spPr>
          <a:xfrm rot="16200000">
            <a:off x="-144567" y="634872"/>
            <a:ext cx="117662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Área Usuaria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Solicitante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179691-48D1-C7D5-94AB-97E5933FE172}"/>
              </a:ext>
            </a:extLst>
          </p:cNvPr>
          <p:cNvSpPr/>
          <p:nvPr/>
        </p:nvSpPr>
        <p:spPr>
          <a:xfrm>
            <a:off x="900391" y="809129"/>
            <a:ext cx="313266" cy="2878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95854C-760C-B3CE-976B-44FDEE632C3F}"/>
              </a:ext>
            </a:extLst>
          </p:cNvPr>
          <p:cNvSpPr txBox="1"/>
          <p:nvPr/>
        </p:nvSpPr>
        <p:spPr>
          <a:xfrm>
            <a:off x="1557186" y="1756420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Requerimiento de Candidatos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32E2E-694C-43AF-F611-14BF9440B06E}"/>
              </a:ext>
            </a:extLst>
          </p:cNvPr>
          <p:cNvSpPr txBox="1"/>
          <p:nvPr/>
        </p:nvSpPr>
        <p:spPr>
          <a:xfrm>
            <a:off x="1557186" y="673624"/>
            <a:ext cx="1439187" cy="552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Solicitud de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Requerimiento de Candidatos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46CB5C-0563-CD3E-5E2E-50157CA43F77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 flipV="1">
            <a:off x="1213657" y="949979"/>
            <a:ext cx="343529" cy="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011220-994E-58D8-12B9-6683BF6A192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2276780" y="1226334"/>
            <a:ext cx="0" cy="530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E4CC33-75CF-0BD6-B3A7-B315E673A13B}"/>
              </a:ext>
            </a:extLst>
          </p:cNvPr>
          <p:cNvSpPr/>
          <p:nvPr/>
        </p:nvSpPr>
        <p:spPr>
          <a:xfrm rot="16200000">
            <a:off x="-884475" y="2603154"/>
            <a:ext cx="2661113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Desarrollo Organizacional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4EEBC56-DFCF-E1F8-0591-9B938B96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007" y="2306920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22245F2-838A-491E-00D5-CC91547E9642}"/>
              </a:ext>
            </a:extLst>
          </p:cNvPr>
          <p:cNvSpPr txBox="1"/>
          <p:nvPr/>
        </p:nvSpPr>
        <p:spPr>
          <a:xfrm>
            <a:off x="990260" y="2287567"/>
            <a:ext cx="1204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BD de RQ-2024.xlsx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27360A-E6D7-BFA7-E366-F582906D1D84}"/>
              </a:ext>
            </a:extLst>
          </p:cNvPr>
          <p:cNvSpPr txBox="1"/>
          <p:nvPr/>
        </p:nvSpPr>
        <p:spPr>
          <a:xfrm>
            <a:off x="3220071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Publicación de Vacante en Medios Digitales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CC4FD16-4D43-CB5C-829F-F3E179674225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 flipV="1">
            <a:off x="2996373" y="2002245"/>
            <a:ext cx="22369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F1E80D7-522D-C12B-7261-022308BCEC4A}"/>
              </a:ext>
            </a:extLst>
          </p:cNvPr>
          <p:cNvSpPr txBox="1"/>
          <p:nvPr/>
        </p:nvSpPr>
        <p:spPr>
          <a:xfrm>
            <a:off x="4931918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Recepción de Hojas de Vida y Filtro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B3BB4DE-724E-B00E-51C1-56F841AADB36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4659258" y="2002245"/>
            <a:ext cx="272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8130FA-2191-041C-D38A-7802115E83A3}"/>
              </a:ext>
            </a:extLst>
          </p:cNvPr>
          <p:cNvSpPr txBox="1"/>
          <p:nvPr/>
        </p:nvSpPr>
        <p:spPr>
          <a:xfrm>
            <a:off x="4931918" y="269093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Entrevistas y Llenado de Ficha de Candidato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0A727EA-CD2E-7F3D-5DD9-A923B0D79B83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5651512" y="2248072"/>
            <a:ext cx="0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C517EC-706D-AD1E-A15B-D623FDE96247}"/>
              </a:ext>
            </a:extLst>
          </p:cNvPr>
          <p:cNvSpPr txBox="1"/>
          <p:nvPr/>
        </p:nvSpPr>
        <p:spPr>
          <a:xfrm>
            <a:off x="6867466" y="2690930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Psicométricas (Presencial)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364C961-7DB4-D19A-CF8E-FD37AC3BB114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6371105" y="2933302"/>
            <a:ext cx="496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5" name="Rombo 7184">
            <a:extLst>
              <a:ext uri="{FF2B5EF4-FFF2-40B4-BE49-F238E27FC236}">
                <a16:creationId xmlns:a16="http://schemas.microsoft.com/office/drawing/2014/main" id="{0240C84E-ED78-25F2-E418-E79E7BDEB562}"/>
              </a:ext>
            </a:extLst>
          </p:cNvPr>
          <p:cNvSpPr/>
          <p:nvPr/>
        </p:nvSpPr>
        <p:spPr>
          <a:xfrm>
            <a:off x="7258868" y="1783103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187" name="Conector recto de flecha 7186">
            <a:extLst>
              <a:ext uri="{FF2B5EF4-FFF2-40B4-BE49-F238E27FC236}">
                <a16:creationId xmlns:a16="http://schemas.microsoft.com/office/drawing/2014/main" id="{DD994B2F-7E53-E5C0-315C-3F9FEB538246}"/>
              </a:ext>
            </a:extLst>
          </p:cNvPr>
          <p:cNvCxnSpPr>
            <a:cxnSpLocks/>
          </p:cNvCxnSpPr>
          <p:nvPr/>
        </p:nvCxnSpPr>
        <p:spPr>
          <a:xfrm flipH="1" flipV="1">
            <a:off x="7610911" y="2248072"/>
            <a:ext cx="6022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9" name="Conector recto de flecha 7188">
            <a:extLst>
              <a:ext uri="{FF2B5EF4-FFF2-40B4-BE49-F238E27FC236}">
                <a16:creationId xmlns:a16="http://schemas.microsoft.com/office/drawing/2014/main" id="{036C4CD7-B877-1EB6-5A94-F03CC1771E09}"/>
              </a:ext>
            </a:extLst>
          </p:cNvPr>
          <p:cNvCxnSpPr>
            <a:cxnSpLocks/>
            <a:stCxn id="7185" idx="1"/>
            <a:endCxn id="35" idx="3"/>
          </p:cNvCxnSpPr>
          <p:nvPr/>
        </p:nvCxnSpPr>
        <p:spPr>
          <a:xfrm flipH="1" flipV="1">
            <a:off x="6371105" y="2002245"/>
            <a:ext cx="887763" cy="1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4" name="CuadroTexto 7193">
            <a:extLst>
              <a:ext uri="{FF2B5EF4-FFF2-40B4-BE49-F238E27FC236}">
                <a16:creationId xmlns:a16="http://schemas.microsoft.com/office/drawing/2014/main" id="{A45069A6-9C5C-9499-A0D9-42387D5FFD3E}"/>
              </a:ext>
            </a:extLst>
          </p:cNvPr>
          <p:cNvSpPr txBox="1"/>
          <p:nvPr/>
        </p:nvSpPr>
        <p:spPr>
          <a:xfrm>
            <a:off x="6891317" y="647988"/>
            <a:ext cx="1439187" cy="5211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 con Solicitante</a:t>
            </a:r>
          </a:p>
        </p:txBody>
      </p:sp>
      <p:cxnSp>
        <p:nvCxnSpPr>
          <p:cNvPr id="7195" name="Conector recto de flecha 7194">
            <a:extLst>
              <a:ext uri="{FF2B5EF4-FFF2-40B4-BE49-F238E27FC236}">
                <a16:creationId xmlns:a16="http://schemas.microsoft.com/office/drawing/2014/main" id="{49F53781-5CAE-A516-28F2-DEE60E077BCF}"/>
              </a:ext>
            </a:extLst>
          </p:cNvPr>
          <p:cNvCxnSpPr>
            <a:cxnSpLocks/>
            <a:stCxn id="7185" idx="0"/>
          </p:cNvCxnSpPr>
          <p:nvPr/>
        </p:nvCxnSpPr>
        <p:spPr>
          <a:xfrm flipV="1">
            <a:off x="7610911" y="1169178"/>
            <a:ext cx="0" cy="61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9" name="CuadroTexto 7198">
            <a:extLst>
              <a:ext uri="{FF2B5EF4-FFF2-40B4-BE49-F238E27FC236}">
                <a16:creationId xmlns:a16="http://schemas.microsoft.com/office/drawing/2014/main" id="{3DA02FEB-1400-AE79-F4CA-AE05AFFE20F5}"/>
              </a:ext>
            </a:extLst>
          </p:cNvPr>
          <p:cNvSpPr txBox="1"/>
          <p:nvPr/>
        </p:nvSpPr>
        <p:spPr>
          <a:xfrm>
            <a:off x="1188562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Validación de Referencias Crediticias</a:t>
            </a:r>
          </a:p>
        </p:txBody>
      </p:sp>
      <p:sp>
        <p:nvSpPr>
          <p:cNvPr id="7201" name="Rombo 7200">
            <a:extLst>
              <a:ext uri="{FF2B5EF4-FFF2-40B4-BE49-F238E27FC236}">
                <a16:creationId xmlns:a16="http://schemas.microsoft.com/office/drawing/2014/main" id="{EF585719-B760-A389-A1A6-9A9B3A3CCC18}"/>
              </a:ext>
            </a:extLst>
          </p:cNvPr>
          <p:cNvSpPr/>
          <p:nvPr/>
        </p:nvSpPr>
        <p:spPr>
          <a:xfrm>
            <a:off x="8667576" y="673625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02" name="Conector recto de flecha 7201">
            <a:extLst>
              <a:ext uri="{FF2B5EF4-FFF2-40B4-BE49-F238E27FC236}">
                <a16:creationId xmlns:a16="http://schemas.microsoft.com/office/drawing/2014/main" id="{CE6FF1D8-F68E-7F48-762A-C2101C559E28}"/>
              </a:ext>
            </a:extLst>
          </p:cNvPr>
          <p:cNvCxnSpPr>
            <a:cxnSpLocks/>
            <a:stCxn id="7194" idx="3"/>
            <a:endCxn id="7201" idx="1"/>
          </p:cNvCxnSpPr>
          <p:nvPr/>
        </p:nvCxnSpPr>
        <p:spPr>
          <a:xfrm flipV="1">
            <a:off x="8330504" y="906110"/>
            <a:ext cx="337072" cy="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0" name="Conector angular 7219">
            <a:extLst>
              <a:ext uri="{FF2B5EF4-FFF2-40B4-BE49-F238E27FC236}">
                <a16:creationId xmlns:a16="http://schemas.microsoft.com/office/drawing/2014/main" id="{34E84BF1-E801-0064-B550-B25DB745D327}"/>
              </a:ext>
            </a:extLst>
          </p:cNvPr>
          <p:cNvCxnSpPr>
            <a:cxnSpLocks/>
            <a:stCxn id="7201" idx="0"/>
            <a:endCxn id="35" idx="0"/>
          </p:cNvCxnSpPr>
          <p:nvPr/>
        </p:nvCxnSpPr>
        <p:spPr>
          <a:xfrm rot="16200000" flipH="1" flipV="1">
            <a:off x="6794169" y="-469033"/>
            <a:ext cx="1082793" cy="3368107"/>
          </a:xfrm>
          <a:prstGeom prst="bentConnector3">
            <a:avLst>
              <a:gd name="adj1" fmla="val -21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3" name="Conector angular 7222">
            <a:extLst>
              <a:ext uri="{FF2B5EF4-FFF2-40B4-BE49-F238E27FC236}">
                <a16:creationId xmlns:a16="http://schemas.microsoft.com/office/drawing/2014/main" id="{590FB989-7AD0-9DC5-782E-0D518FB3185A}"/>
              </a:ext>
            </a:extLst>
          </p:cNvPr>
          <p:cNvCxnSpPr>
            <a:cxnSpLocks/>
            <a:stCxn id="7201" idx="2"/>
            <a:endCxn id="7199" idx="0"/>
          </p:cNvCxnSpPr>
          <p:nvPr/>
        </p:nvCxnSpPr>
        <p:spPr>
          <a:xfrm rot="5400000">
            <a:off x="4244899" y="-1198148"/>
            <a:ext cx="2437979" cy="7111463"/>
          </a:xfrm>
          <a:prstGeom prst="bentConnector3">
            <a:avLst>
              <a:gd name="adj1" fmla="val 910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66" name="Picture 2">
            <a:extLst>
              <a:ext uri="{FF2B5EF4-FFF2-40B4-BE49-F238E27FC236}">
                <a16:creationId xmlns:a16="http://schemas.microsoft.com/office/drawing/2014/main" id="{AD3C54F7-054D-91A0-699D-2E0F3CD9C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222" y="940292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67" name="CuadroTexto 7266">
            <a:extLst>
              <a:ext uri="{FF2B5EF4-FFF2-40B4-BE49-F238E27FC236}">
                <a16:creationId xmlns:a16="http://schemas.microsoft.com/office/drawing/2014/main" id="{31211F81-6FB3-655C-7A3B-734EEF1F1A27}"/>
              </a:ext>
            </a:extLst>
          </p:cNvPr>
          <p:cNvSpPr txBox="1"/>
          <p:nvPr/>
        </p:nvSpPr>
        <p:spPr>
          <a:xfrm>
            <a:off x="2499117" y="1268586"/>
            <a:ext cx="10903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Formato de Perfil</a:t>
            </a:r>
          </a:p>
        </p:txBody>
      </p:sp>
      <p:sp>
        <p:nvSpPr>
          <p:cNvPr id="7272" name="CuadroTexto 7271">
            <a:extLst>
              <a:ext uri="{FF2B5EF4-FFF2-40B4-BE49-F238E27FC236}">
                <a16:creationId xmlns:a16="http://schemas.microsoft.com/office/drawing/2014/main" id="{F4B1FECB-558F-50F5-60F7-43165D3CF091}"/>
              </a:ext>
            </a:extLst>
          </p:cNvPr>
          <p:cNvSpPr txBox="1"/>
          <p:nvPr/>
        </p:nvSpPr>
        <p:spPr>
          <a:xfrm>
            <a:off x="3024651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Elaboración de Contrato</a:t>
            </a:r>
          </a:p>
        </p:txBody>
      </p:sp>
      <p:cxnSp>
        <p:nvCxnSpPr>
          <p:cNvPr id="7273" name="Conector recto de flecha 7272">
            <a:extLst>
              <a:ext uri="{FF2B5EF4-FFF2-40B4-BE49-F238E27FC236}">
                <a16:creationId xmlns:a16="http://schemas.microsoft.com/office/drawing/2014/main" id="{342CF633-5649-8810-068C-8F823A83D58B}"/>
              </a:ext>
            </a:extLst>
          </p:cNvPr>
          <p:cNvCxnSpPr>
            <a:cxnSpLocks/>
            <a:stCxn id="7199" idx="3"/>
            <a:endCxn id="7272" idx="1"/>
          </p:cNvCxnSpPr>
          <p:nvPr/>
        </p:nvCxnSpPr>
        <p:spPr>
          <a:xfrm>
            <a:off x="2627749" y="3818945"/>
            <a:ext cx="396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6" name="CuadroTexto 7275">
            <a:extLst>
              <a:ext uri="{FF2B5EF4-FFF2-40B4-BE49-F238E27FC236}">
                <a16:creationId xmlns:a16="http://schemas.microsoft.com/office/drawing/2014/main" id="{3AC59DD0-E8BE-6DEB-8B80-0CA1A84CC144}"/>
              </a:ext>
            </a:extLst>
          </p:cNvPr>
          <p:cNvSpPr txBox="1"/>
          <p:nvPr/>
        </p:nvSpPr>
        <p:spPr>
          <a:xfrm>
            <a:off x="4814809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Preparación del Expediente para Inducción</a:t>
            </a:r>
          </a:p>
        </p:txBody>
      </p:sp>
      <p:cxnSp>
        <p:nvCxnSpPr>
          <p:cNvPr id="7277" name="Conector recto de flecha 7276">
            <a:extLst>
              <a:ext uri="{FF2B5EF4-FFF2-40B4-BE49-F238E27FC236}">
                <a16:creationId xmlns:a16="http://schemas.microsoft.com/office/drawing/2014/main" id="{D450196B-EEF9-EEB5-0B90-5289B40A8C85}"/>
              </a:ext>
            </a:extLst>
          </p:cNvPr>
          <p:cNvCxnSpPr>
            <a:cxnSpLocks/>
            <a:stCxn id="7272" idx="3"/>
            <a:endCxn id="7276" idx="1"/>
          </p:cNvCxnSpPr>
          <p:nvPr/>
        </p:nvCxnSpPr>
        <p:spPr>
          <a:xfrm>
            <a:off x="4463838" y="3818945"/>
            <a:ext cx="350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0" name="Rectángulo 7279">
            <a:extLst>
              <a:ext uri="{FF2B5EF4-FFF2-40B4-BE49-F238E27FC236}">
                <a16:creationId xmlns:a16="http://schemas.microsoft.com/office/drawing/2014/main" id="{32506046-B594-41E3-8D8B-CB46306F2DFA}"/>
              </a:ext>
            </a:extLst>
          </p:cNvPr>
          <p:cNvSpPr/>
          <p:nvPr/>
        </p:nvSpPr>
        <p:spPr>
          <a:xfrm rot="16200000">
            <a:off x="-248018" y="4705525"/>
            <a:ext cx="1383530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Nómina</a:t>
            </a:r>
          </a:p>
        </p:txBody>
      </p:sp>
      <p:sp>
        <p:nvSpPr>
          <p:cNvPr id="7282" name="CuadroTexto 7281">
            <a:extLst>
              <a:ext uri="{FF2B5EF4-FFF2-40B4-BE49-F238E27FC236}">
                <a16:creationId xmlns:a16="http://schemas.microsoft.com/office/drawing/2014/main" id="{5E9C4721-7BBA-C1F7-A67D-EF016F4045E3}"/>
              </a:ext>
            </a:extLst>
          </p:cNvPr>
          <p:cNvSpPr txBox="1"/>
          <p:nvPr/>
        </p:nvSpPr>
        <p:spPr>
          <a:xfrm>
            <a:off x="5888708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Inducción de Políticas Laborales</a:t>
            </a:r>
          </a:p>
        </p:txBody>
      </p:sp>
      <p:sp>
        <p:nvSpPr>
          <p:cNvPr id="7293" name="CuadroTexto 7292">
            <a:extLst>
              <a:ext uri="{FF2B5EF4-FFF2-40B4-BE49-F238E27FC236}">
                <a16:creationId xmlns:a16="http://schemas.microsoft.com/office/drawing/2014/main" id="{C509F8E0-B3FB-D3CE-08EF-A2EB36DEC240}"/>
              </a:ext>
            </a:extLst>
          </p:cNvPr>
          <p:cNvSpPr txBox="1"/>
          <p:nvPr/>
        </p:nvSpPr>
        <p:spPr>
          <a:xfrm>
            <a:off x="7573812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Datos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del Colaborador</a:t>
            </a:r>
          </a:p>
        </p:txBody>
      </p:sp>
      <p:cxnSp>
        <p:nvCxnSpPr>
          <p:cNvPr id="7294" name="Conector recto de flecha 7293">
            <a:extLst>
              <a:ext uri="{FF2B5EF4-FFF2-40B4-BE49-F238E27FC236}">
                <a16:creationId xmlns:a16="http://schemas.microsoft.com/office/drawing/2014/main" id="{789D129D-C3FB-9443-B329-B02D1563FD75}"/>
              </a:ext>
            </a:extLst>
          </p:cNvPr>
          <p:cNvCxnSpPr>
            <a:cxnSpLocks/>
            <a:stCxn id="7282" idx="3"/>
            <a:endCxn id="7293" idx="1"/>
          </p:cNvCxnSpPr>
          <p:nvPr/>
        </p:nvCxnSpPr>
        <p:spPr>
          <a:xfrm>
            <a:off x="7327895" y="5275915"/>
            <a:ext cx="245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7" name="Elipse 7296">
            <a:extLst>
              <a:ext uri="{FF2B5EF4-FFF2-40B4-BE49-F238E27FC236}">
                <a16:creationId xmlns:a16="http://schemas.microsoft.com/office/drawing/2014/main" id="{3F8736F1-5A8A-58D6-AF62-899609E565CF}"/>
              </a:ext>
            </a:extLst>
          </p:cNvPr>
          <p:cNvSpPr/>
          <p:nvPr/>
        </p:nvSpPr>
        <p:spPr>
          <a:xfrm>
            <a:off x="9247746" y="5131981"/>
            <a:ext cx="313266" cy="287867"/>
          </a:xfrm>
          <a:prstGeom prst="ellipse">
            <a:avLst/>
          </a:prstGeom>
          <a:solidFill>
            <a:srgbClr val="F7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298" name="Conector recto de flecha 7297">
            <a:extLst>
              <a:ext uri="{FF2B5EF4-FFF2-40B4-BE49-F238E27FC236}">
                <a16:creationId xmlns:a16="http://schemas.microsoft.com/office/drawing/2014/main" id="{233C4B83-066B-84AE-06CD-4ED56116F806}"/>
              </a:ext>
            </a:extLst>
          </p:cNvPr>
          <p:cNvCxnSpPr>
            <a:cxnSpLocks/>
            <a:stCxn id="7293" idx="3"/>
            <a:endCxn id="7297" idx="2"/>
          </p:cNvCxnSpPr>
          <p:nvPr/>
        </p:nvCxnSpPr>
        <p:spPr>
          <a:xfrm>
            <a:off x="9012999" y="5275915"/>
            <a:ext cx="234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02" name="Picture 4" descr="Account, profile, user, avatar, human, man, person">
            <a:extLst>
              <a:ext uri="{FF2B5EF4-FFF2-40B4-BE49-F238E27FC236}">
                <a16:creationId xmlns:a16="http://schemas.microsoft.com/office/drawing/2014/main" id="{C87D82B4-5CB3-AE34-5F46-6C9EBFE0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57" y="5059817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03" name="Picture 6" descr="Hand, finger, gesture">
            <a:extLst>
              <a:ext uri="{FF2B5EF4-FFF2-40B4-BE49-F238E27FC236}">
                <a16:creationId xmlns:a16="http://schemas.microsoft.com/office/drawing/2014/main" id="{87F782B9-E8ED-A3C0-3EDD-80252098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1794606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10" name="Cilindro 7309">
            <a:extLst>
              <a:ext uri="{FF2B5EF4-FFF2-40B4-BE49-F238E27FC236}">
                <a16:creationId xmlns:a16="http://schemas.microsoft.com/office/drawing/2014/main" id="{E3CDFFCF-4D0F-6C6F-58A9-0F997D3BFE04}"/>
              </a:ext>
            </a:extLst>
          </p:cNvPr>
          <p:cNvSpPr/>
          <p:nvPr/>
        </p:nvSpPr>
        <p:spPr>
          <a:xfrm>
            <a:off x="8719023" y="4549717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SAP</a:t>
            </a:r>
          </a:p>
        </p:txBody>
      </p:sp>
      <p:cxnSp>
        <p:nvCxnSpPr>
          <p:cNvPr id="7314" name="Conector angular 7313">
            <a:extLst>
              <a:ext uri="{FF2B5EF4-FFF2-40B4-BE49-F238E27FC236}">
                <a16:creationId xmlns:a16="http://schemas.microsoft.com/office/drawing/2014/main" id="{0CAEB9DB-F9E0-E4B4-C985-C3C1B845EC96}"/>
              </a:ext>
            </a:extLst>
          </p:cNvPr>
          <p:cNvCxnSpPr>
            <a:stCxn id="7293" idx="0"/>
            <a:endCxn id="7310" idx="2"/>
          </p:cNvCxnSpPr>
          <p:nvPr/>
        </p:nvCxnSpPr>
        <p:spPr>
          <a:xfrm rot="5400000" flipH="1" flipV="1">
            <a:off x="8351766" y="4666287"/>
            <a:ext cx="308897" cy="425617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15" name="Picture 6" descr="Hand, finger, gesture">
            <a:extLst>
              <a:ext uri="{FF2B5EF4-FFF2-40B4-BE49-F238E27FC236}">
                <a16:creationId xmlns:a16="http://schemas.microsoft.com/office/drawing/2014/main" id="{C5287B95-A1FF-F132-85BA-29C5ED10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693460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6" name="Picture 6" descr="Hand, finger, gesture">
            <a:extLst>
              <a:ext uri="{FF2B5EF4-FFF2-40B4-BE49-F238E27FC236}">
                <a16:creationId xmlns:a16="http://schemas.microsoft.com/office/drawing/2014/main" id="{927C3BC2-8FE5-1A25-563C-5C42E45A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57719" y="178014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7" name="Picture 6" descr="Hand, finger, gesture">
            <a:extLst>
              <a:ext uri="{FF2B5EF4-FFF2-40B4-BE49-F238E27FC236}">
                <a16:creationId xmlns:a16="http://schemas.microsoft.com/office/drawing/2014/main" id="{CC847320-E6C1-3743-8B21-D604845F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34738" y="272304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8" name="Picture 6" descr="Hand, finger, gesture">
            <a:extLst>
              <a:ext uri="{FF2B5EF4-FFF2-40B4-BE49-F238E27FC236}">
                <a16:creationId xmlns:a16="http://schemas.microsoft.com/office/drawing/2014/main" id="{34CB2F66-8A2B-E255-A5B9-E893463C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39868" y="364370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9" name="Picture 6" descr="Hand, finger, gesture">
            <a:extLst>
              <a:ext uri="{FF2B5EF4-FFF2-40B4-BE49-F238E27FC236}">
                <a16:creationId xmlns:a16="http://schemas.microsoft.com/office/drawing/2014/main" id="{6B05F70D-8B0D-6AFE-5BA2-A306A9524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87746" y="360973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20" name="Picture 8">
            <a:extLst>
              <a:ext uri="{FF2B5EF4-FFF2-40B4-BE49-F238E27FC236}">
                <a16:creationId xmlns:a16="http://schemas.microsoft.com/office/drawing/2014/main" id="{0577736A-742F-639E-FE40-2D4A20B1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03" y="2886178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21" name="CuadroTexto 7320">
            <a:extLst>
              <a:ext uri="{FF2B5EF4-FFF2-40B4-BE49-F238E27FC236}">
                <a16:creationId xmlns:a16="http://schemas.microsoft.com/office/drawing/2014/main" id="{224D39F9-FAEA-C94D-B5FA-4B1CD12ED6AE}"/>
              </a:ext>
            </a:extLst>
          </p:cNvPr>
          <p:cNvSpPr txBox="1"/>
          <p:nvPr/>
        </p:nvSpPr>
        <p:spPr>
          <a:xfrm>
            <a:off x="3079405" y="3016588"/>
            <a:ext cx="14927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Candidato.docx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sp>
        <p:nvSpPr>
          <p:cNvPr id="7324" name="CuadroTexto 7323">
            <a:extLst>
              <a:ext uri="{FF2B5EF4-FFF2-40B4-BE49-F238E27FC236}">
                <a16:creationId xmlns:a16="http://schemas.microsoft.com/office/drawing/2014/main" id="{0147E9D1-DC7C-15AB-ABC6-1711451054F4}"/>
              </a:ext>
            </a:extLst>
          </p:cNvPr>
          <p:cNvSpPr txBox="1"/>
          <p:nvPr/>
        </p:nvSpPr>
        <p:spPr>
          <a:xfrm>
            <a:off x="6771491" y="1761718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5" name="CuadroTexto 7324">
            <a:extLst>
              <a:ext uri="{FF2B5EF4-FFF2-40B4-BE49-F238E27FC236}">
                <a16:creationId xmlns:a16="http://schemas.microsoft.com/office/drawing/2014/main" id="{D026E0D4-F78D-5C66-2A3D-86F10B862C07}"/>
              </a:ext>
            </a:extLst>
          </p:cNvPr>
          <p:cNvSpPr txBox="1"/>
          <p:nvPr/>
        </p:nvSpPr>
        <p:spPr>
          <a:xfrm>
            <a:off x="8634201" y="47438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6" name="CuadroTexto 7325">
            <a:extLst>
              <a:ext uri="{FF2B5EF4-FFF2-40B4-BE49-F238E27FC236}">
                <a16:creationId xmlns:a16="http://schemas.microsoft.com/office/drawing/2014/main" id="{A0C3E2C9-FCC1-ED22-3CCE-9A5F3F0036A1}"/>
              </a:ext>
            </a:extLst>
          </p:cNvPr>
          <p:cNvSpPr txBox="1"/>
          <p:nvPr/>
        </p:nvSpPr>
        <p:spPr>
          <a:xfrm>
            <a:off x="9021689" y="109348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sp>
        <p:nvSpPr>
          <p:cNvPr id="7328" name="CuadroTexto 7327">
            <a:extLst>
              <a:ext uri="{FF2B5EF4-FFF2-40B4-BE49-F238E27FC236}">
                <a16:creationId xmlns:a16="http://schemas.microsoft.com/office/drawing/2014/main" id="{AFAC0600-A70D-A88A-E9CE-040D8040CBF8}"/>
              </a:ext>
            </a:extLst>
          </p:cNvPr>
          <p:cNvSpPr txBox="1"/>
          <p:nvPr/>
        </p:nvSpPr>
        <p:spPr>
          <a:xfrm>
            <a:off x="7616933" y="130029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cxnSp>
        <p:nvCxnSpPr>
          <p:cNvPr id="7342" name="Conector angular 7341">
            <a:extLst>
              <a:ext uri="{FF2B5EF4-FFF2-40B4-BE49-F238E27FC236}">
                <a16:creationId xmlns:a16="http://schemas.microsoft.com/office/drawing/2014/main" id="{3EB5C188-DAAA-4096-90DE-2D189CDCD0CC}"/>
              </a:ext>
            </a:extLst>
          </p:cNvPr>
          <p:cNvCxnSpPr>
            <a:endCxn id="7170" idx="3"/>
          </p:cNvCxnSpPr>
          <p:nvPr/>
        </p:nvCxnSpPr>
        <p:spPr>
          <a:xfrm rot="5400000">
            <a:off x="2598796" y="2266452"/>
            <a:ext cx="245785" cy="209024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3" name="Conector angular 7342">
            <a:extLst>
              <a:ext uri="{FF2B5EF4-FFF2-40B4-BE49-F238E27FC236}">
                <a16:creationId xmlns:a16="http://schemas.microsoft.com/office/drawing/2014/main" id="{7F568F78-AF72-2D66-8FAE-AE1F3EC7690F}"/>
              </a:ext>
            </a:extLst>
          </p:cNvPr>
          <p:cNvCxnSpPr>
            <a:cxnSpLocks/>
            <a:endCxn id="7266" idx="0"/>
          </p:cNvCxnSpPr>
          <p:nvPr/>
        </p:nvCxnSpPr>
        <p:spPr>
          <a:xfrm>
            <a:off x="2994538" y="805844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4" name="Conector angular 7343">
            <a:extLst>
              <a:ext uri="{FF2B5EF4-FFF2-40B4-BE49-F238E27FC236}">
                <a16:creationId xmlns:a16="http://schemas.microsoft.com/office/drawing/2014/main" id="{B9193EA8-ECB8-AC94-A0F7-564D4B912477}"/>
              </a:ext>
            </a:extLst>
          </p:cNvPr>
          <p:cNvCxnSpPr>
            <a:cxnSpLocks/>
            <a:stCxn id="7320" idx="0"/>
          </p:cNvCxnSpPr>
          <p:nvPr/>
        </p:nvCxnSpPr>
        <p:spPr>
          <a:xfrm rot="5400000" flipH="1" flipV="1">
            <a:off x="4771530" y="2727860"/>
            <a:ext cx="88083" cy="228555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49" name="Picture 6" descr="Hand, finger, gesture">
            <a:extLst>
              <a:ext uri="{FF2B5EF4-FFF2-40B4-BE49-F238E27FC236}">
                <a16:creationId xmlns:a16="http://schemas.microsoft.com/office/drawing/2014/main" id="{429A1DCF-D11A-8F54-6EC8-C3DD26AC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49313" y="177652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0" name="Picture 6" descr="Hand, finger, gesture">
            <a:extLst>
              <a:ext uri="{FF2B5EF4-FFF2-40B4-BE49-F238E27FC236}">
                <a16:creationId xmlns:a16="http://schemas.microsoft.com/office/drawing/2014/main" id="{0D261F7F-B551-248D-9521-E4645D0A9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60740" y="3604048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51" name="CuadroTexto 7350">
            <a:extLst>
              <a:ext uri="{FF2B5EF4-FFF2-40B4-BE49-F238E27FC236}">
                <a16:creationId xmlns:a16="http://schemas.microsoft.com/office/drawing/2014/main" id="{EFC11607-3AFA-1339-ED50-D5430813B271}"/>
              </a:ext>
            </a:extLst>
          </p:cNvPr>
          <p:cNvSpPr txBox="1"/>
          <p:nvPr/>
        </p:nvSpPr>
        <p:spPr>
          <a:xfrm>
            <a:off x="107978" y="35073"/>
            <a:ext cx="966356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</a:rPr>
              <a:t>HR12.Proceso </a:t>
            </a:r>
            <a:r>
              <a:rPr lang="es-ES_tradnl" sz="1400" b="1" dirty="0" err="1">
                <a:solidFill>
                  <a:schemeClr val="bg1"/>
                </a:solidFill>
              </a:rPr>
              <a:t>Hire</a:t>
            </a:r>
            <a:r>
              <a:rPr lang="es-ES_tradnl" sz="1400" b="1" dirty="0">
                <a:solidFill>
                  <a:schemeClr val="bg1"/>
                </a:solidFill>
              </a:rPr>
              <a:t> </a:t>
            </a:r>
            <a:r>
              <a:rPr lang="es-ES_tradnl" sz="1400" b="1" dirty="0" err="1">
                <a:solidFill>
                  <a:schemeClr val="bg1"/>
                </a:solidFill>
              </a:rPr>
              <a:t>to</a:t>
            </a:r>
            <a:r>
              <a:rPr lang="es-ES_tradnl" sz="1400" b="1" dirty="0">
                <a:solidFill>
                  <a:schemeClr val="bg1"/>
                </a:solidFill>
              </a:rPr>
              <a:t> Retire </a:t>
            </a:r>
            <a:r>
              <a:rPr lang="es-ES_tradnl" sz="1400" b="1" dirty="0">
                <a:solidFill>
                  <a:schemeClr val="bg1"/>
                </a:solidFill>
                <a:sym typeface="Wingdings" pitchFamily="2" charset="2"/>
              </a:rPr>
              <a:t> HR1201- </a:t>
            </a:r>
            <a:r>
              <a:rPr lang="es-ES_tradnl" sz="1400" b="1" dirty="0">
                <a:solidFill>
                  <a:schemeClr val="bg1"/>
                </a:solidFill>
              </a:rPr>
              <a:t>Selección y Reclutamiento</a:t>
            </a:r>
            <a:endParaRPr lang="es-ES_tradnl" sz="1050" dirty="0">
              <a:solidFill>
                <a:schemeClr val="bg1"/>
              </a:solidFill>
            </a:endParaRPr>
          </a:p>
        </p:txBody>
      </p:sp>
      <p:sp>
        <p:nvSpPr>
          <p:cNvPr id="7352" name="Rectángulo 7351">
            <a:extLst>
              <a:ext uri="{FF2B5EF4-FFF2-40B4-BE49-F238E27FC236}">
                <a16:creationId xmlns:a16="http://schemas.microsoft.com/office/drawing/2014/main" id="{DB334EF8-6484-4AE1-BAFE-C2482534F7A8}"/>
              </a:ext>
            </a:extLst>
          </p:cNvPr>
          <p:cNvSpPr/>
          <p:nvPr/>
        </p:nvSpPr>
        <p:spPr>
          <a:xfrm>
            <a:off x="828831" y="5774020"/>
            <a:ext cx="8942715" cy="999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53" name="Rectángulo 7352">
            <a:extLst>
              <a:ext uri="{FF2B5EF4-FFF2-40B4-BE49-F238E27FC236}">
                <a16:creationId xmlns:a16="http://schemas.microsoft.com/office/drawing/2014/main" id="{EB482C54-E8F3-BA04-E334-D4A8544E7802}"/>
              </a:ext>
            </a:extLst>
          </p:cNvPr>
          <p:cNvSpPr/>
          <p:nvPr/>
        </p:nvSpPr>
        <p:spPr>
          <a:xfrm rot="16200000">
            <a:off x="-49363" y="5947558"/>
            <a:ext cx="99900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Director RRHH</a:t>
            </a:r>
          </a:p>
        </p:txBody>
      </p:sp>
      <p:sp>
        <p:nvSpPr>
          <p:cNvPr id="7354" name="CuadroTexto 7353">
            <a:extLst>
              <a:ext uri="{FF2B5EF4-FFF2-40B4-BE49-F238E27FC236}">
                <a16:creationId xmlns:a16="http://schemas.microsoft.com/office/drawing/2014/main" id="{6438D7A5-FE45-DF56-C484-F31F5AED91A3}"/>
              </a:ext>
            </a:extLst>
          </p:cNvPr>
          <p:cNvSpPr txBox="1"/>
          <p:nvPr/>
        </p:nvSpPr>
        <p:spPr>
          <a:xfrm>
            <a:off x="4814808" y="5877568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Firma de Contrato</a:t>
            </a:r>
          </a:p>
        </p:txBody>
      </p:sp>
      <p:cxnSp>
        <p:nvCxnSpPr>
          <p:cNvPr id="7361" name="Conector angular 7360">
            <a:extLst>
              <a:ext uri="{FF2B5EF4-FFF2-40B4-BE49-F238E27FC236}">
                <a16:creationId xmlns:a16="http://schemas.microsoft.com/office/drawing/2014/main" id="{C1E8C0A7-7D8B-07A2-3A60-A5A3E6494E6E}"/>
              </a:ext>
            </a:extLst>
          </p:cNvPr>
          <p:cNvCxnSpPr>
            <a:stCxn id="7354" idx="3"/>
            <a:endCxn id="7282" idx="2"/>
          </p:cNvCxnSpPr>
          <p:nvPr/>
        </p:nvCxnSpPr>
        <p:spPr>
          <a:xfrm flipV="1">
            <a:off x="6253995" y="5518287"/>
            <a:ext cx="354307" cy="6016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62" name="Picture 6" descr="Hand, finger, gesture">
            <a:extLst>
              <a:ext uri="{FF2B5EF4-FFF2-40B4-BE49-F238E27FC236}">
                <a16:creationId xmlns:a16="http://schemas.microsoft.com/office/drawing/2014/main" id="{A3FF5112-3BA2-41BF-DBB3-840D0AFA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51868" y="591136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3" name="Picture 8">
            <a:extLst>
              <a:ext uri="{FF2B5EF4-FFF2-40B4-BE49-F238E27FC236}">
                <a16:creationId xmlns:a16="http://schemas.microsoft.com/office/drawing/2014/main" id="{BAD3BF62-5C33-4881-1A66-9C40BBE8F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084" y="3539866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64" name="CuadroTexto 7363">
            <a:extLst>
              <a:ext uri="{FF2B5EF4-FFF2-40B4-BE49-F238E27FC236}">
                <a16:creationId xmlns:a16="http://schemas.microsoft.com/office/drawing/2014/main" id="{3D5A94CE-9EFC-7FC4-4D7A-C4002B2F8D8E}"/>
              </a:ext>
            </a:extLst>
          </p:cNvPr>
          <p:cNvSpPr txBox="1"/>
          <p:nvPr/>
        </p:nvSpPr>
        <p:spPr>
          <a:xfrm>
            <a:off x="6263767" y="3879824"/>
            <a:ext cx="16401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Contratación.docx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cxnSp>
        <p:nvCxnSpPr>
          <p:cNvPr id="7367" name="Conector angular 7366">
            <a:extLst>
              <a:ext uri="{FF2B5EF4-FFF2-40B4-BE49-F238E27FC236}">
                <a16:creationId xmlns:a16="http://schemas.microsoft.com/office/drawing/2014/main" id="{7C9D6392-E6AC-75F0-6BA3-C93031C9BD32}"/>
              </a:ext>
            </a:extLst>
          </p:cNvPr>
          <p:cNvCxnSpPr>
            <a:stCxn id="7276" idx="2"/>
            <a:endCxn id="7354" idx="0"/>
          </p:cNvCxnSpPr>
          <p:nvPr/>
        </p:nvCxnSpPr>
        <p:spPr>
          <a:xfrm rot="5400000">
            <a:off x="4626278" y="4969442"/>
            <a:ext cx="181625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B948EE26-A3E2-1F3C-B03D-4C7DED6C0B79}"/>
              </a:ext>
            </a:extLst>
          </p:cNvPr>
          <p:cNvSpPr/>
          <p:nvPr/>
        </p:nvSpPr>
        <p:spPr>
          <a:xfrm>
            <a:off x="2950783" y="2793759"/>
            <a:ext cx="2002217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3D8FDB7-CF0E-A3A4-030C-866E5C892294}"/>
              </a:ext>
            </a:extLst>
          </p:cNvPr>
          <p:cNvSpPr/>
          <p:nvPr/>
        </p:nvSpPr>
        <p:spPr>
          <a:xfrm>
            <a:off x="6257759" y="3509302"/>
            <a:ext cx="2002217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C4B3938-A4A6-8284-262A-081E648EC275}"/>
              </a:ext>
            </a:extLst>
          </p:cNvPr>
          <p:cNvSpPr/>
          <p:nvPr/>
        </p:nvSpPr>
        <p:spPr>
          <a:xfrm>
            <a:off x="8457560" y="4389470"/>
            <a:ext cx="1049762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6868C5E-CAD0-3959-FB21-1B938F084C53}"/>
              </a:ext>
            </a:extLst>
          </p:cNvPr>
          <p:cNvSpPr txBox="1"/>
          <p:nvPr/>
        </p:nvSpPr>
        <p:spPr>
          <a:xfrm>
            <a:off x="339664" y="4899574"/>
            <a:ext cx="3360358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Ineficiencia</a:t>
            </a:r>
            <a:r>
              <a:rPr lang="es-ES_tradnl" sz="14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s-ES_tradnl" sz="1400" dirty="0">
                <a:solidFill>
                  <a:schemeClr val="bg1"/>
                </a:solidFill>
              </a:rPr>
              <a:t>El registro de datos iguales es repetitivo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4EA1640-5D42-9190-2DFF-DEE2F3AAB9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664" y="4252268"/>
            <a:ext cx="7772400" cy="597876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138186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8" name="Rectángulo 7337">
            <a:extLst>
              <a:ext uri="{FF2B5EF4-FFF2-40B4-BE49-F238E27FC236}">
                <a16:creationId xmlns:a16="http://schemas.microsoft.com/office/drawing/2014/main" id="{20E7EB5A-5051-36B6-423A-BD37F66BB186}"/>
              </a:ext>
            </a:extLst>
          </p:cNvPr>
          <p:cNvSpPr/>
          <p:nvPr/>
        </p:nvSpPr>
        <p:spPr>
          <a:xfrm>
            <a:off x="-5832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1" name="Rectángulo 7330">
            <a:extLst>
              <a:ext uri="{FF2B5EF4-FFF2-40B4-BE49-F238E27FC236}">
                <a16:creationId xmlns:a16="http://schemas.microsoft.com/office/drawing/2014/main" id="{5FDA60CE-0F41-2286-BCD5-9FF3888A107B}"/>
              </a:ext>
            </a:extLst>
          </p:cNvPr>
          <p:cNvSpPr/>
          <p:nvPr/>
        </p:nvSpPr>
        <p:spPr>
          <a:xfrm>
            <a:off x="822437" y="4329950"/>
            <a:ext cx="8942715" cy="13835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330" name="Rectángulo 7329">
            <a:extLst>
              <a:ext uri="{FF2B5EF4-FFF2-40B4-BE49-F238E27FC236}">
                <a16:creationId xmlns:a16="http://schemas.microsoft.com/office/drawing/2014/main" id="{BFC97442-46C2-2A72-D98C-C1FA720F21FA}"/>
              </a:ext>
            </a:extLst>
          </p:cNvPr>
          <p:cNvSpPr/>
          <p:nvPr/>
        </p:nvSpPr>
        <p:spPr>
          <a:xfrm>
            <a:off x="828831" y="1598564"/>
            <a:ext cx="8942715" cy="2661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29" name="Rectángulo 7328">
            <a:extLst>
              <a:ext uri="{FF2B5EF4-FFF2-40B4-BE49-F238E27FC236}">
                <a16:creationId xmlns:a16="http://schemas.microsoft.com/office/drawing/2014/main" id="{E33CDE91-39BA-BBCD-53B7-B711A9F90E5A}"/>
              </a:ext>
            </a:extLst>
          </p:cNvPr>
          <p:cNvSpPr/>
          <p:nvPr/>
        </p:nvSpPr>
        <p:spPr>
          <a:xfrm>
            <a:off x="828832" y="372525"/>
            <a:ext cx="8942715" cy="117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041685-4211-71C2-9F3F-7D94EBE7BB44}"/>
              </a:ext>
            </a:extLst>
          </p:cNvPr>
          <p:cNvSpPr/>
          <p:nvPr/>
        </p:nvSpPr>
        <p:spPr>
          <a:xfrm rot="16200000">
            <a:off x="-144567" y="634872"/>
            <a:ext cx="117662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Área Usuaria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Solicitante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179691-48D1-C7D5-94AB-97E5933FE172}"/>
              </a:ext>
            </a:extLst>
          </p:cNvPr>
          <p:cNvSpPr/>
          <p:nvPr/>
        </p:nvSpPr>
        <p:spPr>
          <a:xfrm>
            <a:off x="900391" y="809129"/>
            <a:ext cx="313266" cy="2878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95854C-760C-B3CE-976B-44FDEE632C3F}"/>
              </a:ext>
            </a:extLst>
          </p:cNvPr>
          <p:cNvSpPr txBox="1"/>
          <p:nvPr/>
        </p:nvSpPr>
        <p:spPr>
          <a:xfrm>
            <a:off x="1557186" y="1756420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Requerimiento de Candidatos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32E2E-694C-43AF-F611-14BF9440B06E}"/>
              </a:ext>
            </a:extLst>
          </p:cNvPr>
          <p:cNvSpPr txBox="1"/>
          <p:nvPr/>
        </p:nvSpPr>
        <p:spPr>
          <a:xfrm>
            <a:off x="1557186" y="673624"/>
            <a:ext cx="1439187" cy="552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Solicitud de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Requerimiento de Candidatos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46CB5C-0563-CD3E-5E2E-50157CA43F77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 flipV="1">
            <a:off x="1213657" y="949979"/>
            <a:ext cx="343529" cy="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011220-994E-58D8-12B9-6683BF6A192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2276780" y="1226334"/>
            <a:ext cx="0" cy="530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E4CC33-75CF-0BD6-B3A7-B315E673A13B}"/>
              </a:ext>
            </a:extLst>
          </p:cNvPr>
          <p:cNvSpPr/>
          <p:nvPr/>
        </p:nvSpPr>
        <p:spPr>
          <a:xfrm rot="16200000">
            <a:off x="-884475" y="2603154"/>
            <a:ext cx="2661113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Desarrollo Organizacional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4EEBC56-DFCF-E1F8-0591-9B938B96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007" y="2306920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22245F2-838A-491E-00D5-CC91547E9642}"/>
              </a:ext>
            </a:extLst>
          </p:cNvPr>
          <p:cNvSpPr txBox="1"/>
          <p:nvPr/>
        </p:nvSpPr>
        <p:spPr>
          <a:xfrm>
            <a:off x="990260" y="2287567"/>
            <a:ext cx="1204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BD de RQ-2024.xlsx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27360A-E6D7-BFA7-E366-F582906D1D84}"/>
              </a:ext>
            </a:extLst>
          </p:cNvPr>
          <p:cNvSpPr txBox="1"/>
          <p:nvPr/>
        </p:nvSpPr>
        <p:spPr>
          <a:xfrm>
            <a:off x="3220071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Publicación de Vacante en Medios Digitales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CC4FD16-4D43-CB5C-829F-F3E179674225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 flipV="1">
            <a:off x="2996373" y="2002245"/>
            <a:ext cx="22369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F1E80D7-522D-C12B-7261-022308BCEC4A}"/>
              </a:ext>
            </a:extLst>
          </p:cNvPr>
          <p:cNvSpPr txBox="1"/>
          <p:nvPr/>
        </p:nvSpPr>
        <p:spPr>
          <a:xfrm>
            <a:off x="4931918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Recepción de Hojas de Vida y Filtro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B3BB4DE-724E-B00E-51C1-56F841AADB36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4659258" y="2002245"/>
            <a:ext cx="272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8130FA-2191-041C-D38A-7802115E83A3}"/>
              </a:ext>
            </a:extLst>
          </p:cNvPr>
          <p:cNvSpPr txBox="1"/>
          <p:nvPr/>
        </p:nvSpPr>
        <p:spPr>
          <a:xfrm>
            <a:off x="4931918" y="269093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Entrevistas y Llenado de Ficha de Candidato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0A727EA-CD2E-7F3D-5DD9-A923B0D79B83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5651512" y="2248072"/>
            <a:ext cx="0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C517EC-706D-AD1E-A15B-D623FDE96247}"/>
              </a:ext>
            </a:extLst>
          </p:cNvPr>
          <p:cNvSpPr txBox="1"/>
          <p:nvPr/>
        </p:nvSpPr>
        <p:spPr>
          <a:xfrm>
            <a:off x="6867466" y="2690930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Psicométricas (Presencial)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364C961-7DB4-D19A-CF8E-FD37AC3BB114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6371105" y="2933302"/>
            <a:ext cx="496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5" name="Rombo 7184">
            <a:extLst>
              <a:ext uri="{FF2B5EF4-FFF2-40B4-BE49-F238E27FC236}">
                <a16:creationId xmlns:a16="http://schemas.microsoft.com/office/drawing/2014/main" id="{0240C84E-ED78-25F2-E418-E79E7BDEB562}"/>
              </a:ext>
            </a:extLst>
          </p:cNvPr>
          <p:cNvSpPr/>
          <p:nvPr/>
        </p:nvSpPr>
        <p:spPr>
          <a:xfrm>
            <a:off x="7258868" y="1783103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187" name="Conector recto de flecha 7186">
            <a:extLst>
              <a:ext uri="{FF2B5EF4-FFF2-40B4-BE49-F238E27FC236}">
                <a16:creationId xmlns:a16="http://schemas.microsoft.com/office/drawing/2014/main" id="{DD994B2F-7E53-E5C0-315C-3F9FEB538246}"/>
              </a:ext>
            </a:extLst>
          </p:cNvPr>
          <p:cNvCxnSpPr>
            <a:cxnSpLocks/>
          </p:cNvCxnSpPr>
          <p:nvPr/>
        </p:nvCxnSpPr>
        <p:spPr>
          <a:xfrm flipH="1" flipV="1">
            <a:off x="7610911" y="2248072"/>
            <a:ext cx="6022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9" name="Conector recto de flecha 7188">
            <a:extLst>
              <a:ext uri="{FF2B5EF4-FFF2-40B4-BE49-F238E27FC236}">
                <a16:creationId xmlns:a16="http://schemas.microsoft.com/office/drawing/2014/main" id="{036C4CD7-B877-1EB6-5A94-F03CC1771E09}"/>
              </a:ext>
            </a:extLst>
          </p:cNvPr>
          <p:cNvCxnSpPr>
            <a:cxnSpLocks/>
            <a:stCxn id="7185" idx="1"/>
            <a:endCxn id="35" idx="3"/>
          </p:cNvCxnSpPr>
          <p:nvPr/>
        </p:nvCxnSpPr>
        <p:spPr>
          <a:xfrm flipH="1" flipV="1">
            <a:off x="6371105" y="2002245"/>
            <a:ext cx="887763" cy="1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4" name="CuadroTexto 7193">
            <a:extLst>
              <a:ext uri="{FF2B5EF4-FFF2-40B4-BE49-F238E27FC236}">
                <a16:creationId xmlns:a16="http://schemas.microsoft.com/office/drawing/2014/main" id="{A45069A6-9C5C-9499-A0D9-42387D5FFD3E}"/>
              </a:ext>
            </a:extLst>
          </p:cNvPr>
          <p:cNvSpPr txBox="1"/>
          <p:nvPr/>
        </p:nvSpPr>
        <p:spPr>
          <a:xfrm>
            <a:off x="6891317" y="647988"/>
            <a:ext cx="1439187" cy="5211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 con Solicitante</a:t>
            </a:r>
          </a:p>
        </p:txBody>
      </p:sp>
      <p:cxnSp>
        <p:nvCxnSpPr>
          <p:cNvPr id="7195" name="Conector recto de flecha 7194">
            <a:extLst>
              <a:ext uri="{FF2B5EF4-FFF2-40B4-BE49-F238E27FC236}">
                <a16:creationId xmlns:a16="http://schemas.microsoft.com/office/drawing/2014/main" id="{49F53781-5CAE-A516-28F2-DEE60E077BCF}"/>
              </a:ext>
            </a:extLst>
          </p:cNvPr>
          <p:cNvCxnSpPr>
            <a:cxnSpLocks/>
            <a:stCxn id="7185" idx="0"/>
          </p:cNvCxnSpPr>
          <p:nvPr/>
        </p:nvCxnSpPr>
        <p:spPr>
          <a:xfrm flipV="1">
            <a:off x="7610911" y="1169178"/>
            <a:ext cx="0" cy="61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9" name="CuadroTexto 7198">
            <a:extLst>
              <a:ext uri="{FF2B5EF4-FFF2-40B4-BE49-F238E27FC236}">
                <a16:creationId xmlns:a16="http://schemas.microsoft.com/office/drawing/2014/main" id="{3DA02FEB-1400-AE79-F4CA-AE05AFFE20F5}"/>
              </a:ext>
            </a:extLst>
          </p:cNvPr>
          <p:cNvSpPr txBox="1"/>
          <p:nvPr/>
        </p:nvSpPr>
        <p:spPr>
          <a:xfrm>
            <a:off x="1188562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Validación de Referencias Crediticias</a:t>
            </a:r>
          </a:p>
        </p:txBody>
      </p:sp>
      <p:sp>
        <p:nvSpPr>
          <p:cNvPr id="7201" name="Rombo 7200">
            <a:extLst>
              <a:ext uri="{FF2B5EF4-FFF2-40B4-BE49-F238E27FC236}">
                <a16:creationId xmlns:a16="http://schemas.microsoft.com/office/drawing/2014/main" id="{EF585719-B760-A389-A1A6-9A9B3A3CCC18}"/>
              </a:ext>
            </a:extLst>
          </p:cNvPr>
          <p:cNvSpPr/>
          <p:nvPr/>
        </p:nvSpPr>
        <p:spPr>
          <a:xfrm>
            <a:off x="8667576" y="673625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02" name="Conector recto de flecha 7201">
            <a:extLst>
              <a:ext uri="{FF2B5EF4-FFF2-40B4-BE49-F238E27FC236}">
                <a16:creationId xmlns:a16="http://schemas.microsoft.com/office/drawing/2014/main" id="{CE6FF1D8-F68E-7F48-762A-C2101C559E28}"/>
              </a:ext>
            </a:extLst>
          </p:cNvPr>
          <p:cNvCxnSpPr>
            <a:cxnSpLocks/>
            <a:stCxn id="7194" idx="3"/>
            <a:endCxn id="7201" idx="1"/>
          </p:cNvCxnSpPr>
          <p:nvPr/>
        </p:nvCxnSpPr>
        <p:spPr>
          <a:xfrm flipV="1">
            <a:off x="8330504" y="906110"/>
            <a:ext cx="337072" cy="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0" name="Conector angular 7219">
            <a:extLst>
              <a:ext uri="{FF2B5EF4-FFF2-40B4-BE49-F238E27FC236}">
                <a16:creationId xmlns:a16="http://schemas.microsoft.com/office/drawing/2014/main" id="{34E84BF1-E801-0064-B550-B25DB745D327}"/>
              </a:ext>
            </a:extLst>
          </p:cNvPr>
          <p:cNvCxnSpPr>
            <a:cxnSpLocks/>
            <a:stCxn id="7201" idx="0"/>
            <a:endCxn id="35" idx="0"/>
          </p:cNvCxnSpPr>
          <p:nvPr/>
        </p:nvCxnSpPr>
        <p:spPr>
          <a:xfrm rot="16200000" flipH="1" flipV="1">
            <a:off x="6794169" y="-469033"/>
            <a:ext cx="1082793" cy="3368107"/>
          </a:xfrm>
          <a:prstGeom prst="bentConnector3">
            <a:avLst>
              <a:gd name="adj1" fmla="val -21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3" name="Conector angular 7222">
            <a:extLst>
              <a:ext uri="{FF2B5EF4-FFF2-40B4-BE49-F238E27FC236}">
                <a16:creationId xmlns:a16="http://schemas.microsoft.com/office/drawing/2014/main" id="{590FB989-7AD0-9DC5-782E-0D518FB3185A}"/>
              </a:ext>
            </a:extLst>
          </p:cNvPr>
          <p:cNvCxnSpPr>
            <a:cxnSpLocks/>
            <a:stCxn id="7201" idx="2"/>
            <a:endCxn id="7199" idx="0"/>
          </p:cNvCxnSpPr>
          <p:nvPr/>
        </p:nvCxnSpPr>
        <p:spPr>
          <a:xfrm rot="5400000">
            <a:off x="4244899" y="-1198148"/>
            <a:ext cx="2437979" cy="7111463"/>
          </a:xfrm>
          <a:prstGeom prst="bentConnector3">
            <a:avLst>
              <a:gd name="adj1" fmla="val 910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66" name="Picture 2">
            <a:extLst>
              <a:ext uri="{FF2B5EF4-FFF2-40B4-BE49-F238E27FC236}">
                <a16:creationId xmlns:a16="http://schemas.microsoft.com/office/drawing/2014/main" id="{AD3C54F7-054D-91A0-699D-2E0F3CD9C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222" y="940292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67" name="CuadroTexto 7266">
            <a:extLst>
              <a:ext uri="{FF2B5EF4-FFF2-40B4-BE49-F238E27FC236}">
                <a16:creationId xmlns:a16="http://schemas.microsoft.com/office/drawing/2014/main" id="{31211F81-6FB3-655C-7A3B-734EEF1F1A27}"/>
              </a:ext>
            </a:extLst>
          </p:cNvPr>
          <p:cNvSpPr txBox="1"/>
          <p:nvPr/>
        </p:nvSpPr>
        <p:spPr>
          <a:xfrm>
            <a:off x="2499117" y="1268586"/>
            <a:ext cx="10903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Formato de Perfil</a:t>
            </a:r>
          </a:p>
        </p:txBody>
      </p:sp>
      <p:sp>
        <p:nvSpPr>
          <p:cNvPr id="7272" name="CuadroTexto 7271">
            <a:extLst>
              <a:ext uri="{FF2B5EF4-FFF2-40B4-BE49-F238E27FC236}">
                <a16:creationId xmlns:a16="http://schemas.microsoft.com/office/drawing/2014/main" id="{F4B1FECB-558F-50F5-60F7-43165D3CF091}"/>
              </a:ext>
            </a:extLst>
          </p:cNvPr>
          <p:cNvSpPr txBox="1"/>
          <p:nvPr/>
        </p:nvSpPr>
        <p:spPr>
          <a:xfrm>
            <a:off x="3024651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Elaboración de Contrato</a:t>
            </a:r>
          </a:p>
        </p:txBody>
      </p:sp>
      <p:cxnSp>
        <p:nvCxnSpPr>
          <p:cNvPr id="7273" name="Conector recto de flecha 7272">
            <a:extLst>
              <a:ext uri="{FF2B5EF4-FFF2-40B4-BE49-F238E27FC236}">
                <a16:creationId xmlns:a16="http://schemas.microsoft.com/office/drawing/2014/main" id="{342CF633-5649-8810-068C-8F823A83D58B}"/>
              </a:ext>
            </a:extLst>
          </p:cNvPr>
          <p:cNvCxnSpPr>
            <a:cxnSpLocks/>
            <a:stCxn id="7199" idx="3"/>
            <a:endCxn id="7272" idx="1"/>
          </p:cNvCxnSpPr>
          <p:nvPr/>
        </p:nvCxnSpPr>
        <p:spPr>
          <a:xfrm>
            <a:off x="2627749" y="3818945"/>
            <a:ext cx="396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6" name="CuadroTexto 7275">
            <a:extLst>
              <a:ext uri="{FF2B5EF4-FFF2-40B4-BE49-F238E27FC236}">
                <a16:creationId xmlns:a16="http://schemas.microsoft.com/office/drawing/2014/main" id="{3AC59DD0-E8BE-6DEB-8B80-0CA1A84CC144}"/>
              </a:ext>
            </a:extLst>
          </p:cNvPr>
          <p:cNvSpPr txBox="1"/>
          <p:nvPr/>
        </p:nvSpPr>
        <p:spPr>
          <a:xfrm>
            <a:off x="4814809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Preparación del Expediente para Inducción</a:t>
            </a:r>
          </a:p>
        </p:txBody>
      </p:sp>
      <p:cxnSp>
        <p:nvCxnSpPr>
          <p:cNvPr id="7277" name="Conector recto de flecha 7276">
            <a:extLst>
              <a:ext uri="{FF2B5EF4-FFF2-40B4-BE49-F238E27FC236}">
                <a16:creationId xmlns:a16="http://schemas.microsoft.com/office/drawing/2014/main" id="{D450196B-EEF9-EEB5-0B90-5289B40A8C85}"/>
              </a:ext>
            </a:extLst>
          </p:cNvPr>
          <p:cNvCxnSpPr>
            <a:cxnSpLocks/>
            <a:stCxn id="7272" idx="3"/>
            <a:endCxn id="7276" idx="1"/>
          </p:cNvCxnSpPr>
          <p:nvPr/>
        </p:nvCxnSpPr>
        <p:spPr>
          <a:xfrm>
            <a:off x="4463838" y="3818945"/>
            <a:ext cx="350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0" name="Rectángulo 7279">
            <a:extLst>
              <a:ext uri="{FF2B5EF4-FFF2-40B4-BE49-F238E27FC236}">
                <a16:creationId xmlns:a16="http://schemas.microsoft.com/office/drawing/2014/main" id="{32506046-B594-41E3-8D8B-CB46306F2DFA}"/>
              </a:ext>
            </a:extLst>
          </p:cNvPr>
          <p:cNvSpPr/>
          <p:nvPr/>
        </p:nvSpPr>
        <p:spPr>
          <a:xfrm rot="16200000">
            <a:off x="-248018" y="4705525"/>
            <a:ext cx="1383530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Nómina</a:t>
            </a:r>
          </a:p>
        </p:txBody>
      </p:sp>
      <p:sp>
        <p:nvSpPr>
          <p:cNvPr id="7282" name="CuadroTexto 7281">
            <a:extLst>
              <a:ext uri="{FF2B5EF4-FFF2-40B4-BE49-F238E27FC236}">
                <a16:creationId xmlns:a16="http://schemas.microsoft.com/office/drawing/2014/main" id="{5E9C4721-7BBA-C1F7-A67D-EF016F4045E3}"/>
              </a:ext>
            </a:extLst>
          </p:cNvPr>
          <p:cNvSpPr txBox="1"/>
          <p:nvPr/>
        </p:nvSpPr>
        <p:spPr>
          <a:xfrm>
            <a:off x="5888708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Inducción de Políticas Laborales</a:t>
            </a:r>
          </a:p>
        </p:txBody>
      </p:sp>
      <p:sp>
        <p:nvSpPr>
          <p:cNvPr id="7293" name="CuadroTexto 7292">
            <a:extLst>
              <a:ext uri="{FF2B5EF4-FFF2-40B4-BE49-F238E27FC236}">
                <a16:creationId xmlns:a16="http://schemas.microsoft.com/office/drawing/2014/main" id="{C509F8E0-B3FB-D3CE-08EF-A2EB36DEC240}"/>
              </a:ext>
            </a:extLst>
          </p:cNvPr>
          <p:cNvSpPr txBox="1"/>
          <p:nvPr/>
        </p:nvSpPr>
        <p:spPr>
          <a:xfrm>
            <a:off x="7573812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Datos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del Colaborador</a:t>
            </a:r>
          </a:p>
        </p:txBody>
      </p:sp>
      <p:cxnSp>
        <p:nvCxnSpPr>
          <p:cNvPr id="7294" name="Conector recto de flecha 7293">
            <a:extLst>
              <a:ext uri="{FF2B5EF4-FFF2-40B4-BE49-F238E27FC236}">
                <a16:creationId xmlns:a16="http://schemas.microsoft.com/office/drawing/2014/main" id="{789D129D-C3FB-9443-B329-B02D1563FD75}"/>
              </a:ext>
            </a:extLst>
          </p:cNvPr>
          <p:cNvCxnSpPr>
            <a:cxnSpLocks/>
            <a:stCxn id="7282" idx="3"/>
            <a:endCxn id="7293" idx="1"/>
          </p:cNvCxnSpPr>
          <p:nvPr/>
        </p:nvCxnSpPr>
        <p:spPr>
          <a:xfrm>
            <a:off x="7327895" y="5275915"/>
            <a:ext cx="245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7" name="Elipse 7296">
            <a:extLst>
              <a:ext uri="{FF2B5EF4-FFF2-40B4-BE49-F238E27FC236}">
                <a16:creationId xmlns:a16="http://schemas.microsoft.com/office/drawing/2014/main" id="{3F8736F1-5A8A-58D6-AF62-899609E565CF}"/>
              </a:ext>
            </a:extLst>
          </p:cNvPr>
          <p:cNvSpPr/>
          <p:nvPr/>
        </p:nvSpPr>
        <p:spPr>
          <a:xfrm>
            <a:off x="9247746" y="5131981"/>
            <a:ext cx="313266" cy="287867"/>
          </a:xfrm>
          <a:prstGeom prst="ellipse">
            <a:avLst/>
          </a:prstGeom>
          <a:solidFill>
            <a:srgbClr val="F7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298" name="Conector recto de flecha 7297">
            <a:extLst>
              <a:ext uri="{FF2B5EF4-FFF2-40B4-BE49-F238E27FC236}">
                <a16:creationId xmlns:a16="http://schemas.microsoft.com/office/drawing/2014/main" id="{233C4B83-066B-84AE-06CD-4ED56116F806}"/>
              </a:ext>
            </a:extLst>
          </p:cNvPr>
          <p:cNvCxnSpPr>
            <a:cxnSpLocks/>
            <a:stCxn id="7293" idx="3"/>
            <a:endCxn id="7297" idx="2"/>
          </p:cNvCxnSpPr>
          <p:nvPr/>
        </p:nvCxnSpPr>
        <p:spPr>
          <a:xfrm>
            <a:off x="9012999" y="5275915"/>
            <a:ext cx="234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02" name="Picture 4" descr="Account, profile, user, avatar, human, man, person">
            <a:extLst>
              <a:ext uri="{FF2B5EF4-FFF2-40B4-BE49-F238E27FC236}">
                <a16:creationId xmlns:a16="http://schemas.microsoft.com/office/drawing/2014/main" id="{C87D82B4-5CB3-AE34-5F46-6C9EBFE0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57" y="5059817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03" name="Picture 6" descr="Hand, finger, gesture">
            <a:extLst>
              <a:ext uri="{FF2B5EF4-FFF2-40B4-BE49-F238E27FC236}">
                <a16:creationId xmlns:a16="http://schemas.microsoft.com/office/drawing/2014/main" id="{87F782B9-E8ED-A3C0-3EDD-80252098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1794606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10" name="Cilindro 7309">
            <a:extLst>
              <a:ext uri="{FF2B5EF4-FFF2-40B4-BE49-F238E27FC236}">
                <a16:creationId xmlns:a16="http://schemas.microsoft.com/office/drawing/2014/main" id="{E3CDFFCF-4D0F-6C6F-58A9-0F997D3BFE04}"/>
              </a:ext>
            </a:extLst>
          </p:cNvPr>
          <p:cNvSpPr/>
          <p:nvPr/>
        </p:nvSpPr>
        <p:spPr>
          <a:xfrm>
            <a:off x="8719023" y="4549717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SAP</a:t>
            </a:r>
          </a:p>
        </p:txBody>
      </p:sp>
      <p:cxnSp>
        <p:nvCxnSpPr>
          <p:cNvPr id="7314" name="Conector angular 7313">
            <a:extLst>
              <a:ext uri="{FF2B5EF4-FFF2-40B4-BE49-F238E27FC236}">
                <a16:creationId xmlns:a16="http://schemas.microsoft.com/office/drawing/2014/main" id="{0CAEB9DB-F9E0-E4B4-C985-C3C1B845EC96}"/>
              </a:ext>
            </a:extLst>
          </p:cNvPr>
          <p:cNvCxnSpPr>
            <a:stCxn id="7293" idx="0"/>
            <a:endCxn id="7310" idx="2"/>
          </p:cNvCxnSpPr>
          <p:nvPr/>
        </p:nvCxnSpPr>
        <p:spPr>
          <a:xfrm rot="5400000" flipH="1" flipV="1">
            <a:off x="8351766" y="4666287"/>
            <a:ext cx="308897" cy="425617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15" name="Picture 6" descr="Hand, finger, gesture">
            <a:extLst>
              <a:ext uri="{FF2B5EF4-FFF2-40B4-BE49-F238E27FC236}">
                <a16:creationId xmlns:a16="http://schemas.microsoft.com/office/drawing/2014/main" id="{C5287B95-A1FF-F132-85BA-29C5ED10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693460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6" name="Picture 6" descr="Hand, finger, gesture">
            <a:extLst>
              <a:ext uri="{FF2B5EF4-FFF2-40B4-BE49-F238E27FC236}">
                <a16:creationId xmlns:a16="http://schemas.microsoft.com/office/drawing/2014/main" id="{927C3BC2-8FE5-1A25-563C-5C42E45A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57719" y="178014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7" name="Picture 6" descr="Hand, finger, gesture">
            <a:extLst>
              <a:ext uri="{FF2B5EF4-FFF2-40B4-BE49-F238E27FC236}">
                <a16:creationId xmlns:a16="http://schemas.microsoft.com/office/drawing/2014/main" id="{CC847320-E6C1-3743-8B21-D604845F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34738" y="272304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8" name="Picture 6" descr="Hand, finger, gesture">
            <a:extLst>
              <a:ext uri="{FF2B5EF4-FFF2-40B4-BE49-F238E27FC236}">
                <a16:creationId xmlns:a16="http://schemas.microsoft.com/office/drawing/2014/main" id="{34CB2F66-8A2B-E255-A5B9-E893463C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39868" y="364370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9" name="Picture 6" descr="Hand, finger, gesture">
            <a:extLst>
              <a:ext uri="{FF2B5EF4-FFF2-40B4-BE49-F238E27FC236}">
                <a16:creationId xmlns:a16="http://schemas.microsoft.com/office/drawing/2014/main" id="{6B05F70D-8B0D-6AFE-5BA2-A306A9524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87746" y="360973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20" name="Picture 8">
            <a:extLst>
              <a:ext uri="{FF2B5EF4-FFF2-40B4-BE49-F238E27FC236}">
                <a16:creationId xmlns:a16="http://schemas.microsoft.com/office/drawing/2014/main" id="{0577736A-742F-639E-FE40-2D4A20B1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03" y="2886178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21" name="CuadroTexto 7320">
            <a:extLst>
              <a:ext uri="{FF2B5EF4-FFF2-40B4-BE49-F238E27FC236}">
                <a16:creationId xmlns:a16="http://schemas.microsoft.com/office/drawing/2014/main" id="{224D39F9-FAEA-C94D-B5FA-4B1CD12ED6AE}"/>
              </a:ext>
            </a:extLst>
          </p:cNvPr>
          <p:cNvSpPr txBox="1"/>
          <p:nvPr/>
        </p:nvSpPr>
        <p:spPr>
          <a:xfrm>
            <a:off x="3079405" y="3016588"/>
            <a:ext cx="14927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Candidato.docx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sp>
        <p:nvSpPr>
          <p:cNvPr id="7324" name="CuadroTexto 7323">
            <a:extLst>
              <a:ext uri="{FF2B5EF4-FFF2-40B4-BE49-F238E27FC236}">
                <a16:creationId xmlns:a16="http://schemas.microsoft.com/office/drawing/2014/main" id="{0147E9D1-DC7C-15AB-ABC6-1711451054F4}"/>
              </a:ext>
            </a:extLst>
          </p:cNvPr>
          <p:cNvSpPr txBox="1"/>
          <p:nvPr/>
        </p:nvSpPr>
        <p:spPr>
          <a:xfrm>
            <a:off x="6771491" y="1761718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5" name="CuadroTexto 7324">
            <a:extLst>
              <a:ext uri="{FF2B5EF4-FFF2-40B4-BE49-F238E27FC236}">
                <a16:creationId xmlns:a16="http://schemas.microsoft.com/office/drawing/2014/main" id="{D026E0D4-F78D-5C66-2A3D-86F10B862C07}"/>
              </a:ext>
            </a:extLst>
          </p:cNvPr>
          <p:cNvSpPr txBox="1"/>
          <p:nvPr/>
        </p:nvSpPr>
        <p:spPr>
          <a:xfrm>
            <a:off x="8634201" y="47438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6" name="CuadroTexto 7325">
            <a:extLst>
              <a:ext uri="{FF2B5EF4-FFF2-40B4-BE49-F238E27FC236}">
                <a16:creationId xmlns:a16="http://schemas.microsoft.com/office/drawing/2014/main" id="{A0C3E2C9-FCC1-ED22-3CCE-9A5F3F0036A1}"/>
              </a:ext>
            </a:extLst>
          </p:cNvPr>
          <p:cNvSpPr txBox="1"/>
          <p:nvPr/>
        </p:nvSpPr>
        <p:spPr>
          <a:xfrm>
            <a:off x="9021689" y="109348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sp>
        <p:nvSpPr>
          <p:cNvPr id="7328" name="CuadroTexto 7327">
            <a:extLst>
              <a:ext uri="{FF2B5EF4-FFF2-40B4-BE49-F238E27FC236}">
                <a16:creationId xmlns:a16="http://schemas.microsoft.com/office/drawing/2014/main" id="{AFAC0600-A70D-A88A-E9CE-040D8040CBF8}"/>
              </a:ext>
            </a:extLst>
          </p:cNvPr>
          <p:cNvSpPr txBox="1"/>
          <p:nvPr/>
        </p:nvSpPr>
        <p:spPr>
          <a:xfrm>
            <a:off x="7616933" y="130029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cxnSp>
        <p:nvCxnSpPr>
          <p:cNvPr id="7342" name="Conector angular 7341">
            <a:extLst>
              <a:ext uri="{FF2B5EF4-FFF2-40B4-BE49-F238E27FC236}">
                <a16:creationId xmlns:a16="http://schemas.microsoft.com/office/drawing/2014/main" id="{3EB5C188-DAAA-4096-90DE-2D189CDCD0CC}"/>
              </a:ext>
            </a:extLst>
          </p:cNvPr>
          <p:cNvCxnSpPr>
            <a:endCxn id="7170" idx="3"/>
          </p:cNvCxnSpPr>
          <p:nvPr/>
        </p:nvCxnSpPr>
        <p:spPr>
          <a:xfrm rot="5400000">
            <a:off x="2598796" y="2266452"/>
            <a:ext cx="245785" cy="209024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3" name="Conector angular 7342">
            <a:extLst>
              <a:ext uri="{FF2B5EF4-FFF2-40B4-BE49-F238E27FC236}">
                <a16:creationId xmlns:a16="http://schemas.microsoft.com/office/drawing/2014/main" id="{7F568F78-AF72-2D66-8FAE-AE1F3EC7690F}"/>
              </a:ext>
            </a:extLst>
          </p:cNvPr>
          <p:cNvCxnSpPr>
            <a:cxnSpLocks/>
            <a:endCxn id="7266" idx="0"/>
          </p:cNvCxnSpPr>
          <p:nvPr/>
        </p:nvCxnSpPr>
        <p:spPr>
          <a:xfrm>
            <a:off x="2994538" y="805844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4" name="Conector angular 7343">
            <a:extLst>
              <a:ext uri="{FF2B5EF4-FFF2-40B4-BE49-F238E27FC236}">
                <a16:creationId xmlns:a16="http://schemas.microsoft.com/office/drawing/2014/main" id="{B9193EA8-ECB8-AC94-A0F7-564D4B912477}"/>
              </a:ext>
            </a:extLst>
          </p:cNvPr>
          <p:cNvCxnSpPr>
            <a:cxnSpLocks/>
            <a:stCxn id="7320" idx="0"/>
          </p:cNvCxnSpPr>
          <p:nvPr/>
        </p:nvCxnSpPr>
        <p:spPr>
          <a:xfrm rot="5400000" flipH="1" flipV="1">
            <a:off x="4771530" y="2727860"/>
            <a:ext cx="88083" cy="228555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49" name="Picture 6" descr="Hand, finger, gesture">
            <a:extLst>
              <a:ext uri="{FF2B5EF4-FFF2-40B4-BE49-F238E27FC236}">
                <a16:creationId xmlns:a16="http://schemas.microsoft.com/office/drawing/2014/main" id="{429A1DCF-D11A-8F54-6EC8-C3DD26AC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49313" y="177652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0" name="Picture 6" descr="Hand, finger, gesture">
            <a:extLst>
              <a:ext uri="{FF2B5EF4-FFF2-40B4-BE49-F238E27FC236}">
                <a16:creationId xmlns:a16="http://schemas.microsoft.com/office/drawing/2014/main" id="{0D261F7F-B551-248D-9521-E4645D0A9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60740" y="3604048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51" name="CuadroTexto 7350">
            <a:extLst>
              <a:ext uri="{FF2B5EF4-FFF2-40B4-BE49-F238E27FC236}">
                <a16:creationId xmlns:a16="http://schemas.microsoft.com/office/drawing/2014/main" id="{EFC11607-3AFA-1339-ED50-D5430813B271}"/>
              </a:ext>
            </a:extLst>
          </p:cNvPr>
          <p:cNvSpPr txBox="1"/>
          <p:nvPr/>
        </p:nvSpPr>
        <p:spPr>
          <a:xfrm>
            <a:off x="107978" y="35073"/>
            <a:ext cx="966356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</a:rPr>
              <a:t>HR12.Proceso </a:t>
            </a:r>
            <a:r>
              <a:rPr lang="es-ES_tradnl" sz="1400" b="1" dirty="0" err="1">
                <a:solidFill>
                  <a:schemeClr val="bg1"/>
                </a:solidFill>
              </a:rPr>
              <a:t>Hire</a:t>
            </a:r>
            <a:r>
              <a:rPr lang="es-ES_tradnl" sz="1400" b="1" dirty="0">
                <a:solidFill>
                  <a:schemeClr val="bg1"/>
                </a:solidFill>
              </a:rPr>
              <a:t> </a:t>
            </a:r>
            <a:r>
              <a:rPr lang="es-ES_tradnl" sz="1400" b="1" dirty="0" err="1">
                <a:solidFill>
                  <a:schemeClr val="bg1"/>
                </a:solidFill>
              </a:rPr>
              <a:t>to</a:t>
            </a:r>
            <a:r>
              <a:rPr lang="es-ES_tradnl" sz="1400" b="1" dirty="0">
                <a:solidFill>
                  <a:schemeClr val="bg1"/>
                </a:solidFill>
              </a:rPr>
              <a:t> Retire </a:t>
            </a:r>
            <a:r>
              <a:rPr lang="es-ES_tradnl" sz="1400" b="1" dirty="0">
                <a:solidFill>
                  <a:schemeClr val="bg1"/>
                </a:solidFill>
                <a:sym typeface="Wingdings" pitchFamily="2" charset="2"/>
              </a:rPr>
              <a:t> HR1201- </a:t>
            </a:r>
            <a:r>
              <a:rPr lang="es-ES_tradnl" sz="1400" b="1" dirty="0">
                <a:solidFill>
                  <a:schemeClr val="bg1"/>
                </a:solidFill>
              </a:rPr>
              <a:t>Selección y Reclutamiento</a:t>
            </a:r>
            <a:endParaRPr lang="es-ES_tradnl" sz="1050" dirty="0">
              <a:solidFill>
                <a:schemeClr val="bg1"/>
              </a:solidFill>
            </a:endParaRPr>
          </a:p>
        </p:txBody>
      </p:sp>
      <p:sp>
        <p:nvSpPr>
          <p:cNvPr id="7352" name="Rectángulo 7351">
            <a:extLst>
              <a:ext uri="{FF2B5EF4-FFF2-40B4-BE49-F238E27FC236}">
                <a16:creationId xmlns:a16="http://schemas.microsoft.com/office/drawing/2014/main" id="{DB334EF8-6484-4AE1-BAFE-C2482534F7A8}"/>
              </a:ext>
            </a:extLst>
          </p:cNvPr>
          <p:cNvSpPr/>
          <p:nvPr/>
        </p:nvSpPr>
        <p:spPr>
          <a:xfrm>
            <a:off x="828831" y="5774020"/>
            <a:ext cx="8942715" cy="999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53" name="Rectángulo 7352">
            <a:extLst>
              <a:ext uri="{FF2B5EF4-FFF2-40B4-BE49-F238E27FC236}">
                <a16:creationId xmlns:a16="http://schemas.microsoft.com/office/drawing/2014/main" id="{EB482C54-E8F3-BA04-E334-D4A8544E7802}"/>
              </a:ext>
            </a:extLst>
          </p:cNvPr>
          <p:cNvSpPr/>
          <p:nvPr/>
        </p:nvSpPr>
        <p:spPr>
          <a:xfrm rot="16200000">
            <a:off x="-49363" y="5947558"/>
            <a:ext cx="99900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Director RRHH</a:t>
            </a:r>
          </a:p>
        </p:txBody>
      </p:sp>
      <p:sp>
        <p:nvSpPr>
          <p:cNvPr id="7354" name="CuadroTexto 7353">
            <a:extLst>
              <a:ext uri="{FF2B5EF4-FFF2-40B4-BE49-F238E27FC236}">
                <a16:creationId xmlns:a16="http://schemas.microsoft.com/office/drawing/2014/main" id="{6438D7A5-FE45-DF56-C484-F31F5AED91A3}"/>
              </a:ext>
            </a:extLst>
          </p:cNvPr>
          <p:cNvSpPr txBox="1"/>
          <p:nvPr/>
        </p:nvSpPr>
        <p:spPr>
          <a:xfrm>
            <a:off x="4814808" y="5877568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Firma de Contrato</a:t>
            </a:r>
          </a:p>
        </p:txBody>
      </p:sp>
      <p:cxnSp>
        <p:nvCxnSpPr>
          <p:cNvPr id="7361" name="Conector angular 7360">
            <a:extLst>
              <a:ext uri="{FF2B5EF4-FFF2-40B4-BE49-F238E27FC236}">
                <a16:creationId xmlns:a16="http://schemas.microsoft.com/office/drawing/2014/main" id="{C1E8C0A7-7D8B-07A2-3A60-A5A3E6494E6E}"/>
              </a:ext>
            </a:extLst>
          </p:cNvPr>
          <p:cNvCxnSpPr>
            <a:stCxn id="7354" idx="3"/>
            <a:endCxn id="7282" idx="2"/>
          </p:cNvCxnSpPr>
          <p:nvPr/>
        </p:nvCxnSpPr>
        <p:spPr>
          <a:xfrm flipV="1">
            <a:off x="6253995" y="5518287"/>
            <a:ext cx="354307" cy="6016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62" name="Picture 6" descr="Hand, finger, gesture">
            <a:extLst>
              <a:ext uri="{FF2B5EF4-FFF2-40B4-BE49-F238E27FC236}">
                <a16:creationId xmlns:a16="http://schemas.microsoft.com/office/drawing/2014/main" id="{A3FF5112-3BA2-41BF-DBB3-840D0AFA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51868" y="591136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3" name="Picture 8">
            <a:extLst>
              <a:ext uri="{FF2B5EF4-FFF2-40B4-BE49-F238E27FC236}">
                <a16:creationId xmlns:a16="http://schemas.microsoft.com/office/drawing/2014/main" id="{BAD3BF62-5C33-4881-1A66-9C40BBE8F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084" y="3539866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64" name="CuadroTexto 7363">
            <a:extLst>
              <a:ext uri="{FF2B5EF4-FFF2-40B4-BE49-F238E27FC236}">
                <a16:creationId xmlns:a16="http://schemas.microsoft.com/office/drawing/2014/main" id="{3D5A94CE-9EFC-7FC4-4D7A-C4002B2F8D8E}"/>
              </a:ext>
            </a:extLst>
          </p:cNvPr>
          <p:cNvSpPr txBox="1"/>
          <p:nvPr/>
        </p:nvSpPr>
        <p:spPr>
          <a:xfrm>
            <a:off x="6263767" y="3879824"/>
            <a:ext cx="16401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Contratación.docx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cxnSp>
        <p:nvCxnSpPr>
          <p:cNvPr id="7367" name="Conector angular 7366">
            <a:extLst>
              <a:ext uri="{FF2B5EF4-FFF2-40B4-BE49-F238E27FC236}">
                <a16:creationId xmlns:a16="http://schemas.microsoft.com/office/drawing/2014/main" id="{7C9D6392-E6AC-75F0-6BA3-C93031C9BD32}"/>
              </a:ext>
            </a:extLst>
          </p:cNvPr>
          <p:cNvCxnSpPr>
            <a:stCxn id="7276" idx="2"/>
            <a:endCxn id="7354" idx="0"/>
          </p:cNvCxnSpPr>
          <p:nvPr/>
        </p:nvCxnSpPr>
        <p:spPr>
          <a:xfrm rot="5400000">
            <a:off x="4626278" y="4969442"/>
            <a:ext cx="181625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AA02559F-D2E1-18AD-F316-66C00E44ED06}"/>
              </a:ext>
            </a:extLst>
          </p:cNvPr>
          <p:cNvSpPr/>
          <p:nvPr/>
        </p:nvSpPr>
        <p:spPr>
          <a:xfrm>
            <a:off x="4766494" y="5821644"/>
            <a:ext cx="1535815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983732-3E79-A212-BCCF-F4C9A255E884}"/>
              </a:ext>
            </a:extLst>
          </p:cNvPr>
          <p:cNvSpPr/>
          <p:nvPr/>
        </p:nvSpPr>
        <p:spPr>
          <a:xfrm>
            <a:off x="1516088" y="1712739"/>
            <a:ext cx="1535815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7229B5-BEB4-3B54-BE30-1FBFFB5C35D2}"/>
              </a:ext>
            </a:extLst>
          </p:cNvPr>
          <p:cNvSpPr/>
          <p:nvPr/>
        </p:nvSpPr>
        <p:spPr>
          <a:xfrm>
            <a:off x="3171877" y="1710355"/>
            <a:ext cx="1535815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1611C0E-1ABE-372F-D716-EB1230CF29D5}"/>
              </a:ext>
            </a:extLst>
          </p:cNvPr>
          <p:cNvSpPr txBox="1"/>
          <p:nvPr/>
        </p:nvSpPr>
        <p:spPr>
          <a:xfrm>
            <a:off x="1452068" y="3129785"/>
            <a:ext cx="3360358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Nula Segregación de Funciones</a:t>
            </a:r>
            <a:r>
              <a:rPr lang="es-ES_tradnl" sz="14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s-ES_tradnl" sz="1400" dirty="0">
                <a:solidFill>
                  <a:schemeClr val="bg1"/>
                </a:solidFill>
              </a:rPr>
              <a:t>El que registra, aprueba publicación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70A5E8-8E35-C4B1-C83E-5223F05C7EEA}"/>
              </a:ext>
            </a:extLst>
          </p:cNvPr>
          <p:cNvSpPr txBox="1"/>
          <p:nvPr/>
        </p:nvSpPr>
        <p:spPr>
          <a:xfrm>
            <a:off x="6360146" y="6134492"/>
            <a:ext cx="3360358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Poca Control e Ineficiencia</a:t>
            </a:r>
            <a:endParaRPr lang="es-ES_tradnl" sz="1400" dirty="0">
              <a:solidFill>
                <a:schemeClr val="bg1"/>
              </a:solidFill>
            </a:endParaRPr>
          </a:p>
          <a:p>
            <a:pPr algn="ctr"/>
            <a:r>
              <a:rPr lang="es-ES_tradnl" sz="1400" dirty="0">
                <a:solidFill>
                  <a:schemeClr val="bg1"/>
                </a:solidFill>
              </a:rPr>
              <a:t>Baja Gestión del Director de HR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62B11D6-B72A-FDE8-1A71-9CC6E8C00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9371" y="4954344"/>
            <a:ext cx="7772400" cy="606271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A24E337-B471-F801-B882-A7AF283CBC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5346" y="2424404"/>
            <a:ext cx="7772400" cy="597876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650478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8" name="Rectángulo 7337">
            <a:extLst>
              <a:ext uri="{FF2B5EF4-FFF2-40B4-BE49-F238E27FC236}">
                <a16:creationId xmlns:a16="http://schemas.microsoft.com/office/drawing/2014/main" id="{20E7EB5A-5051-36B6-423A-BD37F66BB186}"/>
              </a:ext>
            </a:extLst>
          </p:cNvPr>
          <p:cNvSpPr/>
          <p:nvPr/>
        </p:nvSpPr>
        <p:spPr>
          <a:xfrm>
            <a:off x="-5832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1" name="Rectángulo 7330">
            <a:extLst>
              <a:ext uri="{FF2B5EF4-FFF2-40B4-BE49-F238E27FC236}">
                <a16:creationId xmlns:a16="http://schemas.microsoft.com/office/drawing/2014/main" id="{5FDA60CE-0F41-2286-BCD5-9FF3888A107B}"/>
              </a:ext>
            </a:extLst>
          </p:cNvPr>
          <p:cNvSpPr/>
          <p:nvPr/>
        </p:nvSpPr>
        <p:spPr>
          <a:xfrm>
            <a:off x="822437" y="4329950"/>
            <a:ext cx="8942715" cy="13835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330" name="Rectángulo 7329">
            <a:extLst>
              <a:ext uri="{FF2B5EF4-FFF2-40B4-BE49-F238E27FC236}">
                <a16:creationId xmlns:a16="http://schemas.microsoft.com/office/drawing/2014/main" id="{BFC97442-46C2-2A72-D98C-C1FA720F21FA}"/>
              </a:ext>
            </a:extLst>
          </p:cNvPr>
          <p:cNvSpPr/>
          <p:nvPr/>
        </p:nvSpPr>
        <p:spPr>
          <a:xfrm>
            <a:off x="828831" y="1598564"/>
            <a:ext cx="8942715" cy="2661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29" name="Rectángulo 7328">
            <a:extLst>
              <a:ext uri="{FF2B5EF4-FFF2-40B4-BE49-F238E27FC236}">
                <a16:creationId xmlns:a16="http://schemas.microsoft.com/office/drawing/2014/main" id="{E33CDE91-39BA-BBCD-53B7-B711A9F90E5A}"/>
              </a:ext>
            </a:extLst>
          </p:cNvPr>
          <p:cNvSpPr/>
          <p:nvPr/>
        </p:nvSpPr>
        <p:spPr>
          <a:xfrm>
            <a:off x="828832" y="372525"/>
            <a:ext cx="8942715" cy="117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041685-4211-71C2-9F3F-7D94EBE7BB44}"/>
              </a:ext>
            </a:extLst>
          </p:cNvPr>
          <p:cNvSpPr/>
          <p:nvPr/>
        </p:nvSpPr>
        <p:spPr>
          <a:xfrm rot="16200000">
            <a:off x="-144567" y="634872"/>
            <a:ext cx="117662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Área Usuaria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Solicitante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179691-48D1-C7D5-94AB-97E5933FE172}"/>
              </a:ext>
            </a:extLst>
          </p:cNvPr>
          <p:cNvSpPr/>
          <p:nvPr/>
        </p:nvSpPr>
        <p:spPr>
          <a:xfrm>
            <a:off x="900391" y="809129"/>
            <a:ext cx="313266" cy="2878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95854C-760C-B3CE-976B-44FDEE632C3F}"/>
              </a:ext>
            </a:extLst>
          </p:cNvPr>
          <p:cNvSpPr txBox="1"/>
          <p:nvPr/>
        </p:nvSpPr>
        <p:spPr>
          <a:xfrm>
            <a:off x="1557186" y="1756420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Requerimiento de Candidatos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32E2E-694C-43AF-F611-14BF9440B06E}"/>
              </a:ext>
            </a:extLst>
          </p:cNvPr>
          <p:cNvSpPr txBox="1"/>
          <p:nvPr/>
        </p:nvSpPr>
        <p:spPr>
          <a:xfrm>
            <a:off x="1557186" y="673624"/>
            <a:ext cx="1439187" cy="552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Solicitud de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Requerimiento de Candidatos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46CB5C-0563-CD3E-5E2E-50157CA43F77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 flipV="1">
            <a:off x="1213657" y="949979"/>
            <a:ext cx="343529" cy="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011220-994E-58D8-12B9-6683BF6A192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2276780" y="1226334"/>
            <a:ext cx="0" cy="530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E4CC33-75CF-0BD6-B3A7-B315E673A13B}"/>
              </a:ext>
            </a:extLst>
          </p:cNvPr>
          <p:cNvSpPr/>
          <p:nvPr/>
        </p:nvSpPr>
        <p:spPr>
          <a:xfrm rot="16200000">
            <a:off x="-884475" y="2603154"/>
            <a:ext cx="2661113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Desarrollo Organizacional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4EEBC56-DFCF-E1F8-0591-9B938B96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007" y="2306920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22245F2-838A-491E-00D5-CC91547E9642}"/>
              </a:ext>
            </a:extLst>
          </p:cNvPr>
          <p:cNvSpPr txBox="1"/>
          <p:nvPr/>
        </p:nvSpPr>
        <p:spPr>
          <a:xfrm>
            <a:off x="990260" y="2287567"/>
            <a:ext cx="1204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BD de RQ-2024.xlsx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27360A-E6D7-BFA7-E366-F582906D1D84}"/>
              </a:ext>
            </a:extLst>
          </p:cNvPr>
          <p:cNvSpPr txBox="1"/>
          <p:nvPr/>
        </p:nvSpPr>
        <p:spPr>
          <a:xfrm>
            <a:off x="3220071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Publicación de Vacante en Medios Digitales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CC4FD16-4D43-CB5C-829F-F3E179674225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 flipV="1">
            <a:off x="2996373" y="2002245"/>
            <a:ext cx="22369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F1E80D7-522D-C12B-7261-022308BCEC4A}"/>
              </a:ext>
            </a:extLst>
          </p:cNvPr>
          <p:cNvSpPr txBox="1"/>
          <p:nvPr/>
        </p:nvSpPr>
        <p:spPr>
          <a:xfrm>
            <a:off x="4931918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Recepción de Hojas de Vida y Filtro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B3BB4DE-724E-B00E-51C1-56F841AADB36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4659258" y="2002245"/>
            <a:ext cx="272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8130FA-2191-041C-D38A-7802115E83A3}"/>
              </a:ext>
            </a:extLst>
          </p:cNvPr>
          <p:cNvSpPr txBox="1"/>
          <p:nvPr/>
        </p:nvSpPr>
        <p:spPr>
          <a:xfrm>
            <a:off x="4931918" y="269093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Entrevistas y Llenado de Ficha de Candidato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0A727EA-CD2E-7F3D-5DD9-A923B0D79B83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5651512" y="2248072"/>
            <a:ext cx="0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C517EC-706D-AD1E-A15B-D623FDE96247}"/>
              </a:ext>
            </a:extLst>
          </p:cNvPr>
          <p:cNvSpPr txBox="1"/>
          <p:nvPr/>
        </p:nvSpPr>
        <p:spPr>
          <a:xfrm>
            <a:off x="6867466" y="2690930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Psicométricas (Presencial)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364C961-7DB4-D19A-CF8E-FD37AC3BB114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6371105" y="2933302"/>
            <a:ext cx="496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5" name="Rombo 7184">
            <a:extLst>
              <a:ext uri="{FF2B5EF4-FFF2-40B4-BE49-F238E27FC236}">
                <a16:creationId xmlns:a16="http://schemas.microsoft.com/office/drawing/2014/main" id="{0240C84E-ED78-25F2-E418-E79E7BDEB562}"/>
              </a:ext>
            </a:extLst>
          </p:cNvPr>
          <p:cNvSpPr/>
          <p:nvPr/>
        </p:nvSpPr>
        <p:spPr>
          <a:xfrm>
            <a:off x="7258868" y="1783103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187" name="Conector recto de flecha 7186">
            <a:extLst>
              <a:ext uri="{FF2B5EF4-FFF2-40B4-BE49-F238E27FC236}">
                <a16:creationId xmlns:a16="http://schemas.microsoft.com/office/drawing/2014/main" id="{DD994B2F-7E53-E5C0-315C-3F9FEB538246}"/>
              </a:ext>
            </a:extLst>
          </p:cNvPr>
          <p:cNvCxnSpPr>
            <a:cxnSpLocks/>
          </p:cNvCxnSpPr>
          <p:nvPr/>
        </p:nvCxnSpPr>
        <p:spPr>
          <a:xfrm flipH="1" flipV="1">
            <a:off x="7610911" y="2248072"/>
            <a:ext cx="6022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9" name="Conector recto de flecha 7188">
            <a:extLst>
              <a:ext uri="{FF2B5EF4-FFF2-40B4-BE49-F238E27FC236}">
                <a16:creationId xmlns:a16="http://schemas.microsoft.com/office/drawing/2014/main" id="{036C4CD7-B877-1EB6-5A94-F03CC1771E09}"/>
              </a:ext>
            </a:extLst>
          </p:cNvPr>
          <p:cNvCxnSpPr>
            <a:cxnSpLocks/>
            <a:stCxn id="7185" idx="1"/>
            <a:endCxn id="35" idx="3"/>
          </p:cNvCxnSpPr>
          <p:nvPr/>
        </p:nvCxnSpPr>
        <p:spPr>
          <a:xfrm flipH="1" flipV="1">
            <a:off x="6371105" y="2002245"/>
            <a:ext cx="887763" cy="1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4" name="CuadroTexto 7193">
            <a:extLst>
              <a:ext uri="{FF2B5EF4-FFF2-40B4-BE49-F238E27FC236}">
                <a16:creationId xmlns:a16="http://schemas.microsoft.com/office/drawing/2014/main" id="{A45069A6-9C5C-9499-A0D9-42387D5FFD3E}"/>
              </a:ext>
            </a:extLst>
          </p:cNvPr>
          <p:cNvSpPr txBox="1"/>
          <p:nvPr/>
        </p:nvSpPr>
        <p:spPr>
          <a:xfrm>
            <a:off x="6891317" y="647988"/>
            <a:ext cx="1439187" cy="5211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 con Solicitante</a:t>
            </a:r>
          </a:p>
        </p:txBody>
      </p:sp>
      <p:cxnSp>
        <p:nvCxnSpPr>
          <p:cNvPr id="7195" name="Conector recto de flecha 7194">
            <a:extLst>
              <a:ext uri="{FF2B5EF4-FFF2-40B4-BE49-F238E27FC236}">
                <a16:creationId xmlns:a16="http://schemas.microsoft.com/office/drawing/2014/main" id="{49F53781-5CAE-A516-28F2-DEE60E077BCF}"/>
              </a:ext>
            </a:extLst>
          </p:cNvPr>
          <p:cNvCxnSpPr>
            <a:cxnSpLocks/>
            <a:stCxn id="7185" idx="0"/>
          </p:cNvCxnSpPr>
          <p:nvPr/>
        </p:nvCxnSpPr>
        <p:spPr>
          <a:xfrm flipV="1">
            <a:off x="7610911" y="1169178"/>
            <a:ext cx="0" cy="61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9" name="CuadroTexto 7198">
            <a:extLst>
              <a:ext uri="{FF2B5EF4-FFF2-40B4-BE49-F238E27FC236}">
                <a16:creationId xmlns:a16="http://schemas.microsoft.com/office/drawing/2014/main" id="{3DA02FEB-1400-AE79-F4CA-AE05AFFE20F5}"/>
              </a:ext>
            </a:extLst>
          </p:cNvPr>
          <p:cNvSpPr txBox="1"/>
          <p:nvPr/>
        </p:nvSpPr>
        <p:spPr>
          <a:xfrm>
            <a:off x="1188562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Validación de Referencias Crediticias</a:t>
            </a:r>
          </a:p>
        </p:txBody>
      </p:sp>
      <p:sp>
        <p:nvSpPr>
          <p:cNvPr id="7201" name="Rombo 7200">
            <a:extLst>
              <a:ext uri="{FF2B5EF4-FFF2-40B4-BE49-F238E27FC236}">
                <a16:creationId xmlns:a16="http://schemas.microsoft.com/office/drawing/2014/main" id="{EF585719-B760-A389-A1A6-9A9B3A3CCC18}"/>
              </a:ext>
            </a:extLst>
          </p:cNvPr>
          <p:cNvSpPr/>
          <p:nvPr/>
        </p:nvSpPr>
        <p:spPr>
          <a:xfrm>
            <a:off x="8667576" y="673625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02" name="Conector recto de flecha 7201">
            <a:extLst>
              <a:ext uri="{FF2B5EF4-FFF2-40B4-BE49-F238E27FC236}">
                <a16:creationId xmlns:a16="http://schemas.microsoft.com/office/drawing/2014/main" id="{CE6FF1D8-F68E-7F48-762A-C2101C559E28}"/>
              </a:ext>
            </a:extLst>
          </p:cNvPr>
          <p:cNvCxnSpPr>
            <a:cxnSpLocks/>
            <a:stCxn id="7194" idx="3"/>
            <a:endCxn id="7201" idx="1"/>
          </p:cNvCxnSpPr>
          <p:nvPr/>
        </p:nvCxnSpPr>
        <p:spPr>
          <a:xfrm flipV="1">
            <a:off x="8330504" y="906110"/>
            <a:ext cx="337072" cy="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0" name="Conector angular 7219">
            <a:extLst>
              <a:ext uri="{FF2B5EF4-FFF2-40B4-BE49-F238E27FC236}">
                <a16:creationId xmlns:a16="http://schemas.microsoft.com/office/drawing/2014/main" id="{34E84BF1-E801-0064-B550-B25DB745D327}"/>
              </a:ext>
            </a:extLst>
          </p:cNvPr>
          <p:cNvCxnSpPr>
            <a:cxnSpLocks/>
            <a:stCxn id="7201" idx="0"/>
            <a:endCxn id="35" idx="0"/>
          </p:cNvCxnSpPr>
          <p:nvPr/>
        </p:nvCxnSpPr>
        <p:spPr>
          <a:xfrm rot="16200000" flipH="1" flipV="1">
            <a:off x="6794169" y="-469033"/>
            <a:ext cx="1082793" cy="3368107"/>
          </a:xfrm>
          <a:prstGeom prst="bentConnector3">
            <a:avLst>
              <a:gd name="adj1" fmla="val -21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3" name="Conector angular 7222">
            <a:extLst>
              <a:ext uri="{FF2B5EF4-FFF2-40B4-BE49-F238E27FC236}">
                <a16:creationId xmlns:a16="http://schemas.microsoft.com/office/drawing/2014/main" id="{590FB989-7AD0-9DC5-782E-0D518FB3185A}"/>
              </a:ext>
            </a:extLst>
          </p:cNvPr>
          <p:cNvCxnSpPr>
            <a:cxnSpLocks/>
            <a:stCxn id="7201" idx="2"/>
            <a:endCxn id="7199" idx="0"/>
          </p:cNvCxnSpPr>
          <p:nvPr/>
        </p:nvCxnSpPr>
        <p:spPr>
          <a:xfrm rot="5400000">
            <a:off x="4244899" y="-1198148"/>
            <a:ext cx="2437979" cy="7111463"/>
          </a:xfrm>
          <a:prstGeom prst="bentConnector3">
            <a:avLst>
              <a:gd name="adj1" fmla="val 910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66" name="Picture 2">
            <a:extLst>
              <a:ext uri="{FF2B5EF4-FFF2-40B4-BE49-F238E27FC236}">
                <a16:creationId xmlns:a16="http://schemas.microsoft.com/office/drawing/2014/main" id="{AD3C54F7-054D-91A0-699D-2E0F3CD9C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222" y="940292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67" name="CuadroTexto 7266">
            <a:extLst>
              <a:ext uri="{FF2B5EF4-FFF2-40B4-BE49-F238E27FC236}">
                <a16:creationId xmlns:a16="http://schemas.microsoft.com/office/drawing/2014/main" id="{31211F81-6FB3-655C-7A3B-734EEF1F1A27}"/>
              </a:ext>
            </a:extLst>
          </p:cNvPr>
          <p:cNvSpPr txBox="1"/>
          <p:nvPr/>
        </p:nvSpPr>
        <p:spPr>
          <a:xfrm>
            <a:off x="2499117" y="1268586"/>
            <a:ext cx="10903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Formato de Perfil</a:t>
            </a:r>
          </a:p>
        </p:txBody>
      </p:sp>
      <p:sp>
        <p:nvSpPr>
          <p:cNvPr id="7272" name="CuadroTexto 7271">
            <a:extLst>
              <a:ext uri="{FF2B5EF4-FFF2-40B4-BE49-F238E27FC236}">
                <a16:creationId xmlns:a16="http://schemas.microsoft.com/office/drawing/2014/main" id="{F4B1FECB-558F-50F5-60F7-43165D3CF091}"/>
              </a:ext>
            </a:extLst>
          </p:cNvPr>
          <p:cNvSpPr txBox="1"/>
          <p:nvPr/>
        </p:nvSpPr>
        <p:spPr>
          <a:xfrm>
            <a:off x="3024651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Elaboración de Contrato</a:t>
            </a:r>
          </a:p>
        </p:txBody>
      </p:sp>
      <p:cxnSp>
        <p:nvCxnSpPr>
          <p:cNvPr id="7273" name="Conector recto de flecha 7272">
            <a:extLst>
              <a:ext uri="{FF2B5EF4-FFF2-40B4-BE49-F238E27FC236}">
                <a16:creationId xmlns:a16="http://schemas.microsoft.com/office/drawing/2014/main" id="{342CF633-5649-8810-068C-8F823A83D58B}"/>
              </a:ext>
            </a:extLst>
          </p:cNvPr>
          <p:cNvCxnSpPr>
            <a:cxnSpLocks/>
            <a:stCxn id="7199" idx="3"/>
            <a:endCxn id="7272" idx="1"/>
          </p:cNvCxnSpPr>
          <p:nvPr/>
        </p:nvCxnSpPr>
        <p:spPr>
          <a:xfrm>
            <a:off x="2627749" y="3818945"/>
            <a:ext cx="396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6" name="CuadroTexto 7275">
            <a:extLst>
              <a:ext uri="{FF2B5EF4-FFF2-40B4-BE49-F238E27FC236}">
                <a16:creationId xmlns:a16="http://schemas.microsoft.com/office/drawing/2014/main" id="{3AC59DD0-E8BE-6DEB-8B80-0CA1A84CC144}"/>
              </a:ext>
            </a:extLst>
          </p:cNvPr>
          <p:cNvSpPr txBox="1"/>
          <p:nvPr/>
        </p:nvSpPr>
        <p:spPr>
          <a:xfrm>
            <a:off x="4814809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Preparación del Expediente para Inducción</a:t>
            </a:r>
          </a:p>
        </p:txBody>
      </p:sp>
      <p:cxnSp>
        <p:nvCxnSpPr>
          <p:cNvPr id="7277" name="Conector recto de flecha 7276">
            <a:extLst>
              <a:ext uri="{FF2B5EF4-FFF2-40B4-BE49-F238E27FC236}">
                <a16:creationId xmlns:a16="http://schemas.microsoft.com/office/drawing/2014/main" id="{D450196B-EEF9-EEB5-0B90-5289B40A8C85}"/>
              </a:ext>
            </a:extLst>
          </p:cNvPr>
          <p:cNvCxnSpPr>
            <a:cxnSpLocks/>
            <a:stCxn id="7272" idx="3"/>
            <a:endCxn id="7276" idx="1"/>
          </p:cNvCxnSpPr>
          <p:nvPr/>
        </p:nvCxnSpPr>
        <p:spPr>
          <a:xfrm>
            <a:off x="4463838" y="3818945"/>
            <a:ext cx="350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0" name="Rectángulo 7279">
            <a:extLst>
              <a:ext uri="{FF2B5EF4-FFF2-40B4-BE49-F238E27FC236}">
                <a16:creationId xmlns:a16="http://schemas.microsoft.com/office/drawing/2014/main" id="{32506046-B594-41E3-8D8B-CB46306F2DFA}"/>
              </a:ext>
            </a:extLst>
          </p:cNvPr>
          <p:cNvSpPr/>
          <p:nvPr/>
        </p:nvSpPr>
        <p:spPr>
          <a:xfrm rot="16200000">
            <a:off x="-248018" y="4705525"/>
            <a:ext cx="1383530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Nómina</a:t>
            </a:r>
          </a:p>
        </p:txBody>
      </p:sp>
      <p:sp>
        <p:nvSpPr>
          <p:cNvPr id="7282" name="CuadroTexto 7281">
            <a:extLst>
              <a:ext uri="{FF2B5EF4-FFF2-40B4-BE49-F238E27FC236}">
                <a16:creationId xmlns:a16="http://schemas.microsoft.com/office/drawing/2014/main" id="{5E9C4721-7BBA-C1F7-A67D-EF016F4045E3}"/>
              </a:ext>
            </a:extLst>
          </p:cNvPr>
          <p:cNvSpPr txBox="1"/>
          <p:nvPr/>
        </p:nvSpPr>
        <p:spPr>
          <a:xfrm>
            <a:off x="5888708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Inducción de Políticas Laborales</a:t>
            </a:r>
          </a:p>
        </p:txBody>
      </p:sp>
      <p:sp>
        <p:nvSpPr>
          <p:cNvPr id="7293" name="CuadroTexto 7292">
            <a:extLst>
              <a:ext uri="{FF2B5EF4-FFF2-40B4-BE49-F238E27FC236}">
                <a16:creationId xmlns:a16="http://schemas.microsoft.com/office/drawing/2014/main" id="{C509F8E0-B3FB-D3CE-08EF-A2EB36DEC240}"/>
              </a:ext>
            </a:extLst>
          </p:cNvPr>
          <p:cNvSpPr txBox="1"/>
          <p:nvPr/>
        </p:nvSpPr>
        <p:spPr>
          <a:xfrm>
            <a:off x="7573812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Datos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del Colaborador</a:t>
            </a:r>
          </a:p>
        </p:txBody>
      </p:sp>
      <p:cxnSp>
        <p:nvCxnSpPr>
          <p:cNvPr id="7294" name="Conector recto de flecha 7293">
            <a:extLst>
              <a:ext uri="{FF2B5EF4-FFF2-40B4-BE49-F238E27FC236}">
                <a16:creationId xmlns:a16="http://schemas.microsoft.com/office/drawing/2014/main" id="{789D129D-C3FB-9443-B329-B02D1563FD75}"/>
              </a:ext>
            </a:extLst>
          </p:cNvPr>
          <p:cNvCxnSpPr>
            <a:cxnSpLocks/>
            <a:stCxn id="7282" idx="3"/>
            <a:endCxn id="7293" idx="1"/>
          </p:cNvCxnSpPr>
          <p:nvPr/>
        </p:nvCxnSpPr>
        <p:spPr>
          <a:xfrm>
            <a:off x="7327895" y="5275915"/>
            <a:ext cx="245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7" name="Elipse 7296">
            <a:extLst>
              <a:ext uri="{FF2B5EF4-FFF2-40B4-BE49-F238E27FC236}">
                <a16:creationId xmlns:a16="http://schemas.microsoft.com/office/drawing/2014/main" id="{3F8736F1-5A8A-58D6-AF62-899609E565CF}"/>
              </a:ext>
            </a:extLst>
          </p:cNvPr>
          <p:cNvSpPr/>
          <p:nvPr/>
        </p:nvSpPr>
        <p:spPr>
          <a:xfrm>
            <a:off x="9247746" y="5131981"/>
            <a:ext cx="313266" cy="287867"/>
          </a:xfrm>
          <a:prstGeom prst="ellipse">
            <a:avLst/>
          </a:prstGeom>
          <a:solidFill>
            <a:srgbClr val="F7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298" name="Conector recto de flecha 7297">
            <a:extLst>
              <a:ext uri="{FF2B5EF4-FFF2-40B4-BE49-F238E27FC236}">
                <a16:creationId xmlns:a16="http://schemas.microsoft.com/office/drawing/2014/main" id="{233C4B83-066B-84AE-06CD-4ED56116F806}"/>
              </a:ext>
            </a:extLst>
          </p:cNvPr>
          <p:cNvCxnSpPr>
            <a:cxnSpLocks/>
            <a:stCxn id="7293" idx="3"/>
            <a:endCxn id="7297" idx="2"/>
          </p:cNvCxnSpPr>
          <p:nvPr/>
        </p:nvCxnSpPr>
        <p:spPr>
          <a:xfrm>
            <a:off x="9012999" y="5275915"/>
            <a:ext cx="234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02" name="Picture 4" descr="Account, profile, user, avatar, human, man, person">
            <a:extLst>
              <a:ext uri="{FF2B5EF4-FFF2-40B4-BE49-F238E27FC236}">
                <a16:creationId xmlns:a16="http://schemas.microsoft.com/office/drawing/2014/main" id="{C87D82B4-5CB3-AE34-5F46-6C9EBFE0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57" y="5059817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03" name="Picture 6" descr="Hand, finger, gesture">
            <a:extLst>
              <a:ext uri="{FF2B5EF4-FFF2-40B4-BE49-F238E27FC236}">
                <a16:creationId xmlns:a16="http://schemas.microsoft.com/office/drawing/2014/main" id="{87F782B9-E8ED-A3C0-3EDD-80252098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1794606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10" name="Cilindro 7309">
            <a:extLst>
              <a:ext uri="{FF2B5EF4-FFF2-40B4-BE49-F238E27FC236}">
                <a16:creationId xmlns:a16="http://schemas.microsoft.com/office/drawing/2014/main" id="{E3CDFFCF-4D0F-6C6F-58A9-0F997D3BFE04}"/>
              </a:ext>
            </a:extLst>
          </p:cNvPr>
          <p:cNvSpPr/>
          <p:nvPr/>
        </p:nvSpPr>
        <p:spPr>
          <a:xfrm>
            <a:off x="8719023" y="4549717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SAP</a:t>
            </a:r>
          </a:p>
        </p:txBody>
      </p:sp>
      <p:cxnSp>
        <p:nvCxnSpPr>
          <p:cNvPr id="7314" name="Conector angular 7313">
            <a:extLst>
              <a:ext uri="{FF2B5EF4-FFF2-40B4-BE49-F238E27FC236}">
                <a16:creationId xmlns:a16="http://schemas.microsoft.com/office/drawing/2014/main" id="{0CAEB9DB-F9E0-E4B4-C985-C3C1B845EC96}"/>
              </a:ext>
            </a:extLst>
          </p:cNvPr>
          <p:cNvCxnSpPr>
            <a:stCxn id="7293" idx="0"/>
            <a:endCxn id="7310" idx="2"/>
          </p:cNvCxnSpPr>
          <p:nvPr/>
        </p:nvCxnSpPr>
        <p:spPr>
          <a:xfrm rot="5400000" flipH="1" flipV="1">
            <a:off x="8351766" y="4666287"/>
            <a:ext cx="308897" cy="425617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15" name="Picture 6" descr="Hand, finger, gesture">
            <a:extLst>
              <a:ext uri="{FF2B5EF4-FFF2-40B4-BE49-F238E27FC236}">
                <a16:creationId xmlns:a16="http://schemas.microsoft.com/office/drawing/2014/main" id="{C5287B95-A1FF-F132-85BA-29C5ED10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693460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6" name="Picture 6" descr="Hand, finger, gesture">
            <a:extLst>
              <a:ext uri="{FF2B5EF4-FFF2-40B4-BE49-F238E27FC236}">
                <a16:creationId xmlns:a16="http://schemas.microsoft.com/office/drawing/2014/main" id="{927C3BC2-8FE5-1A25-563C-5C42E45A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57719" y="178014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7" name="Picture 6" descr="Hand, finger, gesture">
            <a:extLst>
              <a:ext uri="{FF2B5EF4-FFF2-40B4-BE49-F238E27FC236}">
                <a16:creationId xmlns:a16="http://schemas.microsoft.com/office/drawing/2014/main" id="{CC847320-E6C1-3743-8B21-D604845F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34738" y="272304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8" name="Picture 6" descr="Hand, finger, gesture">
            <a:extLst>
              <a:ext uri="{FF2B5EF4-FFF2-40B4-BE49-F238E27FC236}">
                <a16:creationId xmlns:a16="http://schemas.microsoft.com/office/drawing/2014/main" id="{34CB2F66-8A2B-E255-A5B9-E893463C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39868" y="364370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9" name="Picture 6" descr="Hand, finger, gesture">
            <a:extLst>
              <a:ext uri="{FF2B5EF4-FFF2-40B4-BE49-F238E27FC236}">
                <a16:creationId xmlns:a16="http://schemas.microsoft.com/office/drawing/2014/main" id="{6B05F70D-8B0D-6AFE-5BA2-A306A9524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87746" y="360973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20" name="Picture 8">
            <a:extLst>
              <a:ext uri="{FF2B5EF4-FFF2-40B4-BE49-F238E27FC236}">
                <a16:creationId xmlns:a16="http://schemas.microsoft.com/office/drawing/2014/main" id="{0577736A-742F-639E-FE40-2D4A20B1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03" y="2886178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21" name="CuadroTexto 7320">
            <a:extLst>
              <a:ext uri="{FF2B5EF4-FFF2-40B4-BE49-F238E27FC236}">
                <a16:creationId xmlns:a16="http://schemas.microsoft.com/office/drawing/2014/main" id="{224D39F9-FAEA-C94D-B5FA-4B1CD12ED6AE}"/>
              </a:ext>
            </a:extLst>
          </p:cNvPr>
          <p:cNvSpPr txBox="1"/>
          <p:nvPr/>
        </p:nvSpPr>
        <p:spPr>
          <a:xfrm>
            <a:off x="3079405" y="3016588"/>
            <a:ext cx="14927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Candidato.docx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sp>
        <p:nvSpPr>
          <p:cNvPr id="7324" name="CuadroTexto 7323">
            <a:extLst>
              <a:ext uri="{FF2B5EF4-FFF2-40B4-BE49-F238E27FC236}">
                <a16:creationId xmlns:a16="http://schemas.microsoft.com/office/drawing/2014/main" id="{0147E9D1-DC7C-15AB-ABC6-1711451054F4}"/>
              </a:ext>
            </a:extLst>
          </p:cNvPr>
          <p:cNvSpPr txBox="1"/>
          <p:nvPr/>
        </p:nvSpPr>
        <p:spPr>
          <a:xfrm>
            <a:off x="6771491" y="1761718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5" name="CuadroTexto 7324">
            <a:extLst>
              <a:ext uri="{FF2B5EF4-FFF2-40B4-BE49-F238E27FC236}">
                <a16:creationId xmlns:a16="http://schemas.microsoft.com/office/drawing/2014/main" id="{D026E0D4-F78D-5C66-2A3D-86F10B862C07}"/>
              </a:ext>
            </a:extLst>
          </p:cNvPr>
          <p:cNvSpPr txBox="1"/>
          <p:nvPr/>
        </p:nvSpPr>
        <p:spPr>
          <a:xfrm>
            <a:off x="8634201" y="47438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6" name="CuadroTexto 7325">
            <a:extLst>
              <a:ext uri="{FF2B5EF4-FFF2-40B4-BE49-F238E27FC236}">
                <a16:creationId xmlns:a16="http://schemas.microsoft.com/office/drawing/2014/main" id="{A0C3E2C9-FCC1-ED22-3CCE-9A5F3F0036A1}"/>
              </a:ext>
            </a:extLst>
          </p:cNvPr>
          <p:cNvSpPr txBox="1"/>
          <p:nvPr/>
        </p:nvSpPr>
        <p:spPr>
          <a:xfrm>
            <a:off x="9021689" y="109348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sp>
        <p:nvSpPr>
          <p:cNvPr id="7328" name="CuadroTexto 7327">
            <a:extLst>
              <a:ext uri="{FF2B5EF4-FFF2-40B4-BE49-F238E27FC236}">
                <a16:creationId xmlns:a16="http://schemas.microsoft.com/office/drawing/2014/main" id="{AFAC0600-A70D-A88A-E9CE-040D8040CBF8}"/>
              </a:ext>
            </a:extLst>
          </p:cNvPr>
          <p:cNvSpPr txBox="1"/>
          <p:nvPr/>
        </p:nvSpPr>
        <p:spPr>
          <a:xfrm>
            <a:off x="7616933" y="130029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cxnSp>
        <p:nvCxnSpPr>
          <p:cNvPr id="7342" name="Conector angular 7341">
            <a:extLst>
              <a:ext uri="{FF2B5EF4-FFF2-40B4-BE49-F238E27FC236}">
                <a16:creationId xmlns:a16="http://schemas.microsoft.com/office/drawing/2014/main" id="{3EB5C188-DAAA-4096-90DE-2D189CDCD0CC}"/>
              </a:ext>
            </a:extLst>
          </p:cNvPr>
          <p:cNvCxnSpPr>
            <a:endCxn id="7170" idx="3"/>
          </p:cNvCxnSpPr>
          <p:nvPr/>
        </p:nvCxnSpPr>
        <p:spPr>
          <a:xfrm rot="5400000">
            <a:off x="2598796" y="2266452"/>
            <a:ext cx="245785" cy="209024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3" name="Conector angular 7342">
            <a:extLst>
              <a:ext uri="{FF2B5EF4-FFF2-40B4-BE49-F238E27FC236}">
                <a16:creationId xmlns:a16="http://schemas.microsoft.com/office/drawing/2014/main" id="{7F568F78-AF72-2D66-8FAE-AE1F3EC7690F}"/>
              </a:ext>
            </a:extLst>
          </p:cNvPr>
          <p:cNvCxnSpPr>
            <a:cxnSpLocks/>
            <a:endCxn id="7266" idx="0"/>
          </p:cNvCxnSpPr>
          <p:nvPr/>
        </p:nvCxnSpPr>
        <p:spPr>
          <a:xfrm>
            <a:off x="2994538" y="805844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4" name="Conector angular 7343">
            <a:extLst>
              <a:ext uri="{FF2B5EF4-FFF2-40B4-BE49-F238E27FC236}">
                <a16:creationId xmlns:a16="http://schemas.microsoft.com/office/drawing/2014/main" id="{B9193EA8-ECB8-AC94-A0F7-564D4B912477}"/>
              </a:ext>
            </a:extLst>
          </p:cNvPr>
          <p:cNvCxnSpPr>
            <a:cxnSpLocks/>
            <a:stCxn id="7320" idx="0"/>
          </p:cNvCxnSpPr>
          <p:nvPr/>
        </p:nvCxnSpPr>
        <p:spPr>
          <a:xfrm rot="5400000" flipH="1" flipV="1">
            <a:off x="4771530" y="2727860"/>
            <a:ext cx="88083" cy="228555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49" name="Picture 6" descr="Hand, finger, gesture">
            <a:extLst>
              <a:ext uri="{FF2B5EF4-FFF2-40B4-BE49-F238E27FC236}">
                <a16:creationId xmlns:a16="http://schemas.microsoft.com/office/drawing/2014/main" id="{429A1DCF-D11A-8F54-6EC8-C3DD26AC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49313" y="177652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0" name="Picture 6" descr="Hand, finger, gesture">
            <a:extLst>
              <a:ext uri="{FF2B5EF4-FFF2-40B4-BE49-F238E27FC236}">
                <a16:creationId xmlns:a16="http://schemas.microsoft.com/office/drawing/2014/main" id="{0D261F7F-B551-248D-9521-E4645D0A9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60740" y="3604048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51" name="CuadroTexto 7350">
            <a:extLst>
              <a:ext uri="{FF2B5EF4-FFF2-40B4-BE49-F238E27FC236}">
                <a16:creationId xmlns:a16="http://schemas.microsoft.com/office/drawing/2014/main" id="{EFC11607-3AFA-1339-ED50-D5430813B271}"/>
              </a:ext>
            </a:extLst>
          </p:cNvPr>
          <p:cNvSpPr txBox="1"/>
          <p:nvPr/>
        </p:nvSpPr>
        <p:spPr>
          <a:xfrm>
            <a:off x="107978" y="35073"/>
            <a:ext cx="966356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</a:rPr>
              <a:t>HR12.Proceso </a:t>
            </a:r>
            <a:r>
              <a:rPr lang="es-ES_tradnl" sz="1400" b="1" dirty="0" err="1">
                <a:solidFill>
                  <a:schemeClr val="bg1"/>
                </a:solidFill>
              </a:rPr>
              <a:t>Hire</a:t>
            </a:r>
            <a:r>
              <a:rPr lang="es-ES_tradnl" sz="1400" b="1" dirty="0">
                <a:solidFill>
                  <a:schemeClr val="bg1"/>
                </a:solidFill>
              </a:rPr>
              <a:t> </a:t>
            </a:r>
            <a:r>
              <a:rPr lang="es-ES_tradnl" sz="1400" b="1" dirty="0" err="1">
                <a:solidFill>
                  <a:schemeClr val="bg1"/>
                </a:solidFill>
              </a:rPr>
              <a:t>to</a:t>
            </a:r>
            <a:r>
              <a:rPr lang="es-ES_tradnl" sz="1400" b="1" dirty="0">
                <a:solidFill>
                  <a:schemeClr val="bg1"/>
                </a:solidFill>
              </a:rPr>
              <a:t> Retire </a:t>
            </a:r>
            <a:r>
              <a:rPr lang="es-ES_tradnl" sz="1400" b="1" dirty="0">
                <a:solidFill>
                  <a:schemeClr val="bg1"/>
                </a:solidFill>
                <a:sym typeface="Wingdings" pitchFamily="2" charset="2"/>
              </a:rPr>
              <a:t> HR1201- </a:t>
            </a:r>
            <a:r>
              <a:rPr lang="es-ES_tradnl" sz="1400" b="1" dirty="0">
                <a:solidFill>
                  <a:schemeClr val="bg1"/>
                </a:solidFill>
              </a:rPr>
              <a:t>Selección y Reclutamiento</a:t>
            </a:r>
            <a:endParaRPr lang="es-ES_tradnl" sz="1050" dirty="0">
              <a:solidFill>
                <a:schemeClr val="bg1"/>
              </a:solidFill>
            </a:endParaRPr>
          </a:p>
        </p:txBody>
      </p:sp>
      <p:sp>
        <p:nvSpPr>
          <p:cNvPr id="7352" name="Rectángulo 7351">
            <a:extLst>
              <a:ext uri="{FF2B5EF4-FFF2-40B4-BE49-F238E27FC236}">
                <a16:creationId xmlns:a16="http://schemas.microsoft.com/office/drawing/2014/main" id="{DB334EF8-6484-4AE1-BAFE-C2482534F7A8}"/>
              </a:ext>
            </a:extLst>
          </p:cNvPr>
          <p:cNvSpPr/>
          <p:nvPr/>
        </p:nvSpPr>
        <p:spPr>
          <a:xfrm>
            <a:off x="828831" y="5774020"/>
            <a:ext cx="8942715" cy="999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53" name="Rectángulo 7352">
            <a:extLst>
              <a:ext uri="{FF2B5EF4-FFF2-40B4-BE49-F238E27FC236}">
                <a16:creationId xmlns:a16="http://schemas.microsoft.com/office/drawing/2014/main" id="{EB482C54-E8F3-BA04-E334-D4A8544E7802}"/>
              </a:ext>
            </a:extLst>
          </p:cNvPr>
          <p:cNvSpPr/>
          <p:nvPr/>
        </p:nvSpPr>
        <p:spPr>
          <a:xfrm rot="16200000">
            <a:off x="-49363" y="5947558"/>
            <a:ext cx="99900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Director RRHH</a:t>
            </a:r>
          </a:p>
        </p:txBody>
      </p:sp>
      <p:sp>
        <p:nvSpPr>
          <p:cNvPr id="7354" name="CuadroTexto 7353">
            <a:extLst>
              <a:ext uri="{FF2B5EF4-FFF2-40B4-BE49-F238E27FC236}">
                <a16:creationId xmlns:a16="http://schemas.microsoft.com/office/drawing/2014/main" id="{6438D7A5-FE45-DF56-C484-F31F5AED91A3}"/>
              </a:ext>
            </a:extLst>
          </p:cNvPr>
          <p:cNvSpPr txBox="1"/>
          <p:nvPr/>
        </p:nvSpPr>
        <p:spPr>
          <a:xfrm>
            <a:off x="4814808" y="5877568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Firma de Contrato</a:t>
            </a:r>
          </a:p>
        </p:txBody>
      </p:sp>
      <p:cxnSp>
        <p:nvCxnSpPr>
          <p:cNvPr id="7361" name="Conector angular 7360">
            <a:extLst>
              <a:ext uri="{FF2B5EF4-FFF2-40B4-BE49-F238E27FC236}">
                <a16:creationId xmlns:a16="http://schemas.microsoft.com/office/drawing/2014/main" id="{C1E8C0A7-7D8B-07A2-3A60-A5A3E6494E6E}"/>
              </a:ext>
            </a:extLst>
          </p:cNvPr>
          <p:cNvCxnSpPr>
            <a:stCxn id="7354" idx="3"/>
            <a:endCxn id="7282" idx="2"/>
          </p:cNvCxnSpPr>
          <p:nvPr/>
        </p:nvCxnSpPr>
        <p:spPr>
          <a:xfrm flipV="1">
            <a:off x="6253995" y="5518287"/>
            <a:ext cx="354307" cy="6016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62" name="Picture 6" descr="Hand, finger, gesture">
            <a:extLst>
              <a:ext uri="{FF2B5EF4-FFF2-40B4-BE49-F238E27FC236}">
                <a16:creationId xmlns:a16="http://schemas.microsoft.com/office/drawing/2014/main" id="{A3FF5112-3BA2-41BF-DBB3-840D0AFA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51868" y="591136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3" name="Picture 8">
            <a:extLst>
              <a:ext uri="{FF2B5EF4-FFF2-40B4-BE49-F238E27FC236}">
                <a16:creationId xmlns:a16="http://schemas.microsoft.com/office/drawing/2014/main" id="{BAD3BF62-5C33-4881-1A66-9C40BBE8F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084" y="3539866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64" name="CuadroTexto 7363">
            <a:extLst>
              <a:ext uri="{FF2B5EF4-FFF2-40B4-BE49-F238E27FC236}">
                <a16:creationId xmlns:a16="http://schemas.microsoft.com/office/drawing/2014/main" id="{3D5A94CE-9EFC-7FC4-4D7A-C4002B2F8D8E}"/>
              </a:ext>
            </a:extLst>
          </p:cNvPr>
          <p:cNvSpPr txBox="1"/>
          <p:nvPr/>
        </p:nvSpPr>
        <p:spPr>
          <a:xfrm>
            <a:off x="6263767" y="3879824"/>
            <a:ext cx="16401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Contratación.docx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cxnSp>
        <p:nvCxnSpPr>
          <p:cNvPr id="7367" name="Conector angular 7366">
            <a:extLst>
              <a:ext uri="{FF2B5EF4-FFF2-40B4-BE49-F238E27FC236}">
                <a16:creationId xmlns:a16="http://schemas.microsoft.com/office/drawing/2014/main" id="{7C9D6392-E6AC-75F0-6BA3-C93031C9BD32}"/>
              </a:ext>
            </a:extLst>
          </p:cNvPr>
          <p:cNvCxnSpPr>
            <a:stCxn id="7276" idx="2"/>
            <a:endCxn id="7354" idx="0"/>
          </p:cNvCxnSpPr>
          <p:nvPr/>
        </p:nvCxnSpPr>
        <p:spPr>
          <a:xfrm rot="5400000">
            <a:off x="4626278" y="4969442"/>
            <a:ext cx="181625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AA02559F-D2E1-18AD-F316-66C00E44ED06}"/>
              </a:ext>
            </a:extLst>
          </p:cNvPr>
          <p:cNvSpPr/>
          <p:nvPr/>
        </p:nvSpPr>
        <p:spPr>
          <a:xfrm>
            <a:off x="4883634" y="1715461"/>
            <a:ext cx="1535815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3963799-C050-C04C-C4BB-05A7351E544B}"/>
              </a:ext>
            </a:extLst>
          </p:cNvPr>
          <p:cNvSpPr txBox="1"/>
          <p:nvPr/>
        </p:nvSpPr>
        <p:spPr>
          <a:xfrm>
            <a:off x="1481885" y="3041950"/>
            <a:ext cx="2530570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Ineficiencia</a:t>
            </a:r>
            <a:endParaRPr lang="es-ES_tradnl" sz="1400" dirty="0">
              <a:solidFill>
                <a:schemeClr val="bg1"/>
              </a:solidFill>
            </a:endParaRPr>
          </a:p>
          <a:p>
            <a:pPr algn="ctr"/>
            <a:r>
              <a:rPr lang="es-ES_tradnl" sz="1400" dirty="0">
                <a:solidFill>
                  <a:schemeClr val="bg1"/>
                </a:solidFill>
              </a:rPr>
              <a:t>Trabajo muy manual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BC9040-855C-EC1F-4435-19AFA879DE34}"/>
              </a:ext>
            </a:extLst>
          </p:cNvPr>
          <p:cNvSpPr/>
          <p:nvPr/>
        </p:nvSpPr>
        <p:spPr>
          <a:xfrm>
            <a:off x="3172304" y="1722916"/>
            <a:ext cx="1535815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2744591-731E-2443-1DF7-18FDE79FB5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537" y="2367110"/>
            <a:ext cx="7772400" cy="622788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635142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8" name="Rectángulo 7337">
            <a:extLst>
              <a:ext uri="{FF2B5EF4-FFF2-40B4-BE49-F238E27FC236}">
                <a16:creationId xmlns:a16="http://schemas.microsoft.com/office/drawing/2014/main" id="{20E7EB5A-5051-36B6-423A-BD37F66BB186}"/>
              </a:ext>
            </a:extLst>
          </p:cNvPr>
          <p:cNvSpPr/>
          <p:nvPr/>
        </p:nvSpPr>
        <p:spPr>
          <a:xfrm>
            <a:off x="-5832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1" name="Rectángulo 7330">
            <a:extLst>
              <a:ext uri="{FF2B5EF4-FFF2-40B4-BE49-F238E27FC236}">
                <a16:creationId xmlns:a16="http://schemas.microsoft.com/office/drawing/2014/main" id="{5FDA60CE-0F41-2286-BCD5-9FF3888A107B}"/>
              </a:ext>
            </a:extLst>
          </p:cNvPr>
          <p:cNvSpPr/>
          <p:nvPr/>
        </p:nvSpPr>
        <p:spPr>
          <a:xfrm>
            <a:off x="822437" y="4329950"/>
            <a:ext cx="8942715" cy="13835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330" name="Rectángulo 7329">
            <a:extLst>
              <a:ext uri="{FF2B5EF4-FFF2-40B4-BE49-F238E27FC236}">
                <a16:creationId xmlns:a16="http://schemas.microsoft.com/office/drawing/2014/main" id="{BFC97442-46C2-2A72-D98C-C1FA720F21FA}"/>
              </a:ext>
            </a:extLst>
          </p:cNvPr>
          <p:cNvSpPr/>
          <p:nvPr/>
        </p:nvSpPr>
        <p:spPr>
          <a:xfrm>
            <a:off x="828831" y="1598564"/>
            <a:ext cx="8942715" cy="2661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29" name="Rectángulo 7328">
            <a:extLst>
              <a:ext uri="{FF2B5EF4-FFF2-40B4-BE49-F238E27FC236}">
                <a16:creationId xmlns:a16="http://schemas.microsoft.com/office/drawing/2014/main" id="{E33CDE91-39BA-BBCD-53B7-B711A9F90E5A}"/>
              </a:ext>
            </a:extLst>
          </p:cNvPr>
          <p:cNvSpPr/>
          <p:nvPr/>
        </p:nvSpPr>
        <p:spPr>
          <a:xfrm>
            <a:off x="828832" y="372525"/>
            <a:ext cx="8942715" cy="117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041685-4211-71C2-9F3F-7D94EBE7BB44}"/>
              </a:ext>
            </a:extLst>
          </p:cNvPr>
          <p:cNvSpPr/>
          <p:nvPr/>
        </p:nvSpPr>
        <p:spPr>
          <a:xfrm rot="16200000">
            <a:off x="-144567" y="634872"/>
            <a:ext cx="117662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Área Usuaria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Solicitante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179691-48D1-C7D5-94AB-97E5933FE172}"/>
              </a:ext>
            </a:extLst>
          </p:cNvPr>
          <p:cNvSpPr/>
          <p:nvPr/>
        </p:nvSpPr>
        <p:spPr>
          <a:xfrm>
            <a:off x="900391" y="809129"/>
            <a:ext cx="313266" cy="2878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95854C-760C-B3CE-976B-44FDEE632C3F}"/>
              </a:ext>
            </a:extLst>
          </p:cNvPr>
          <p:cNvSpPr txBox="1"/>
          <p:nvPr/>
        </p:nvSpPr>
        <p:spPr>
          <a:xfrm>
            <a:off x="1557186" y="1756420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Requerimiento de Candidatos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32E2E-694C-43AF-F611-14BF9440B06E}"/>
              </a:ext>
            </a:extLst>
          </p:cNvPr>
          <p:cNvSpPr txBox="1"/>
          <p:nvPr/>
        </p:nvSpPr>
        <p:spPr>
          <a:xfrm>
            <a:off x="1557186" y="673624"/>
            <a:ext cx="1439187" cy="552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Solicitud de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Requerimiento de Candidatos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46CB5C-0563-CD3E-5E2E-50157CA43F77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 flipV="1">
            <a:off x="1213657" y="949979"/>
            <a:ext cx="343529" cy="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011220-994E-58D8-12B9-6683BF6A192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2276780" y="1226334"/>
            <a:ext cx="0" cy="530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E4CC33-75CF-0BD6-B3A7-B315E673A13B}"/>
              </a:ext>
            </a:extLst>
          </p:cNvPr>
          <p:cNvSpPr/>
          <p:nvPr/>
        </p:nvSpPr>
        <p:spPr>
          <a:xfrm rot="16200000">
            <a:off x="-884475" y="2603154"/>
            <a:ext cx="2661113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Desarrollo Organizacional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4EEBC56-DFCF-E1F8-0591-9B938B96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007" y="2306920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22245F2-838A-491E-00D5-CC91547E9642}"/>
              </a:ext>
            </a:extLst>
          </p:cNvPr>
          <p:cNvSpPr txBox="1"/>
          <p:nvPr/>
        </p:nvSpPr>
        <p:spPr>
          <a:xfrm>
            <a:off x="990260" y="2287567"/>
            <a:ext cx="1204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BD de RQ-2024.xlsx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27360A-E6D7-BFA7-E366-F582906D1D84}"/>
              </a:ext>
            </a:extLst>
          </p:cNvPr>
          <p:cNvSpPr txBox="1"/>
          <p:nvPr/>
        </p:nvSpPr>
        <p:spPr>
          <a:xfrm>
            <a:off x="3220071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Publicación de Vacante en Medios Digitales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CC4FD16-4D43-CB5C-829F-F3E179674225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 flipV="1">
            <a:off x="2996373" y="2002245"/>
            <a:ext cx="22369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F1E80D7-522D-C12B-7261-022308BCEC4A}"/>
              </a:ext>
            </a:extLst>
          </p:cNvPr>
          <p:cNvSpPr txBox="1"/>
          <p:nvPr/>
        </p:nvSpPr>
        <p:spPr>
          <a:xfrm>
            <a:off x="4931918" y="1756418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Recepción de Hojas de Vida y Filtro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B3BB4DE-724E-B00E-51C1-56F841AADB36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4659258" y="2002245"/>
            <a:ext cx="272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8130FA-2191-041C-D38A-7802115E83A3}"/>
              </a:ext>
            </a:extLst>
          </p:cNvPr>
          <p:cNvSpPr txBox="1"/>
          <p:nvPr/>
        </p:nvSpPr>
        <p:spPr>
          <a:xfrm>
            <a:off x="4931918" y="269093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Entrevistas y Llenado de Ficha de Candidato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0A727EA-CD2E-7F3D-5DD9-A923B0D79B83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5651512" y="2248072"/>
            <a:ext cx="0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C517EC-706D-AD1E-A15B-D623FDE96247}"/>
              </a:ext>
            </a:extLst>
          </p:cNvPr>
          <p:cNvSpPr txBox="1"/>
          <p:nvPr/>
        </p:nvSpPr>
        <p:spPr>
          <a:xfrm>
            <a:off x="6867466" y="2690930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Psicométricas (Presencial)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364C961-7DB4-D19A-CF8E-FD37AC3BB114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6371105" y="2933302"/>
            <a:ext cx="496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5" name="Rombo 7184">
            <a:extLst>
              <a:ext uri="{FF2B5EF4-FFF2-40B4-BE49-F238E27FC236}">
                <a16:creationId xmlns:a16="http://schemas.microsoft.com/office/drawing/2014/main" id="{0240C84E-ED78-25F2-E418-E79E7BDEB562}"/>
              </a:ext>
            </a:extLst>
          </p:cNvPr>
          <p:cNvSpPr/>
          <p:nvPr/>
        </p:nvSpPr>
        <p:spPr>
          <a:xfrm>
            <a:off x="7258868" y="1783103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187" name="Conector recto de flecha 7186">
            <a:extLst>
              <a:ext uri="{FF2B5EF4-FFF2-40B4-BE49-F238E27FC236}">
                <a16:creationId xmlns:a16="http://schemas.microsoft.com/office/drawing/2014/main" id="{DD994B2F-7E53-E5C0-315C-3F9FEB538246}"/>
              </a:ext>
            </a:extLst>
          </p:cNvPr>
          <p:cNvCxnSpPr>
            <a:cxnSpLocks/>
          </p:cNvCxnSpPr>
          <p:nvPr/>
        </p:nvCxnSpPr>
        <p:spPr>
          <a:xfrm flipH="1" flipV="1">
            <a:off x="7610911" y="2248072"/>
            <a:ext cx="6022" cy="442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9" name="Conector recto de flecha 7188">
            <a:extLst>
              <a:ext uri="{FF2B5EF4-FFF2-40B4-BE49-F238E27FC236}">
                <a16:creationId xmlns:a16="http://schemas.microsoft.com/office/drawing/2014/main" id="{036C4CD7-B877-1EB6-5A94-F03CC1771E09}"/>
              </a:ext>
            </a:extLst>
          </p:cNvPr>
          <p:cNvCxnSpPr>
            <a:cxnSpLocks/>
            <a:stCxn id="7185" idx="1"/>
            <a:endCxn id="35" idx="3"/>
          </p:cNvCxnSpPr>
          <p:nvPr/>
        </p:nvCxnSpPr>
        <p:spPr>
          <a:xfrm flipH="1" flipV="1">
            <a:off x="6371105" y="2002245"/>
            <a:ext cx="887763" cy="1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4" name="CuadroTexto 7193">
            <a:extLst>
              <a:ext uri="{FF2B5EF4-FFF2-40B4-BE49-F238E27FC236}">
                <a16:creationId xmlns:a16="http://schemas.microsoft.com/office/drawing/2014/main" id="{A45069A6-9C5C-9499-A0D9-42387D5FFD3E}"/>
              </a:ext>
            </a:extLst>
          </p:cNvPr>
          <p:cNvSpPr txBox="1"/>
          <p:nvPr/>
        </p:nvSpPr>
        <p:spPr>
          <a:xfrm>
            <a:off x="6891317" y="647988"/>
            <a:ext cx="1439187" cy="5211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 con Solicitante</a:t>
            </a:r>
          </a:p>
        </p:txBody>
      </p:sp>
      <p:cxnSp>
        <p:nvCxnSpPr>
          <p:cNvPr id="7195" name="Conector recto de flecha 7194">
            <a:extLst>
              <a:ext uri="{FF2B5EF4-FFF2-40B4-BE49-F238E27FC236}">
                <a16:creationId xmlns:a16="http://schemas.microsoft.com/office/drawing/2014/main" id="{49F53781-5CAE-A516-28F2-DEE60E077BCF}"/>
              </a:ext>
            </a:extLst>
          </p:cNvPr>
          <p:cNvCxnSpPr>
            <a:cxnSpLocks/>
            <a:stCxn id="7185" idx="0"/>
          </p:cNvCxnSpPr>
          <p:nvPr/>
        </p:nvCxnSpPr>
        <p:spPr>
          <a:xfrm flipV="1">
            <a:off x="7610911" y="1169178"/>
            <a:ext cx="0" cy="61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9" name="CuadroTexto 7198">
            <a:extLst>
              <a:ext uri="{FF2B5EF4-FFF2-40B4-BE49-F238E27FC236}">
                <a16:creationId xmlns:a16="http://schemas.microsoft.com/office/drawing/2014/main" id="{3DA02FEB-1400-AE79-F4CA-AE05AFFE20F5}"/>
              </a:ext>
            </a:extLst>
          </p:cNvPr>
          <p:cNvSpPr txBox="1"/>
          <p:nvPr/>
        </p:nvSpPr>
        <p:spPr>
          <a:xfrm>
            <a:off x="1188562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Validación de Referencias Crediticias</a:t>
            </a:r>
          </a:p>
        </p:txBody>
      </p:sp>
      <p:sp>
        <p:nvSpPr>
          <p:cNvPr id="7201" name="Rombo 7200">
            <a:extLst>
              <a:ext uri="{FF2B5EF4-FFF2-40B4-BE49-F238E27FC236}">
                <a16:creationId xmlns:a16="http://schemas.microsoft.com/office/drawing/2014/main" id="{EF585719-B760-A389-A1A6-9A9B3A3CCC18}"/>
              </a:ext>
            </a:extLst>
          </p:cNvPr>
          <p:cNvSpPr/>
          <p:nvPr/>
        </p:nvSpPr>
        <p:spPr>
          <a:xfrm>
            <a:off x="8667576" y="673625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02" name="Conector recto de flecha 7201">
            <a:extLst>
              <a:ext uri="{FF2B5EF4-FFF2-40B4-BE49-F238E27FC236}">
                <a16:creationId xmlns:a16="http://schemas.microsoft.com/office/drawing/2014/main" id="{CE6FF1D8-F68E-7F48-762A-C2101C559E28}"/>
              </a:ext>
            </a:extLst>
          </p:cNvPr>
          <p:cNvCxnSpPr>
            <a:cxnSpLocks/>
            <a:stCxn id="7194" idx="3"/>
            <a:endCxn id="7201" idx="1"/>
          </p:cNvCxnSpPr>
          <p:nvPr/>
        </p:nvCxnSpPr>
        <p:spPr>
          <a:xfrm flipV="1">
            <a:off x="8330504" y="906110"/>
            <a:ext cx="337072" cy="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0" name="Conector angular 7219">
            <a:extLst>
              <a:ext uri="{FF2B5EF4-FFF2-40B4-BE49-F238E27FC236}">
                <a16:creationId xmlns:a16="http://schemas.microsoft.com/office/drawing/2014/main" id="{34E84BF1-E801-0064-B550-B25DB745D327}"/>
              </a:ext>
            </a:extLst>
          </p:cNvPr>
          <p:cNvCxnSpPr>
            <a:cxnSpLocks/>
            <a:stCxn id="7201" idx="0"/>
            <a:endCxn id="35" idx="0"/>
          </p:cNvCxnSpPr>
          <p:nvPr/>
        </p:nvCxnSpPr>
        <p:spPr>
          <a:xfrm rot="16200000" flipH="1" flipV="1">
            <a:off x="6794169" y="-469033"/>
            <a:ext cx="1082793" cy="3368107"/>
          </a:xfrm>
          <a:prstGeom prst="bentConnector3">
            <a:avLst>
              <a:gd name="adj1" fmla="val -21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3" name="Conector angular 7222">
            <a:extLst>
              <a:ext uri="{FF2B5EF4-FFF2-40B4-BE49-F238E27FC236}">
                <a16:creationId xmlns:a16="http://schemas.microsoft.com/office/drawing/2014/main" id="{590FB989-7AD0-9DC5-782E-0D518FB3185A}"/>
              </a:ext>
            </a:extLst>
          </p:cNvPr>
          <p:cNvCxnSpPr>
            <a:cxnSpLocks/>
            <a:stCxn id="7201" idx="2"/>
            <a:endCxn id="7199" idx="0"/>
          </p:cNvCxnSpPr>
          <p:nvPr/>
        </p:nvCxnSpPr>
        <p:spPr>
          <a:xfrm rot="5400000">
            <a:off x="4244899" y="-1198148"/>
            <a:ext cx="2437979" cy="7111463"/>
          </a:xfrm>
          <a:prstGeom prst="bentConnector3">
            <a:avLst>
              <a:gd name="adj1" fmla="val 910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66" name="Picture 2">
            <a:extLst>
              <a:ext uri="{FF2B5EF4-FFF2-40B4-BE49-F238E27FC236}">
                <a16:creationId xmlns:a16="http://schemas.microsoft.com/office/drawing/2014/main" id="{AD3C54F7-054D-91A0-699D-2E0F3CD9C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222" y="940292"/>
            <a:ext cx="396169" cy="37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67" name="CuadroTexto 7266">
            <a:extLst>
              <a:ext uri="{FF2B5EF4-FFF2-40B4-BE49-F238E27FC236}">
                <a16:creationId xmlns:a16="http://schemas.microsoft.com/office/drawing/2014/main" id="{31211F81-6FB3-655C-7A3B-734EEF1F1A27}"/>
              </a:ext>
            </a:extLst>
          </p:cNvPr>
          <p:cNvSpPr txBox="1"/>
          <p:nvPr/>
        </p:nvSpPr>
        <p:spPr>
          <a:xfrm>
            <a:off x="2499117" y="1268586"/>
            <a:ext cx="10903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chemeClr val="accent3"/>
                </a:solidFill>
              </a:rPr>
              <a:t>Formato de Perfil</a:t>
            </a:r>
          </a:p>
        </p:txBody>
      </p:sp>
      <p:sp>
        <p:nvSpPr>
          <p:cNvPr id="7272" name="CuadroTexto 7271">
            <a:extLst>
              <a:ext uri="{FF2B5EF4-FFF2-40B4-BE49-F238E27FC236}">
                <a16:creationId xmlns:a16="http://schemas.microsoft.com/office/drawing/2014/main" id="{F4B1FECB-558F-50F5-60F7-43165D3CF091}"/>
              </a:ext>
            </a:extLst>
          </p:cNvPr>
          <p:cNvSpPr txBox="1"/>
          <p:nvPr/>
        </p:nvSpPr>
        <p:spPr>
          <a:xfrm>
            <a:off x="3024651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Elaboración de Contrato</a:t>
            </a:r>
          </a:p>
        </p:txBody>
      </p:sp>
      <p:cxnSp>
        <p:nvCxnSpPr>
          <p:cNvPr id="7273" name="Conector recto de flecha 7272">
            <a:extLst>
              <a:ext uri="{FF2B5EF4-FFF2-40B4-BE49-F238E27FC236}">
                <a16:creationId xmlns:a16="http://schemas.microsoft.com/office/drawing/2014/main" id="{342CF633-5649-8810-068C-8F823A83D58B}"/>
              </a:ext>
            </a:extLst>
          </p:cNvPr>
          <p:cNvCxnSpPr>
            <a:cxnSpLocks/>
            <a:stCxn id="7199" idx="3"/>
            <a:endCxn id="7272" idx="1"/>
          </p:cNvCxnSpPr>
          <p:nvPr/>
        </p:nvCxnSpPr>
        <p:spPr>
          <a:xfrm>
            <a:off x="2627749" y="3818945"/>
            <a:ext cx="396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6" name="CuadroTexto 7275">
            <a:extLst>
              <a:ext uri="{FF2B5EF4-FFF2-40B4-BE49-F238E27FC236}">
                <a16:creationId xmlns:a16="http://schemas.microsoft.com/office/drawing/2014/main" id="{3AC59DD0-E8BE-6DEB-8B80-0CA1A84CC144}"/>
              </a:ext>
            </a:extLst>
          </p:cNvPr>
          <p:cNvSpPr txBox="1"/>
          <p:nvPr/>
        </p:nvSpPr>
        <p:spPr>
          <a:xfrm>
            <a:off x="4814809" y="357657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Preparación del Expediente para Inducción</a:t>
            </a:r>
          </a:p>
        </p:txBody>
      </p:sp>
      <p:cxnSp>
        <p:nvCxnSpPr>
          <p:cNvPr id="7277" name="Conector recto de flecha 7276">
            <a:extLst>
              <a:ext uri="{FF2B5EF4-FFF2-40B4-BE49-F238E27FC236}">
                <a16:creationId xmlns:a16="http://schemas.microsoft.com/office/drawing/2014/main" id="{D450196B-EEF9-EEB5-0B90-5289B40A8C85}"/>
              </a:ext>
            </a:extLst>
          </p:cNvPr>
          <p:cNvCxnSpPr>
            <a:cxnSpLocks/>
            <a:stCxn id="7272" idx="3"/>
            <a:endCxn id="7276" idx="1"/>
          </p:cNvCxnSpPr>
          <p:nvPr/>
        </p:nvCxnSpPr>
        <p:spPr>
          <a:xfrm>
            <a:off x="4463838" y="3818945"/>
            <a:ext cx="350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0" name="Rectángulo 7279">
            <a:extLst>
              <a:ext uri="{FF2B5EF4-FFF2-40B4-BE49-F238E27FC236}">
                <a16:creationId xmlns:a16="http://schemas.microsoft.com/office/drawing/2014/main" id="{32506046-B594-41E3-8D8B-CB46306F2DFA}"/>
              </a:ext>
            </a:extLst>
          </p:cNvPr>
          <p:cNvSpPr/>
          <p:nvPr/>
        </p:nvSpPr>
        <p:spPr>
          <a:xfrm rot="16200000">
            <a:off x="-248018" y="4705525"/>
            <a:ext cx="1383530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Nómina</a:t>
            </a:r>
          </a:p>
        </p:txBody>
      </p:sp>
      <p:sp>
        <p:nvSpPr>
          <p:cNvPr id="7282" name="CuadroTexto 7281">
            <a:extLst>
              <a:ext uri="{FF2B5EF4-FFF2-40B4-BE49-F238E27FC236}">
                <a16:creationId xmlns:a16="http://schemas.microsoft.com/office/drawing/2014/main" id="{5E9C4721-7BBA-C1F7-A67D-EF016F4045E3}"/>
              </a:ext>
            </a:extLst>
          </p:cNvPr>
          <p:cNvSpPr txBox="1"/>
          <p:nvPr/>
        </p:nvSpPr>
        <p:spPr>
          <a:xfrm>
            <a:off x="5888708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Inducción de Políticas Laborales</a:t>
            </a:r>
          </a:p>
        </p:txBody>
      </p:sp>
      <p:sp>
        <p:nvSpPr>
          <p:cNvPr id="7293" name="CuadroTexto 7292">
            <a:extLst>
              <a:ext uri="{FF2B5EF4-FFF2-40B4-BE49-F238E27FC236}">
                <a16:creationId xmlns:a16="http://schemas.microsoft.com/office/drawing/2014/main" id="{C509F8E0-B3FB-D3CE-08EF-A2EB36DEC240}"/>
              </a:ext>
            </a:extLst>
          </p:cNvPr>
          <p:cNvSpPr txBox="1"/>
          <p:nvPr/>
        </p:nvSpPr>
        <p:spPr>
          <a:xfrm>
            <a:off x="7573812" y="5033543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Registro de Datos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del Colaborador</a:t>
            </a:r>
          </a:p>
        </p:txBody>
      </p:sp>
      <p:cxnSp>
        <p:nvCxnSpPr>
          <p:cNvPr id="7294" name="Conector recto de flecha 7293">
            <a:extLst>
              <a:ext uri="{FF2B5EF4-FFF2-40B4-BE49-F238E27FC236}">
                <a16:creationId xmlns:a16="http://schemas.microsoft.com/office/drawing/2014/main" id="{789D129D-C3FB-9443-B329-B02D1563FD75}"/>
              </a:ext>
            </a:extLst>
          </p:cNvPr>
          <p:cNvCxnSpPr>
            <a:cxnSpLocks/>
            <a:stCxn id="7282" idx="3"/>
            <a:endCxn id="7293" idx="1"/>
          </p:cNvCxnSpPr>
          <p:nvPr/>
        </p:nvCxnSpPr>
        <p:spPr>
          <a:xfrm>
            <a:off x="7327895" y="5275915"/>
            <a:ext cx="245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7" name="Elipse 7296">
            <a:extLst>
              <a:ext uri="{FF2B5EF4-FFF2-40B4-BE49-F238E27FC236}">
                <a16:creationId xmlns:a16="http://schemas.microsoft.com/office/drawing/2014/main" id="{3F8736F1-5A8A-58D6-AF62-899609E565CF}"/>
              </a:ext>
            </a:extLst>
          </p:cNvPr>
          <p:cNvSpPr/>
          <p:nvPr/>
        </p:nvSpPr>
        <p:spPr>
          <a:xfrm>
            <a:off x="9247746" y="5131981"/>
            <a:ext cx="313266" cy="287867"/>
          </a:xfrm>
          <a:prstGeom prst="ellipse">
            <a:avLst/>
          </a:prstGeom>
          <a:solidFill>
            <a:srgbClr val="F7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298" name="Conector recto de flecha 7297">
            <a:extLst>
              <a:ext uri="{FF2B5EF4-FFF2-40B4-BE49-F238E27FC236}">
                <a16:creationId xmlns:a16="http://schemas.microsoft.com/office/drawing/2014/main" id="{233C4B83-066B-84AE-06CD-4ED56116F806}"/>
              </a:ext>
            </a:extLst>
          </p:cNvPr>
          <p:cNvCxnSpPr>
            <a:cxnSpLocks/>
            <a:stCxn id="7293" idx="3"/>
            <a:endCxn id="7297" idx="2"/>
          </p:cNvCxnSpPr>
          <p:nvPr/>
        </p:nvCxnSpPr>
        <p:spPr>
          <a:xfrm>
            <a:off x="9012999" y="5275915"/>
            <a:ext cx="234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02" name="Picture 4" descr="Account, profile, user, avatar, human, man, person">
            <a:extLst>
              <a:ext uri="{FF2B5EF4-FFF2-40B4-BE49-F238E27FC236}">
                <a16:creationId xmlns:a16="http://schemas.microsoft.com/office/drawing/2014/main" id="{C87D82B4-5CB3-AE34-5F46-6C9EBFE0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57" y="5059817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03" name="Picture 6" descr="Hand, finger, gesture">
            <a:extLst>
              <a:ext uri="{FF2B5EF4-FFF2-40B4-BE49-F238E27FC236}">
                <a16:creationId xmlns:a16="http://schemas.microsoft.com/office/drawing/2014/main" id="{87F782B9-E8ED-A3C0-3EDD-80252098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1794606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10" name="Cilindro 7309">
            <a:extLst>
              <a:ext uri="{FF2B5EF4-FFF2-40B4-BE49-F238E27FC236}">
                <a16:creationId xmlns:a16="http://schemas.microsoft.com/office/drawing/2014/main" id="{E3CDFFCF-4D0F-6C6F-58A9-0F997D3BFE04}"/>
              </a:ext>
            </a:extLst>
          </p:cNvPr>
          <p:cNvSpPr/>
          <p:nvPr/>
        </p:nvSpPr>
        <p:spPr>
          <a:xfrm>
            <a:off x="8719023" y="4549717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SAP</a:t>
            </a:r>
          </a:p>
        </p:txBody>
      </p:sp>
      <p:cxnSp>
        <p:nvCxnSpPr>
          <p:cNvPr id="7314" name="Conector angular 7313">
            <a:extLst>
              <a:ext uri="{FF2B5EF4-FFF2-40B4-BE49-F238E27FC236}">
                <a16:creationId xmlns:a16="http://schemas.microsoft.com/office/drawing/2014/main" id="{0CAEB9DB-F9E0-E4B4-C985-C3C1B845EC96}"/>
              </a:ext>
            </a:extLst>
          </p:cNvPr>
          <p:cNvCxnSpPr>
            <a:stCxn id="7293" idx="0"/>
            <a:endCxn id="7310" idx="2"/>
          </p:cNvCxnSpPr>
          <p:nvPr/>
        </p:nvCxnSpPr>
        <p:spPr>
          <a:xfrm rot="5400000" flipH="1" flipV="1">
            <a:off x="8351766" y="4666287"/>
            <a:ext cx="308897" cy="425617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15" name="Picture 6" descr="Hand, finger, gesture">
            <a:extLst>
              <a:ext uri="{FF2B5EF4-FFF2-40B4-BE49-F238E27FC236}">
                <a16:creationId xmlns:a16="http://schemas.microsoft.com/office/drawing/2014/main" id="{C5287B95-A1FF-F132-85BA-29C5ED10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83859" y="693460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6" name="Picture 6" descr="Hand, finger, gesture">
            <a:extLst>
              <a:ext uri="{FF2B5EF4-FFF2-40B4-BE49-F238E27FC236}">
                <a16:creationId xmlns:a16="http://schemas.microsoft.com/office/drawing/2014/main" id="{927C3BC2-8FE5-1A25-563C-5C42E45A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57719" y="178014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7" name="Picture 6" descr="Hand, finger, gesture">
            <a:extLst>
              <a:ext uri="{FF2B5EF4-FFF2-40B4-BE49-F238E27FC236}">
                <a16:creationId xmlns:a16="http://schemas.microsoft.com/office/drawing/2014/main" id="{CC847320-E6C1-3743-8B21-D604845F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34738" y="272304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8" name="Picture 6" descr="Hand, finger, gesture">
            <a:extLst>
              <a:ext uri="{FF2B5EF4-FFF2-40B4-BE49-F238E27FC236}">
                <a16:creationId xmlns:a16="http://schemas.microsoft.com/office/drawing/2014/main" id="{34CB2F66-8A2B-E255-A5B9-E893463C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39868" y="364370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9" name="Picture 6" descr="Hand, finger, gesture">
            <a:extLst>
              <a:ext uri="{FF2B5EF4-FFF2-40B4-BE49-F238E27FC236}">
                <a16:creationId xmlns:a16="http://schemas.microsoft.com/office/drawing/2014/main" id="{6B05F70D-8B0D-6AFE-5BA2-A306A9524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87746" y="360973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20" name="Picture 8">
            <a:extLst>
              <a:ext uri="{FF2B5EF4-FFF2-40B4-BE49-F238E27FC236}">
                <a16:creationId xmlns:a16="http://schemas.microsoft.com/office/drawing/2014/main" id="{0577736A-742F-639E-FE40-2D4A20B1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03" y="2886178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21" name="CuadroTexto 7320">
            <a:extLst>
              <a:ext uri="{FF2B5EF4-FFF2-40B4-BE49-F238E27FC236}">
                <a16:creationId xmlns:a16="http://schemas.microsoft.com/office/drawing/2014/main" id="{224D39F9-FAEA-C94D-B5FA-4B1CD12ED6AE}"/>
              </a:ext>
            </a:extLst>
          </p:cNvPr>
          <p:cNvSpPr txBox="1"/>
          <p:nvPr/>
        </p:nvSpPr>
        <p:spPr>
          <a:xfrm>
            <a:off x="3079405" y="3016588"/>
            <a:ext cx="14927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Candidato.docx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sp>
        <p:nvSpPr>
          <p:cNvPr id="7324" name="CuadroTexto 7323">
            <a:extLst>
              <a:ext uri="{FF2B5EF4-FFF2-40B4-BE49-F238E27FC236}">
                <a16:creationId xmlns:a16="http://schemas.microsoft.com/office/drawing/2014/main" id="{0147E9D1-DC7C-15AB-ABC6-1711451054F4}"/>
              </a:ext>
            </a:extLst>
          </p:cNvPr>
          <p:cNvSpPr txBox="1"/>
          <p:nvPr/>
        </p:nvSpPr>
        <p:spPr>
          <a:xfrm>
            <a:off x="6771491" y="1761718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5" name="CuadroTexto 7324">
            <a:extLst>
              <a:ext uri="{FF2B5EF4-FFF2-40B4-BE49-F238E27FC236}">
                <a16:creationId xmlns:a16="http://schemas.microsoft.com/office/drawing/2014/main" id="{D026E0D4-F78D-5C66-2A3D-86F10B862C07}"/>
              </a:ext>
            </a:extLst>
          </p:cNvPr>
          <p:cNvSpPr txBox="1"/>
          <p:nvPr/>
        </p:nvSpPr>
        <p:spPr>
          <a:xfrm>
            <a:off x="8634201" y="47438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6" name="CuadroTexto 7325">
            <a:extLst>
              <a:ext uri="{FF2B5EF4-FFF2-40B4-BE49-F238E27FC236}">
                <a16:creationId xmlns:a16="http://schemas.microsoft.com/office/drawing/2014/main" id="{A0C3E2C9-FCC1-ED22-3CCE-9A5F3F0036A1}"/>
              </a:ext>
            </a:extLst>
          </p:cNvPr>
          <p:cNvSpPr txBox="1"/>
          <p:nvPr/>
        </p:nvSpPr>
        <p:spPr>
          <a:xfrm>
            <a:off x="9021689" y="109348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sp>
        <p:nvSpPr>
          <p:cNvPr id="7328" name="CuadroTexto 7327">
            <a:extLst>
              <a:ext uri="{FF2B5EF4-FFF2-40B4-BE49-F238E27FC236}">
                <a16:creationId xmlns:a16="http://schemas.microsoft.com/office/drawing/2014/main" id="{AFAC0600-A70D-A88A-E9CE-040D8040CBF8}"/>
              </a:ext>
            </a:extLst>
          </p:cNvPr>
          <p:cNvSpPr txBox="1"/>
          <p:nvPr/>
        </p:nvSpPr>
        <p:spPr>
          <a:xfrm>
            <a:off x="7616933" y="130029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cxnSp>
        <p:nvCxnSpPr>
          <p:cNvPr id="7342" name="Conector angular 7341">
            <a:extLst>
              <a:ext uri="{FF2B5EF4-FFF2-40B4-BE49-F238E27FC236}">
                <a16:creationId xmlns:a16="http://schemas.microsoft.com/office/drawing/2014/main" id="{3EB5C188-DAAA-4096-90DE-2D189CDCD0CC}"/>
              </a:ext>
            </a:extLst>
          </p:cNvPr>
          <p:cNvCxnSpPr>
            <a:endCxn id="7170" idx="3"/>
          </p:cNvCxnSpPr>
          <p:nvPr/>
        </p:nvCxnSpPr>
        <p:spPr>
          <a:xfrm rot="5400000">
            <a:off x="2598796" y="2266452"/>
            <a:ext cx="245785" cy="209024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3" name="Conector angular 7342">
            <a:extLst>
              <a:ext uri="{FF2B5EF4-FFF2-40B4-BE49-F238E27FC236}">
                <a16:creationId xmlns:a16="http://schemas.microsoft.com/office/drawing/2014/main" id="{7F568F78-AF72-2D66-8FAE-AE1F3EC7690F}"/>
              </a:ext>
            </a:extLst>
          </p:cNvPr>
          <p:cNvCxnSpPr>
            <a:cxnSpLocks/>
            <a:endCxn id="7266" idx="0"/>
          </p:cNvCxnSpPr>
          <p:nvPr/>
        </p:nvCxnSpPr>
        <p:spPr>
          <a:xfrm>
            <a:off x="2994538" y="805844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4" name="Conector angular 7343">
            <a:extLst>
              <a:ext uri="{FF2B5EF4-FFF2-40B4-BE49-F238E27FC236}">
                <a16:creationId xmlns:a16="http://schemas.microsoft.com/office/drawing/2014/main" id="{B9193EA8-ECB8-AC94-A0F7-564D4B912477}"/>
              </a:ext>
            </a:extLst>
          </p:cNvPr>
          <p:cNvCxnSpPr>
            <a:cxnSpLocks/>
            <a:stCxn id="7320" idx="0"/>
          </p:cNvCxnSpPr>
          <p:nvPr/>
        </p:nvCxnSpPr>
        <p:spPr>
          <a:xfrm rot="5400000" flipH="1" flipV="1">
            <a:off x="4771530" y="2727860"/>
            <a:ext cx="88083" cy="228555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49" name="Picture 6" descr="Hand, finger, gesture">
            <a:extLst>
              <a:ext uri="{FF2B5EF4-FFF2-40B4-BE49-F238E27FC236}">
                <a16:creationId xmlns:a16="http://schemas.microsoft.com/office/drawing/2014/main" id="{429A1DCF-D11A-8F54-6EC8-C3DD26AC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49313" y="1776523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0" name="Picture 6" descr="Hand, finger, gesture">
            <a:extLst>
              <a:ext uri="{FF2B5EF4-FFF2-40B4-BE49-F238E27FC236}">
                <a16:creationId xmlns:a16="http://schemas.microsoft.com/office/drawing/2014/main" id="{0D261F7F-B551-248D-9521-E4645D0A9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60740" y="3604048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51" name="CuadroTexto 7350">
            <a:extLst>
              <a:ext uri="{FF2B5EF4-FFF2-40B4-BE49-F238E27FC236}">
                <a16:creationId xmlns:a16="http://schemas.microsoft.com/office/drawing/2014/main" id="{EFC11607-3AFA-1339-ED50-D5430813B271}"/>
              </a:ext>
            </a:extLst>
          </p:cNvPr>
          <p:cNvSpPr txBox="1"/>
          <p:nvPr/>
        </p:nvSpPr>
        <p:spPr>
          <a:xfrm>
            <a:off x="107978" y="35073"/>
            <a:ext cx="966356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</a:rPr>
              <a:t>HR12.Proceso </a:t>
            </a:r>
            <a:r>
              <a:rPr lang="es-ES_tradnl" sz="1400" b="1" dirty="0" err="1">
                <a:solidFill>
                  <a:schemeClr val="bg1"/>
                </a:solidFill>
              </a:rPr>
              <a:t>Hire</a:t>
            </a:r>
            <a:r>
              <a:rPr lang="es-ES_tradnl" sz="1400" b="1" dirty="0">
                <a:solidFill>
                  <a:schemeClr val="bg1"/>
                </a:solidFill>
              </a:rPr>
              <a:t> </a:t>
            </a:r>
            <a:r>
              <a:rPr lang="es-ES_tradnl" sz="1400" b="1" dirty="0" err="1">
                <a:solidFill>
                  <a:schemeClr val="bg1"/>
                </a:solidFill>
              </a:rPr>
              <a:t>to</a:t>
            </a:r>
            <a:r>
              <a:rPr lang="es-ES_tradnl" sz="1400" b="1" dirty="0">
                <a:solidFill>
                  <a:schemeClr val="bg1"/>
                </a:solidFill>
              </a:rPr>
              <a:t> Retire </a:t>
            </a:r>
            <a:r>
              <a:rPr lang="es-ES_tradnl" sz="1400" b="1" dirty="0">
                <a:solidFill>
                  <a:schemeClr val="bg1"/>
                </a:solidFill>
                <a:sym typeface="Wingdings" pitchFamily="2" charset="2"/>
              </a:rPr>
              <a:t> HR1201- </a:t>
            </a:r>
            <a:r>
              <a:rPr lang="es-ES_tradnl" sz="1400" b="1" dirty="0">
                <a:solidFill>
                  <a:schemeClr val="bg1"/>
                </a:solidFill>
              </a:rPr>
              <a:t>Selección y Reclutamiento</a:t>
            </a:r>
            <a:endParaRPr lang="es-ES_tradnl" sz="1050" dirty="0">
              <a:solidFill>
                <a:schemeClr val="bg1"/>
              </a:solidFill>
            </a:endParaRPr>
          </a:p>
        </p:txBody>
      </p:sp>
      <p:sp>
        <p:nvSpPr>
          <p:cNvPr id="7352" name="Rectángulo 7351">
            <a:extLst>
              <a:ext uri="{FF2B5EF4-FFF2-40B4-BE49-F238E27FC236}">
                <a16:creationId xmlns:a16="http://schemas.microsoft.com/office/drawing/2014/main" id="{DB334EF8-6484-4AE1-BAFE-C2482534F7A8}"/>
              </a:ext>
            </a:extLst>
          </p:cNvPr>
          <p:cNvSpPr/>
          <p:nvPr/>
        </p:nvSpPr>
        <p:spPr>
          <a:xfrm>
            <a:off x="828831" y="5774020"/>
            <a:ext cx="8942715" cy="9990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53" name="Rectángulo 7352">
            <a:extLst>
              <a:ext uri="{FF2B5EF4-FFF2-40B4-BE49-F238E27FC236}">
                <a16:creationId xmlns:a16="http://schemas.microsoft.com/office/drawing/2014/main" id="{EB482C54-E8F3-BA04-E334-D4A8544E7802}"/>
              </a:ext>
            </a:extLst>
          </p:cNvPr>
          <p:cNvSpPr/>
          <p:nvPr/>
        </p:nvSpPr>
        <p:spPr>
          <a:xfrm rot="16200000">
            <a:off x="-49363" y="5947558"/>
            <a:ext cx="99900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Director RRHH</a:t>
            </a:r>
          </a:p>
        </p:txBody>
      </p:sp>
      <p:sp>
        <p:nvSpPr>
          <p:cNvPr id="7354" name="CuadroTexto 7353">
            <a:extLst>
              <a:ext uri="{FF2B5EF4-FFF2-40B4-BE49-F238E27FC236}">
                <a16:creationId xmlns:a16="http://schemas.microsoft.com/office/drawing/2014/main" id="{6438D7A5-FE45-DF56-C484-F31F5AED91A3}"/>
              </a:ext>
            </a:extLst>
          </p:cNvPr>
          <p:cNvSpPr txBox="1"/>
          <p:nvPr/>
        </p:nvSpPr>
        <p:spPr>
          <a:xfrm>
            <a:off x="4814808" y="5877568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Firma de Contrato</a:t>
            </a:r>
          </a:p>
        </p:txBody>
      </p:sp>
      <p:cxnSp>
        <p:nvCxnSpPr>
          <p:cNvPr id="7361" name="Conector angular 7360">
            <a:extLst>
              <a:ext uri="{FF2B5EF4-FFF2-40B4-BE49-F238E27FC236}">
                <a16:creationId xmlns:a16="http://schemas.microsoft.com/office/drawing/2014/main" id="{C1E8C0A7-7D8B-07A2-3A60-A5A3E6494E6E}"/>
              </a:ext>
            </a:extLst>
          </p:cNvPr>
          <p:cNvCxnSpPr>
            <a:stCxn id="7354" idx="3"/>
            <a:endCxn id="7282" idx="2"/>
          </p:cNvCxnSpPr>
          <p:nvPr/>
        </p:nvCxnSpPr>
        <p:spPr>
          <a:xfrm flipV="1">
            <a:off x="6253995" y="5518287"/>
            <a:ext cx="354307" cy="6016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62" name="Picture 6" descr="Hand, finger, gesture">
            <a:extLst>
              <a:ext uri="{FF2B5EF4-FFF2-40B4-BE49-F238E27FC236}">
                <a16:creationId xmlns:a16="http://schemas.microsoft.com/office/drawing/2014/main" id="{A3FF5112-3BA2-41BF-DBB3-840D0AFA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51868" y="5911365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3" name="Picture 8">
            <a:extLst>
              <a:ext uri="{FF2B5EF4-FFF2-40B4-BE49-F238E27FC236}">
                <a16:creationId xmlns:a16="http://schemas.microsoft.com/office/drawing/2014/main" id="{BAD3BF62-5C33-4881-1A66-9C40BBE8F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084" y="3539866"/>
            <a:ext cx="407781" cy="3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64" name="CuadroTexto 7363">
            <a:extLst>
              <a:ext uri="{FF2B5EF4-FFF2-40B4-BE49-F238E27FC236}">
                <a16:creationId xmlns:a16="http://schemas.microsoft.com/office/drawing/2014/main" id="{3D5A94CE-9EFC-7FC4-4D7A-C4002B2F8D8E}"/>
              </a:ext>
            </a:extLst>
          </p:cNvPr>
          <p:cNvSpPr txBox="1"/>
          <p:nvPr/>
        </p:nvSpPr>
        <p:spPr>
          <a:xfrm>
            <a:off x="6263767" y="3879824"/>
            <a:ext cx="16401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b="1" dirty="0">
                <a:solidFill>
                  <a:srgbClr val="002060"/>
                </a:solidFill>
              </a:rPr>
              <a:t>Ficha de </a:t>
            </a:r>
            <a:r>
              <a:rPr lang="es-ES_tradnl" sz="900" b="1" dirty="0" err="1">
                <a:solidFill>
                  <a:srgbClr val="002060"/>
                </a:solidFill>
              </a:rPr>
              <a:t>Contratación.docx</a:t>
            </a:r>
            <a:endParaRPr lang="es-ES_tradnl" sz="900" b="1" dirty="0">
              <a:solidFill>
                <a:srgbClr val="002060"/>
              </a:solidFill>
            </a:endParaRPr>
          </a:p>
        </p:txBody>
      </p:sp>
      <p:cxnSp>
        <p:nvCxnSpPr>
          <p:cNvPr id="7367" name="Conector angular 7366">
            <a:extLst>
              <a:ext uri="{FF2B5EF4-FFF2-40B4-BE49-F238E27FC236}">
                <a16:creationId xmlns:a16="http://schemas.microsoft.com/office/drawing/2014/main" id="{7C9D6392-E6AC-75F0-6BA3-C93031C9BD32}"/>
              </a:ext>
            </a:extLst>
          </p:cNvPr>
          <p:cNvCxnSpPr>
            <a:stCxn id="7276" idx="2"/>
            <a:endCxn id="7354" idx="0"/>
          </p:cNvCxnSpPr>
          <p:nvPr/>
        </p:nvCxnSpPr>
        <p:spPr>
          <a:xfrm rot="5400000">
            <a:off x="4626278" y="4969442"/>
            <a:ext cx="181625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477229B5-BEB4-3B54-BE30-1FBFFB5C35D2}"/>
              </a:ext>
            </a:extLst>
          </p:cNvPr>
          <p:cNvSpPr/>
          <p:nvPr/>
        </p:nvSpPr>
        <p:spPr>
          <a:xfrm>
            <a:off x="4880721" y="2653872"/>
            <a:ext cx="1535815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B065A3C-88FE-3CA6-B2B5-03F29AA5C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562" y="3445940"/>
            <a:ext cx="7772400" cy="635244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2483CEF-1C3D-1A6C-219B-C8DD6A4903EB}"/>
              </a:ext>
            </a:extLst>
          </p:cNvPr>
          <p:cNvSpPr/>
          <p:nvPr/>
        </p:nvSpPr>
        <p:spPr>
          <a:xfrm>
            <a:off x="6818572" y="2642769"/>
            <a:ext cx="1535815" cy="57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701C078-6EE4-8F45-FAE3-5FCC6D3FEFB5}"/>
              </a:ext>
            </a:extLst>
          </p:cNvPr>
          <p:cNvSpPr txBox="1"/>
          <p:nvPr/>
        </p:nvSpPr>
        <p:spPr>
          <a:xfrm>
            <a:off x="1168639" y="4164499"/>
            <a:ext cx="3360358" cy="73866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Mal Diseño</a:t>
            </a:r>
            <a:endParaRPr lang="es-ES_tradnl" sz="1400" dirty="0">
              <a:solidFill>
                <a:schemeClr val="bg1"/>
              </a:solidFill>
            </a:endParaRPr>
          </a:p>
          <a:p>
            <a:pPr algn="ctr"/>
            <a:r>
              <a:rPr lang="es-ES_tradnl" sz="1400" dirty="0">
                <a:solidFill>
                  <a:schemeClr val="bg1"/>
                </a:solidFill>
              </a:rPr>
              <a:t>La actividad de control es posterior a una actividad que demanda tiempo</a:t>
            </a:r>
          </a:p>
        </p:txBody>
      </p:sp>
    </p:spTree>
    <p:extLst>
      <p:ext uri="{BB962C8B-B14F-4D97-AF65-F5344CB8AC3E}">
        <p14:creationId xmlns:p14="http://schemas.microsoft.com/office/powerpoint/2010/main" val="1739423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uadroTexto 22">
            <a:extLst>
              <a:ext uri="{FF2B5EF4-FFF2-40B4-BE49-F238E27FC236}">
                <a16:creationId xmlns:a16="http://schemas.microsoft.com/office/drawing/2014/main" id="{DDDAB6AC-B296-A039-1834-72CF3C585768}"/>
              </a:ext>
            </a:extLst>
          </p:cNvPr>
          <p:cNvSpPr txBox="1"/>
          <p:nvPr/>
        </p:nvSpPr>
        <p:spPr>
          <a:xfrm>
            <a:off x="1184202" y="2919052"/>
            <a:ext cx="240736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100" b="1" dirty="0">
                <a:solidFill>
                  <a:srgbClr val="FF0000"/>
                </a:solidFill>
              </a:rPr>
              <a:t>PA-20. </a:t>
            </a:r>
            <a:r>
              <a:rPr lang="es-ES_tradnl" sz="1100" dirty="0"/>
              <a:t>El Director de HR recibe contratos con bandas salariales inadecuadas y procesos de búsqueda que no se deberían haber iniciado. </a:t>
            </a:r>
            <a:r>
              <a:rPr lang="es-ES_tradnl" sz="1100" b="1" dirty="0">
                <a:solidFill>
                  <a:srgbClr val="FF0000"/>
                </a:solidFill>
              </a:rPr>
              <a:t>[Ineficiencia y Riesgo]</a:t>
            </a: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741A713A-46CB-350A-E02C-EEBB317483C1}"/>
              </a:ext>
            </a:extLst>
          </p:cNvPr>
          <p:cNvSpPr txBox="1">
            <a:spLocks/>
          </p:cNvSpPr>
          <p:nvPr/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Reclutamiento y Selección</a:t>
            </a:r>
          </a:p>
          <a:p>
            <a:r>
              <a:rPr lang="es-ES_tradnl" sz="2400" b="1" dirty="0">
                <a:solidFill>
                  <a:schemeClr val="accent1"/>
                </a:solidFill>
              </a:rPr>
              <a:t>Propuestas de Mejora TO BE</a:t>
            </a:r>
          </a:p>
        </p:txBody>
      </p:sp>
      <p:pic>
        <p:nvPicPr>
          <p:cNvPr id="8194" name="Picture 2" descr="Alert, attention, danger, exclamation, exclamation mark, hazard, warning icon - Download on Iconfinder">
            <a:extLst>
              <a:ext uri="{FF2B5EF4-FFF2-40B4-BE49-F238E27FC236}">
                <a16:creationId xmlns:a16="http://schemas.microsoft.com/office/drawing/2014/main" id="{647E3C53-DD6D-C908-A849-A7C6416A6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877" y="161574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DB70DC9-35BB-1647-71C0-00FCABAFB514}"/>
              </a:ext>
            </a:extLst>
          </p:cNvPr>
          <p:cNvSpPr txBox="1"/>
          <p:nvPr/>
        </p:nvSpPr>
        <p:spPr>
          <a:xfrm>
            <a:off x="7280877" y="1613165"/>
            <a:ext cx="19268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100" b="1" dirty="0">
                <a:solidFill>
                  <a:srgbClr val="FF0000"/>
                </a:solidFill>
              </a:rPr>
              <a:t>PA-16. </a:t>
            </a:r>
            <a:r>
              <a:rPr lang="es-ES_tradnl" sz="1100" dirty="0"/>
              <a:t>Existen candidatos que tienen problemas con centrales de riesgo que han sido admitidos en la Organización en puestos claves. </a:t>
            </a:r>
            <a:r>
              <a:rPr lang="es-ES_tradnl" sz="1100" b="1" dirty="0">
                <a:solidFill>
                  <a:srgbClr val="FF0000"/>
                </a:solidFill>
              </a:rPr>
              <a:t>[Riesgo]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EF29EE-DF46-1C23-B7F8-9A5EE218CF1B}"/>
              </a:ext>
            </a:extLst>
          </p:cNvPr>
          <p:cNvSpPr txBox="1"/>
          <p:nvPr/>
        </p:nvSpPr>
        <p:spPr>
          <a:xfrm>
            <a:off x="4207268" y="1605399"/>
            <a:ext cx="2444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100" b="1" dirty="0">
                <a:solidFill>
                  <a:srgbClr val="FF0000"/>
                </a:solidFill>
              </a:rPr>
              <a:t>PA-19. </a:t>
            </a:r>
            <a:r>
              <a:rPr lang="es-ES_tradnl" sz="1100" dirty="0"/>
              <a:t>Se registra la información de la persona 3 veces, dos veces en documentos en Word y uno en el Sistema. </a:t>
            </a:r>
            <a:r>
              <a:rPr lang="es-ES_tradnl" sz="1100" b="1" dirty="0">
                <a:solidFill>
                  <a:srgbClr val="FF0000"/>
                </a:solidFill>
              </a:rPr>
              <a:t>[Ineficiencia]</a:t>
            </a:r>
          </a:p>
        </p:txBody>
      </p:sp>
      <p:pic>
        <p:nvPicPr>
          <p:cNvPr id="5" name="Picture 2" descr="Alert, attention, danger, exclamation, exclamation mark, hazard, warning icon - Download on Iconfinder">
            <a:extLst>
              <a:ext uri="{FF2B5EF4-FFF2-40B4-BE49-F238E27FC236}">
                <a16:creationId xmlns:a16="http://schemas.microsoft.com/office/drawing/2014/main" id="{834F9C58-5D43-BB9F-964A-589F868B0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269" y="1596059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lert, attention, danger, exclamation, exclamation mark, hazard, warning icon - Download on Iconfinder">
            <a:extLst>
              <a:ext uri="{FF2B5EF4-FFF2-40B4-BE49-F238E27FC236}">
                <a16:creationId xmlns:a16="http://schemas.microsoft.com/office/drawing/2014/main" id="{5DC6042E-C665-DEFC-104D-9396EA8BA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03" y="2897789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FD0748A-172D-F566-65C1-79B00E339E6C}"/>
              </a:ext>
            </a:extLst>
          </p:cNvPr>
          <p:cNvSpPr txBox="1"/>
          <p:nvPr/>
        </p:nvSpPr>
        <p:spPr>
          <a:xfrm>
            <a:off x="2092725" y="5090798"/>
            <a:ext cx="20650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100" b="1" dirty="0">
                <a:solidFill>
                  <a:srgbClr val="FF0000"/>
                </a:solidFill>
              </a:rPr>
              <a:t>PA-25. </a:t>
            </a:r>
            <a:r>
              <a:rPr lang="es-ES_tradnl" sz="1100" dirty="0"/>
              <a:t>El Equipo de Desarrollo Organizacional toma mucho tiempo revisando hojas de vida y publicando los artes en las Redes Digitales. </a:t>
            </a:r>
            <a:r>
              <a:rPr lang="es-ES_tradnl" sz="1100" b="1" dirty="0">
                <a:solidFill>
                  <a:srgbClr val="FF0000"/>
                </a:solidFill>
              </a:rPr>
              <a:t>[Ineficiencia]</a:t>
            </a:r>
          </a:p>
        </p:txBody>
      </p:sp>
      <p:pic>
        <p:nvPicPr>
          <p:cNvPr id="9" name="Picture 2" descr="Alert, attention, danger, exclamation, exclamation mark, hazard, warning icon - Download on Iconfinder">
            <a:extLst>
              <a:ext uri="{FF2B5EF4-FFF2-40B4-BE49-F238E27FC236}">
                <a16:creationId xmlns:a16="http://schemas.microsoft.com/office/drawing/2014/main" id="{23D85D82-2043-CD5B-FA02-BB866A65A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656" y="296444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800C56C-7610-7B63-EEE4-6D32BBAF47C5}"/>
              </a:ext>
            </a:extLst>
          </p:cNvPr>
          <p:cNvSpPr txBox="1"/>
          <p:nvPr/>
        </p:nvSpPr>
        <p:spPr>
          <a:xfrm>
            <a:off x="4157817" y="3005911"/>
            <a:ext cx="240736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100" b="1" dirty="0">
                <a:solidFill>
                  <a:srgbClr val="FF0000"/>
                </a:solidFill>
              </a:rPr>
              <a:t>PA-21. </a:t>
            </a:r>
            <a:r>
              <a:rPr lang="es-ES_tradnl" sz="1100" dirty="0"/>
              <a:t>El Director de HR recibe contratos de posiciones operativas para firma manual que deberían ser firmadas por una posición menos ejecutiva. </a:t>
            </a:r>
            <a:r>
              <a:rPr lang="es-ES_tradnl" sz="1100" b="1" dirty="0">
                <a:solidFill>
                  <a:srgbClr val="FF0000"/>
                </a:solidFill>
              </a:rPr>
              <a:t>[Ineficiencia]</a:t>
            </a:r>
          </a:p>
        </p:txBody>
      </p:sp>
      <p:pic>
        <p:nvPicPr>
          <p:cNvPr id="11" name="Picture 2" descr="Alert, attention, danger, exclamation, exclamation mark, hazard, warning icon - Download on Iconfinder">
            <a:extLst>
              <a:ext uri="{FF2B5EF4-FFF2-40B4-BE49-F238E27FC236}">
                <a16:creationId xmlns:a16="http://schemas.microsoft.com/office/drawing/2014/main" id="{E4B14159-6314-8A88-9D87-B2BB62E64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725" y="5045689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01F4F6E-8024-02E9-C826-1DBBF5F55829}"/>
              </a:ext>
            </a:extLst>
          </p:cNvPr>
          <p:cNvSpPr txBox="1"/>
          <p:nvPr/>
        </p:nvSpPr>
        <p:spPr>
          <a:xfrm>
            <a:off x="6164596" y="5173682"/>
            <a:ext cx="244423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100" b="1" dirty="0">
                <a:solidFill>
                  <a:srgbClr val="FF0000"/>
                </a:solidFill>
              </a:rPr>
              <a:t>PA-26. </a:t>
            </a:r>
            <a:r>
              <a:rPr lang="es-ES_tradnl" sz="1100" dirty="0"/>
              <a:t>El Equipo de Desarrollo Organizacional tiene un presupuesto muy alto en la aplicación de pruebas psicométricas, ocupa muchas salas. </a:t>
            </a:r>
            <a:r>
              <a:rPr lang="es-ES_tradnl" sz="1100" b="1" dirty="0">
                <a:solidFill>
                  <a:srgbClr val="FF0000"/>
                </a:solidFill>
              </a:rPr>
              <a:t>[Ineficiencia]</a:t>
            </a:r>
          </a:p>
        </p:txBody>
      </p:sp>
      <p:pic>
        <p:nvPicPr>
          <p:cNvPr id="13" name="Picture 2" descr="Alert, attention, danger, exclamation, exclamation mark, hazard, warning icon - Download on Iconfinder">
            <a:extLst>
              <a:ext uri="{FF2B5EF4-FFF2-40B4-BE49-F238E27FC236}">
                <a16:creationId xmlns:a16="http://schemas.microsoft.com/office/drawing/2014/main" id="{D7864213-4BF0-6BEF-99DE-03B910D2C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597" y="511665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Alert, attention, danger, exclamation, exclamation mark, hazard, warning icon - Download on Iconfinder">
            <a:extLst>
              <a:ext uri="{FF2B5EF4-FFF2-40B4-BE49-F238E27FC236}">
                <a16:creationId xmlns:a16="http://schemas.microsoft.com/office/drawing/2014/main" id="{7018CBE5-DA72-A531-1A69-379D8A4F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58" y="172068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34AEFDC-152B-6D45-E553-84FCF80808EA}"/>
              </a:ext>
            </a:extLst>
          </p:cNvPr>
          <p:cNvSpPr txBox="1"/>
          <p:nvPr/>
        </p:nvSpPr>
        <p:spPr>
          <a:xfrm>
            <a:off x="1184203" y="1688471"/>
            <a:ext cx="24408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100" b="1" dirty="0">
                <a:solidFill>
                  <a:srgbClr val="FF0000"/>
                </a:solidFill>
              </a:rPr>
              <a:t>PA-14.</a:t>
            </a:r>
            <a:r>
              <a:rPr lang="es-ES_tradnl" sz="1100" dirty="0"/>
              <a:t> Cada vez que se inicia un nuevo proceso de reclutamiento, se debe definir el perfil cada vez. No se cuenta con una base de datos de postulantes anteriores. </a:t>
            </a:r>
            <a:r>
              <a:rPr lang="es-ES_tradnl" sz="1100" b="1" dirty="0">
                <a:solidFill>
                  <a:srgbClr val="FF0000"/>
                </a:solidFill>
              </a:rPr>
              <a:t>[Ineficiencia]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377A8A9-A26B-4776-B3A4-AC65DF426F1C}"/>
              </a:ext>
            </a:extLst>
          </p:cNvPr>
          <p:cNvSpPr/>
          <p:nvPr/>
        </p:nvSpPr>
        <p:spPr>
          <a:xfrm>
            <a:off x="618088" y="1611821"/>
            <a:ext cx="5962185" cy="2271954"/>
          </a:xfrm>
          <a:prstGeom prst="rect">
            <a:avLst/>
          </a:prstGeom>
          <a:solidFill>
            <a:schemeClr val="accent6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Automatización con Herramienta BPM </a:t>
            </a:r>
          </a:p>
          <a:p>
            <a:pPr algn="ctr">
              <a:spcAft>
                <a:spcPts val="600"/>
              </a:spcAft>
            </a:pPr>
            <a:r>
              <a:rPr lang="es-ES_tradnl" b="1" dirty="0">
                <a:solidFill>
                  <a:schemeClr val="tx1"/>
                </a:solidFill>
              </a:rPr>
              <a:t>para la Gestión de Requerimientos de Reclutamiento</a:t>
            </a:r>
            <a:endParaRPr lang="es-ES_tradnl" dirty="0">
              <a:solidFill>
                <a:schemeClr val="tx1"/>
              </a:solidFill>
            </a:endParaRP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sz="1100" dirty="0">
                <a:solidFill>
                  <a:schemeClr val="tx1"/>
                </a:solidFill>
                <a:sym typeface="Wingdings" pitchFamily="2" charset="2"/>
              </a:rPr>
              <a:t>Segregación de Funciones (Registro y Aprobación diferenciados)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sz="1100" dirty="0">
                <a:solidFill>
                  <a:schemeClr val="tx1"/>
                </a:solidFill>
                <a:sym typeface="Wingdings" pitchFamily="2" charset="2"/>
              </a:rPr>
              <a:t>Control de Estados y Duración de cada Requerimiento (Medición por Procesos)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sz="1100" dirty="0">
                <a:solidFill>
                  <a:schemeClr val="tx1"/>
                </a:solidFill>
                <a:sym typeface="Wingdings" pitchFamily="2" charset="2"/>
              </a:rPr>
              <a:t>Reglas de Negocio de Autorización de Procesos (Escalamiento)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sz="1100" dirty="0">
                <a:solidFill>
                  <a:schemeClr val="tx1"/>
                </a:solidFill>
                <a:sym typeface="Wingdings" pitchFamily="2" charset="2"/>
              </a:rPr>
              <a:t>Generación Automática de Información del Postulante 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sz="1100" dirty="0">
                <a:solidFill>
                  <a:schemeClr val="tx1"/>
                </a:solidFill>
                <a:sym typeface="Wingdings" pitchFamily="2" charset="2"/>
              </a:rPr>
              <a:t>Firma Digital de Contratos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sz="1100" dirty="0">
                <a:solidFill>
                  <a:schemeClr val="tx1"/>
                </a:solidFill>
                <a:sym typeface="Wingdings" pitchFamily="2" charset="2"/>
              </a:rPr>
              <a:t>Base de Datos Histórica de Candidatos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sz="1100" dirty="0">
                <a:solidFill>
                  <a:schemeClr val="tx1"/>
                </a:solidFill>
                <a:sym typeface="Wingdings" pitchFamily="2" charset="2"/>
              </a:rPr>
              <a:t>Base de Datos de Perfiles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s-ES_tradnl" sz="1100" dirty="0">
              <a:solidFill>
                <a:schemeClr val="tx1"/>
              </a:solidFill>
              <a:sym typeface="Wingdings" pitchFamily="2" charset="2"/>
            </a:endParaRPr>
          </a:p>
          <a:p>
            <a:pPr>
              <a:buClr>
                <a:srgbClr val="C00000"/>
              </a:buClr>
            </a:pPr>
            <a:r>
              <a:rPr lang="es-ES_tradnl" sz="1100" b="1" i="1" dirty="0">
                <a:solidFill>
                  <a:srgbClr val="FF0000"/>
                </a:solidFill>
                <a:sym typeface="Wingdings" pitchFamily="2" charset="2"/>
              </a:rPr>
              <a:t>NOTA: Esta funcionalidad no está incluida en el ERP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D0FFB4A-B123-7E2B-5FFF-134BDB61D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459" y="3486523"/>
            <a:ext cx="1341634" cy="39921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A5C4061-393F-B569-849F-88212F9EE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459" y="3074333"/>
            <a:ext cx="1331559" cy="405551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38DB18C5-0825-8AB9-CADD-C8D0E89AAD38}"/>
              </a:ext>
            </a:extLst>
          </p:cNvPr>
          <p:cNvSpPr/>
          <p:nvPr/>
        </p:nvSpPr>
        <p:spPr>
          <a:xfrm>
            <a:off x="613833" y="3918860"/>
            <a:ext cx="5962185" cy="746652"/>
          </a:xfrm>
          <a:prstGeom prst="rect">
            <a:avLst/>
          </a:prstGeom>
          <a:solidFill>
            <a:schemeClr val="accent6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Alta Automática de Personal en ERP </a:t>
            </a:r>
          </a:p>
          <a:p>
            <a:pPr algn="ctr"/>
            <a:r>
              <a:rPr lang="es-ES_tradnl" b="1" dirty="0">
                <a:solidFill>
                  <a:schemeClr val="tx1"/>
                </a:solidFill>
              </a:rPr>
              <a:t>desde la Herramienta BPM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1F717E8-5128-6801-7652-AAB5743D8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384" y="4270226"/>
            <a:ext cx="1341634" cy="399218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AB237F7F-5A4E-9497-EC52-2A1D96A7676B}"/>
              </a:ext>
            </a:extLst>
          </p:cNvPr>
          <p:cNvSpPr/>
          <p:nvPr/>
        </p:nvSpPr>
        <p:spPr>
          <a:xfrm>
            <a:off x="6651501" y="3196578"/>
            <a:ext cx="2842811" cy="1468934"/>
          </a:xfrm>
          <a:prstGeom prst="rect">
            <a:avLst/>
          </a:prstGeom>
          <a:solidFill>
            <a:schemeClr val="accent6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Nuevo Puesto para Posiciones Operativas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6698D45-DD94-B70D-6B6B-A228585B2C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0423" y="4229463"/>
            <a:ext cx="1343889" cy="436049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9A5F060F-DD26-E05E-B8EC-E38F8D2467DC}"/>
              </a:ext>
            </a:extLst>
          </p:cNvPr>
          <p:cNvSpPr/>
          <p:nvPr/>
        </p:nvSpPr>
        <p:spPr>
          <a:xfrm>
            <a:off x="6639843" y="1605399"/>
            <a:ext cx="2854469" cy="1468934"/>
          </a:xfrm>
          <a:prstGeom prst="rect">
            <a:avLst/>
          </a:prstGeom>
          <a:solidFill>
            <a:schemeClr val="accent6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Incorporación de Actividades de Control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305908AE-9052-C28B-A982-F362577EED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753" y="2627988"/>
            <a:ext cx="1331559" cy="405551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4CD49F23-9594-7D28-1E84-A26F31065B64}"/>
              </a:ext>
            </a:extLst>
          </p:cNvPr>
          <p:cNvSpPr/>
          <p:nvPr/>
        </p:nvSpPr>
        <p:spPr>
          <a:xfrm>
            <a:off x="640788" y="4984429"/>
            <a:ext cx="3835830" cy="1272355"/>
          </a:xfrm>
          <a:prstGeom prst="rect">
            <a:avLst/>
          </a:prstGeom>
          <a:solidFill>
            <a:schemeClr val="accent6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RPA para la Publicación de Avisos en Medio Digitales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50DACDA0-D597-89D4-235F-051AB797B9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5271" y="5857566"/>
            <a:ext cx="1341634" cy="399218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37DDF030-D17E-03EC-4215-05020B8258CF}"/>
              </a:ext>
            </a:extLst>
          </p:cNvPr>
          <p:cNvSpPr/>
          <p:nvPr/>
        </p:nvSpPr>
        <p:spPr>
          <a:xfrm>
            <a:off x="4697817" y="4984429"/>
            <a:ext cx="4796495" cy="1272355"/>
          </a:xfrm>
          <a:prstGeom prst="rect">
            <a:avLst/>
          </a:prstGeom>
          <a:solidFill>
            <a:schemeClr val="accent6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b="1" dirty="0">
                <a:solidFill>
                  <a:schemeClr val="tx1"/>
                </a:solidFill>
              </a:rPr>
              <a:t>Motor IA para el filtro de las </a:t>
            </a:r>
          </a:p>
          <a:p>
            <a:r>
              <a:rPr lang="es-ES_tradnl" b="1" dirty="0">
                <a:solidFill>
                  <a:schemeClr val="tx1"/>
                </a:solidFill>
              </a:rPr>
              <a:t>Hojas de Vida e </a:t>
            </a:r>
          </a:p>
          <a:p>
            <a:r>
              <a:rPr lang="es-ES_tradnl" b="1" dirty="0">
                <a:solidFill>
                  <a:schemeClr val="tx1"/>
                </a:solidFill>
              </a:rPr>
              <a:t>Incorporación de  </a:t>
            </a:r>
          </a:p>
          <a:p>
            <a:r>
              <a:rPr lang="es-ES_tradnl" b="1" dirty="0">
                <a:solidFill>
                  <a:schemeClr val="tx1"/>
                </a:solidFill>
              </a:rPr>
              <a:t>Actividades de Control 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C72141F3-3041-368A-8BBB-2584DEE58A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5469" y="5697163"/>
            <a:ext cx="1341634" cy="39921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1F482810-7434-F189-6FF7-7111D53606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0506" y="5237577"/>
            <a:ext cx="1331559" cy="40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2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1" grpId="0" animBg="1"/>
      <p:bldP spid="24" grpId="0" animBg="1"/>
      <p:bldP spid="26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8" name="Rectángulo 7337">
            <a:extLst>
              <a:ext uri="{FF2B5EF4-FFF2-40B4-BE49-F238E27FC236}">
                <a16:creationId xmlns:a16="http://schemas.microsoft.com/office/drawing/2014/main" id="{20E7EB5A-5051-36B6-423A-BD37F66BB186}"/>
              </a:ext>
            </a:extLst>
          </p:cNvPr>
          <p:cNvSpPr/>
          <p:nvPr/>
        </p:nvSpPr>
        <p:spPr>
          <a:xfrm>
            <a:off x="1602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30" name="Rectángulo 7329">
            <a:extLst>
              <a:ext uri="{FF2B5EF4-FFF2-40B4-BE49-F238E27FC236}">
                <a16:creationId xmlns:a16="http://schemas.microsoft.com/office/drawing/2014/main" id="{BFC97442-46C2-2A72-D98C-C1FA720F21FA}"/>
              </a:ext>
            </a:extLst>
          </p:cNvPr>
          <p:cNvSpPr/>
          <p:nvPr/>
        </p:nvSpPr>
        <p:spPr>
          <a:xfrm>
            <a:off x="842069" y="2081784"/>
            <a:ext cx="8942715" cy="2661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329" name="Rectángulo 7328">
            <a:extLst>
              <a:ext uri="{FF2B5EF4-FFF2-40B4-BE49-F238E27FC236}">
                <a16:creationId xmlns:a16="http://schemas.microsoft.com/office/drawing/2014/main" id="{E33CDE91-39BA-BBCD-53B7-B711A9F90E5A}"/>
              </a:ext>
            </a:extLst>
          </p:cNvPr>
          <p:cNvSpPr/>
          <p:nvPr/>
        </p:nvSpPr>
        <p:spPr>
          <a:xfrm>
            <a:off x="842070" y="855745"/>
            <a:ext cx="8942715" cy="117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041685-4211-71C2-9F3F-7D94EBE7BB44}"/>
              </a:ext>
            </a:extLst>
          </p:cNvPr>
          <p:cNvSpPr/>
          <p:nvPr/>
        </p:nvSpPr>
        <p:spPr>
          <a:xfrm rot="16200000">
            <a:off x="-131329" y="1118092"/>
            <a:ext cx="117662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Área Usuaria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Solicitante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179691-48D1-C7D5-94AB-97E5933FE172}"/>
              </a:ext>
            </a:extLst>
          </p:cNvPr>
          <p:cNvSpPr/>
          <p:nvPr/>
        </p:nvSpPr>
        <p:spPr>
          <a:xfrm>
            <a:off x="913629" y="1292349"/>
            <a:ext cx="313266" cy="2878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32E2E-694C-43AF-F611-14BF9440B06E}"/>
              </a:ext>
            </a:extLst>
          </p:cNvPr>
          <p:cNvSpPr txBox="1"/>
          <p:nvPr/>
        </p:nvSpPr>
        <p:spPr>
          <a:xfrm>
            <a:off x="1348483" y="1156844"/>
            <a:ext cx="1439187" cy="552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Inicio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Requerimiento de Candidatos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46CB5C-0563-CD3E-5E2E-50157CA43F77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 flipV="1">
            <a:off x="1226895" y="1433199"/>
            <a:ext cx="121588" cy="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E4CC33-75CF-0BD6-B3A7-B315E673A13B}"/>
              </a:ext>
            </a:extLst>
          </p:cNvPr>
          <p:cNvSpPr/>
          <p:nvPr/>
        </p:nvSpPr>
        <p:spPr>
          <a:xfrm rot="16200000">
            <a:off x="-871237" y="3086374"/>
            <a:ext cx="2661113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Analista de Desarrollo Organizacional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27360A-E6D7-BFA7-E366-F582906D1D84}"/>
              </a:ext>
            </a:extLst>
          </p:cNvPr>
          <p:cNvSpPr txBox="1"/>
          <p:nvPr/>
        </p:nvSpPr>
        <p:spPr>
          <a:xfrm>
            <a:off x="2286208" y="4080452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dirty="0">
                <a:solidFill>
                  <a:schemeClr val="tx1"/>
                </a:solidFill>
              </a:rPr>
              <a:t>RPA</a:t>
            </a:r>
            <a:r>
              <a:rPr lang="es-ES_tradnl" sz="1000" b="0" dirty="0">
                <a:solidFill>
                  <a:schemeClr val="tx1"/>
                </a:solidFill>
              </a:rPr>
              <a:t> - Publicación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de Vacante en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Medios Digitales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F1E80D7-522D-C12B-7261-022308BCEC4A}"/>
              </a:ext>
            </a:extLst>
          </p:cNvPr>
          <p:cNvSpPr txBox="1"/>
          <p:nvPr/>
        </p:nvSpPr>
        <p:spPr>
          <a:xfrm>
            <a:off x="3330133" y="2224625"/>
            <a:ext cx="1439187" cy="49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Consulta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Hojas de Vida y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Filtro con IA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8130FA-2191-041C-D38A-7802115E83A3}"/>
              </a:ext>
            </a:extLst>
          </p:cNvPr>
          <p:cNvSpPr txBox="1"/>
          <p:nvPr/>
        </p:nvSpPr>
        <p:spPr>
          <a:xfrm>
            <a:off x="5910694" y="3834717"/>
            <a:ext cx="1489581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Entrevistas a Filtrados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C517EC-706D-AD1E-A15B-D623FDE96247}"/>
              </a:ext>
            </a:extLst>
          </p:cNvPr>
          <p:cNvSpPr txBox="1"/>
          <p:nvPr/>
        </p:nvSpPr>
        <p:spPr>
          <a:xfrm>
            <a:off x="5901341" y="3011284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Psicométricas (Presencial a Filtrados)</a:t>
            </a:r>
          </a:p>
        </p:txBody>
      </p:sp>
      <p:sp>
        <p:nvSpPr>
          <p:cNvPr id="7194" name="CuadroTexto 7193">
            <a:extLst>
              <a:ext uri="{FF2B5EF4-FFF2-40B4-BE49-F238E27FC236}">
                <a16:creationId xmlns:a16="http://schemas.microsoft.com/office/drawing/2014/main" id="{A45069A6-9C5C-9499-A0D9-42387D5FFD3E}"/>
              </a:ext>
            </a:extLst>
          </p:cNvPr>
          <p:cNvSpPr txBox="1"/>
          <p:nvPr/>
        </p:nvSpPr>
        <p:spPr>
          <a:xfrm>
            <a:off x="5925477" y="1086932"/>
            <a:ext cx="1439187" cy="5211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Ejecución de Entrevista con Solicitante</a:t>
            </a:r>
          </a:p>
        </p:txBody>
      </p:sp>
      <p:sp>
        <p:nvSpPr>
          <p:cNvPr id="7199" name="CuadroTexto 7198">
            <a:extLst>
              <a:ext uri="{FF2B5EF4-FFF2-40B4-BE49-F238E27FC236}">
                <a16:creationId xmlns:a16="http://schemas.microsoft.com/office/drawing/2014/main" id="{3DA02FEB-1400-AE79-F4CA-AE05AFFE20F5}"/>
              </a:ext>
            </a:extLst>
          </p:cNvPr>
          <p:cNvSpPr txBox="1"/>
          <p:nvPr/>
        </p:nvSpPr>
        <p:spPr>
          <a:xfrm>
            <a:off x="4233406" y="383808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Validación de Referencias Crediticias (Filtrados)</a:t>
            </a:r>
          </a:p>
        </p:txBody>
      </p:sp>
      <p:sp>
        <p:nvSpPr>
          <p:cNvPr id="7201" name="Rombo 7200">
            <a:extLst>
              <a:ext uri="{FF2B5EF4-FFF2-40B4-BE49-F238E27FC236}">
                <a16:creationId xmlns:a16="http://schemas.microsoft.com/office/drawing/2014/main" id="{EF585719-B760-A389-A1A6-9A9B3A3CCC18}"/>
              </a:ext>
            </a:extLst>
          </p:cNvPr>
          <p:cNvSpPr/>
          <p:nvPr/>
        </p:nvSpPr>
        <p:spPr>
          <a:xfrm>
            <a:off x="8680814" y="1112241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02" name="Conector recto de flecha 7201">
            <a:extLst>
              <a:ext uri="{FF2B5EF4-FFF2-40B4-BE49-F238E27FC236}">
                <a16:creationId xmlns:a16="http://schemas.microsoft.com/office/drawing/2014/main" id="{CE6FF1D8-F68E-7F48-762A-C2101C559E28}"/>
              </a:ext>
            </a:extLst>
          </p:cNvPr>
          <p:cNvCxnSpPr>
            <a:cxnSpLocks/>
            <a:stCxn id="7194" idx="3"/>
            <a:endCxn id="7201" idx="1"/>
          </p:cNvCxnSpPr>
          <p:nvPr/>
        </p:nvCxnSpPr>
        <p:spPr>
          <a:xfrm flipV="1">
            <a:off x="7364664" y="1344726"/>
            <a:ext cx="1316150" cy="2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0" name="Conector angular 7219">
            <a:extLst>
              <a:ext uri="{FF2B5EF4-FFF2-40B4-BE49-F238E27FC236}">
                <a16:creationId xmlns:a16="http://schemas.microsoft.com/office/drawing/2014/main" id="{34E84BF1-E801-0064-B550-B25DB745D327}"/>
              </a:ext>
            </a:extLst>
          </p:cNvPr>
          <p:cNvCxnSpPr>
            <a:cxnSpLocks/>
            <a:stCxn id="7201" idx="0"/>
            <a:endCxn id="35" idx="0"/>
          </p:cNvCxnSpPr>
          <p:nvPr/>
        </p:nvCxnSpPr>
        <p:spPr>
          <a:xfrm rot="16200000" flipH="1" flipV="1">
            <a:off x="5985100" y="-823132"/>
            <a:ext cx="1112384" cy="4983130"/>
          </a:xfrm>
          <a:prstGeom prst="bentConnector3">
            <a:avLst>
              <a:gd name="adj1" fmla="val -205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5" name="CuadroTexto 7324">
            <a:extLst>
              <a:ext uri="{FF2B5EF4-FFF2-40B4-BE49-F238E27FC236}">
                <a16:creationId xmlns:a16="http://schemas.microsoft.com/office/drawing/2014/main" id="{D026E0D4-F78D-5C66-2A3D-86F10B862C07}"/>
              </a:ext>
            </a:extLst>
          </p:cNvPr>
          <p:cNvSpPr txBox="1"/>
          <p:nvPr/>
        </p:nvSpPr>
        <p:spPr>
          <a:xfrm>
            <a:off x="8647439" y="95760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326" name="CuadroTexto 7325">
            <a:extLst>
              <a:ext uri="{FF2B5EF4-FFF2-40B4-BE49-F238E27FC236}">
                <a16:creationId xmlns:a16="http://schemas.microsoft.com/office/drawing/2014/main" id="{A0C3E2C9-FCC1-ED22-3CCE-9A5F3F0036A1}"/>
              </a:ext>
            </a:extLst>
          </p:cNvPr>
          <p:cNvSpPr txBox="1"/>
          <p:nvPr/>
        </p:nvSpPr>
        <p:spPr>
          <a:xfrm>
            <a:off x="9032856" y="1598033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cxnSp>
        <p:nvCxnSpPr>
          <p:cNvPr id="7343" name="Conector angular 7342">
            <a:extLst>
              <a:ext uri="{FF2B5EF4-FFF2-40B4-BE49-F238E27FC236}">
                <a16:creationId xmlns:a16="http://schemas.microsoft.com/office/drawing/2014/main" id="{7F568F78-AF72-2D66-8FAE-AE1F3EC7690F}"/>
              </a:ext>
            </a:extLst>
          </p:cNvPr>
          <p:cNvCxnSpPr>
            <a:cxnSpLocks/>
          </p:cNvCxnSpPr>
          <p:nvPr/>
        </p:nvCxnSpPr>
        <p:spPr>
          <a:xfrm>
            <a:off x="2830511" y="1476495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1" name="CuadroTexto 7350">
            <a:extLst>
              <a:ext uri="{FF2B5EF4-FFF2-40B4-BE49-F238E27FC236}">
                <a16:creationId xmlns:a16="http://schemas.microsoft.com/office/drawing/2014/main" id="{EFC11607-3AFA-1339-ED50-D5430813B271}"/>
              </a:ext>
            </a:extLst>
          </p:cNvPr>
          <p:cNvSpPr txBox="1"/>
          <p:nvPr/>
        </p:nvSpPr>
        <p:spPr>
          <a:xfrm>
            <a:off x="121216" y="518293"/>
            <a:ext cx="966356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</a:rPr>
              <a:t>HR12.Proceso </a:t>
            </a:r>
            <a:r>
              <a:rPr lang="es-ES_tradnl" sz="1400" b="1" dirty="0" err="1">
                <a:solidFill>
                  <a:schemeClr val="bg1"/>
                </a:solidFill>
              </a:rPr>
              <a:t>Hire</a:t>
            </a:r>
            <a:r>
              <a:rPr lang="es-ES_tradnl" sz="1400" b="1" dirty="0">
                <a:solidFill>
                  <a:schemeClr val="bg1"/>
                </a:solidFill>
              </a:rPr>
              <a:t> </a:t>
            </a:r>
            <a:r>
              <a:rPr lang="es-ES_tradnl" sz="1400" b="1" dirty="0" err="1">
                <a:solidFill>
                  <a:schemeClr val="bg1"/>
                </a:solidFill>
              </a:rPr>
              <a:t>to</a:t>
            </a:r>
            <a:r>
              <a:rPr lang="es-ES_tradnl" sz="1400" b="1" dirty="0">
                <a:solidFill>
                  <a:schemeClr val="bg1"/>
                </a:solidFill>
              </a:rPr>
              <a:t> Retire </a:t>
            </a:r>
            <a:r>
              <a:rPr lang="es-ES_tradnl" sz="1400" b="1" dirty="0">
                <a:solidFill>
                  <a:schemeClr val="bg1"/>
                </a:solidFill>
                <a:sym typeface="Wingdings" pitchFamily="2" charset="2"/>
              </a:rPr>
              <a:t> HR1201- </a:t>
            </a:r>
            <a:r>
              <a:rPr lang="es-ES_tradnl" sz="1400" b="1" dirty="0">
                <a:solidFill>
                  <a:schemeClr val="bg1"/>
                </a:solidFill>
              </a:rPr>
              <a:t>Selección y Reclutamiento (VERSION TO BE)</a:t>
            </a:r>
            <a:endParaRPr lang="es-ES_tradnl" sz="1050" dirty="0">
              <a:solidFill>
                <a:schemeClr val="bg1"/>
              </a:solidFill>
            </a:endParaRPr>
          </a:p>
        </p:txBody>
      </p:sp>
      <p:sp>
        <p:nvSpPr>
          <p:cNvPr id="7352" name="Rectángulo 7351">
            <a:extLst>
              <a:ext uri="{FF2B5EF4-FFF2-40B4-BE49-F238E27FC236}">
                <a16:creationId xmlns:a16="http://schemas.microsoft.com/office/drawing/2014/main" id="{DB334EF8-6484-4AE1-BAFE-C2482534F7A8}"/>
              </a:ext>
            </a:extLst>
          </p:cNvPr>
          <p:cNvSpPr/>
          <p:nvPr/>
        </p:nvSpPr>
        <p:spPr>
          <a:xfrm>
            <a:off x="842069" y="4784225"/>
            <a:ext cx="8942715" cy="11271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353" name="Rectángulo 7352">
            <a:extLst>
              <a:ext uri="{FF2B5EF4-FFF2-40B4-BE49-F238E27FC236}">
                <a16:creationId xmlns:a16="http://schemas.microsoft.com/office/drawing/2014/main" id="{EB482C54-E8F3-BA04-E334-D4A8544E7802}"/>
              </a:ext>
            </a:extLst>
          </p:cNvPr>
          <p:cNvSpPr/>
          <p:nvPr/>
        </p:nvSpPr>
        <p:spPr>
          <a:xfrm rot="16200000">
            <a:off x="-100215" y="5021853"/>
            <a:ext cx="1127188" cy="6519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1"/>
                </a:solidFill>
              </a:rPr>
              <a:t>Gestión Humana</a:t>
            </a:r>
          </a:p>
          <a:p>
            <a:pPr algn="ctr"/>
            <a:r>
              <a:rPr lang="es-ES_tradnl" sz="1100" dirty="0">
                <a:solidFill>
                  <a:schemeClr val="tx1"/>
                </a:solidFill>
              </a:rPr>
              <a:t>Director RRHH</a:t>
            </a:r>
          </a:p>
        </p:txBody>
      </p:sp>
      <p:sp>
        <p:nvSpPr>
          <p:cNvPr id="4" name="Cilindro 3">
            <a:extLst>
              <a:ext uri="{FF2B5EF4-FFF2-40B4-BE49-F238E27FC236}">
                <a16:creationId xmlns:a16="http://schemas.microsoft.com/office/drawing/2014/main" id="{79BE00F2-95EB-716B-0082-545F3C63CACC}"/>
              </a:ext>
            </a:extLst>
          </p:cNvPr>
          <p:cNvSpPr/>
          <p:nvPr/>
        </p:nvSpPr>
        <p:spPr>
          <a:xfrm>
            <a:off x="2967804" y="1563681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BPM</a:t>
            </a:r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6A6B28C2-C95E-E4D8-C2F7-C5D7DFA7D8A0}"/>
              </a:ext>
            </a:extLst>
          </p:cNvPr>
          <p:cNvSpPr/>
          <p:nvPr/>
        </p:nvSpPr>
        <p:spPr>
          <a:xfrm>
            <a:off x="4865106" y="2724322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BPM</a:t>
            </a:r>
          </a:p>
        </p:txBody>
      </p:sp>
      <p:pic>
        <p:nvPicPr>
          <p:cNvPr id="18434" name="Picture 2" descr="Table, list">
            <a:extLst>
              <a:ext uri="{FF2B5EF4-FFF2-40B4-BE49-F238E27FC236}">
                <a16:creationId xmlns:a16="http://schemas.microsoft.com/office/drawing/2014/main" id="{65A3DE81-14B2-4648-C29C-64B2B88AC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9" y="4104396"/>
            <a:ext cx="155746" cy="15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BA2381D5-38F7-3E10-7CC2-A22E3DC90EDE}"/>
              </a:ext>
            </a:extLst>
          </p:cNvPr>
          <p:cNvCxnSpPr>
            <a:cxnSpLocks/>
            <a:stCxn id="11" idx="2"/>
            <a:endCxn id="7169" idx="0"/>
          </p:cNvCxnSpPr>
          <p:nvPr/>
        </p:nvCxnSpPr>
        <p:spPr>
          <a:xfrm rot="16200000" flipH="1">
            <a:off x="482147" y="3295483"/>
            <a:ext cx="3172826" cy="9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F617E29-687C-43D3-B1DE-88F81FF2F11D}"/>
              </a:ext>
            </a:extLst>
          </p:cNvPr>
          <p:cNvSpPr txBox="1"/>
          <p:nvPr/>
        </p:nvSpPr>
        <p:spPr>
          <a:xfrm>
            <a:off x="3300259" y="3112618"/>
            <a:ext cx="1498934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Aplicación de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Pruebas Filtro (Virtual)</a:t>
            </a:r>
          </a:p>
        </p:txBody>
      </p:sp>
      <p:pic>
        <p:nvPicPr>
          <p:cNvPr id="27" name="Picture 4" descr="Account, profile, user, avatar, human, man, person">
            <a:extLst>
              <a:ext uri="{FF2B5EF4-FFF2-40B4-BE49-F238E27FC236}">
                <a16:creationId xmlns:a16="http://schemas.microsoft.com/office/drawing/2014/main" id="{8841AA6B-1C79-C3C5-EE18-859F99AFA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133" y="3135568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Account, profile, user, avatar, human, man, person">
            <a:extLst>
              <a:ext uri="{FF2B5EF4-FFF2-40B4-BE49-F238E27FC236}">
                <a16:creationId xmlns:a16="http://schemas.microsoft.com/office/drawing/2014/main" id="{7F319CF3-1C40-1EF9-B3CE-54CB0D855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602" y="1194837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Conector angular 47">
            <a:extLst>
              <a:ext uri="{FF2B5EF4-FFF2-40B4-BE49-F238E27FC236}">
                <a16:creationId xmlns:a16="http://schemas.microsoft.com/office/drawing/2014/main" id="{062B6B11-46A1-3145-1D68-C1DFE5EF3001}"/>
              </a:ext>
            </a:extLst>
          </p:cNvPr>
          <p:cNvCxnSpPr>
            <a:cxnSpLocks/>
            <a:stCxn id="35" idx="2"/>
            <a:endCxn id="24" idx="0"/>
          </p:cNvCxnSpPr>
          <p:nvPr/>
        </p:nvCxnSpPr>
        <p:spPr>
          <a:xfrm rot="5400000">
            <a:off x="3851558" y="2914448"/>
            <a:ext cx="39633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4" descr="Account, profile, user, avatar, human, man, person">
            <a:extLst>
              <a:ext uri="{FF2B5EF4-FFF2-40B4-BE49-F238E27FC236}">
                <a16:creationId xmlns:a16="http://schemas.microsoft.com/office/drawing/2014/main" id="{488A324D-4DE6-8ED9-3CFA-AFAE56967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545" y="2228034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8" name="Picture 6" descr="Hand, finger, gesture">
            <a:extLst>
              <a:ext uri="{FF2B5EF4-FFF2-40B4-BE49-F238E27FC236}">
                <a16:creationId xmlns:a16="http://schemas.microsoft.com/office/drawing/2014/main" id="{5585E591-769D-6526-3AEC-C0A72F6CD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950868" y="3875188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69" name="CuadroTexto 7168">
            <a:extLst>
              <a:ext uri="{FF2B5EF4-FFF2-40B4-BE49-F238E27FC236}">
                <a16:creationId xmlns:a16="http://schemas.microsoft.com/office/drawing/2014/main" id="{3F162FF8-F608-8FF3-A623-A61B8DA0BCA5}"/>
              </a:ext>
            </a:extLst>
          </p:cNvPr>
          <p:cNvSpPr txBox="1"/>
          <p:nvPr/>
        </p:nvSpPr>
        <p:spPr>
          <a:xfrm>
            <a:off x="1349450" y="488238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Automatización de Autorización de Requerimiento</a:t>
            </a:r>
          </a:p>
        </p:txBody>
      </p:sp>
      <p:cxnSp>
        <p:nvCxnSpPr>
          <p:cNvPr id="7172" name="Conector angular 7171">
            <a:extLst>
              <a:ext uri="{FF2B5EF4-FFF2-40B4-BE49-F238E27FC236}">
                <a16:creationId xmlns:a16="http://schemas.microsoft.com/office/drawing/2014/main" id="{535F12E6-81CA-0276-D9B0-D0CD5DC8A628}"/>
              </a:ext>
            </a:extLst>
          </p:cNvPr>
          <p:cNvCxnSpPr>
            <a:cxnSpLocks/>
            <a:stCxn id="7169" idx="2"/>
            <a:endCxn id="7173" idx="2"/>
          </p:cNvCxnSpPr>
          <p:nvPr/>
        </p:nvCxnSpPr>
        <p:spPr>
          <a:xfrm rot="16200000" flipH="1">
            <a:off x="2213287" y="5222880"/>
            <a:ext cx="209322" cy="497809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73" name="Cilindro 7172">
            <a:extLst>
              <a:ext uri="{FF2B5EF4-FFF2-40B4-BE49-F238E27FC236}">
                <a16:creationId xmlns:a16="http://schemas.microsoft.com/office/drawing/2014/main" id="{574633D8-ABD6-233E-50E7-2FB636236EE1}"/>
              </a:ext>
            </a:extLst>
          </p:cNvPr>
          <p:cNvSpPr/>
          <p:nvPr/>
        </p:nvSpPr>
        <p:spPr>
          <a:xfrm>
            <a:off x="2566853" y="5401517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BPM</a:t>
            </a:r>
          </a:p>
        </p:txBody>
      </p:sp>
      <p:pic>
        <p:nvPicPr>
          <p:cNvPr id="7174" name="Picture 2" descr="Table, list">
            <a:extLst>
              <a:ext uri="{FF2B5EF4-FFF2-40B4-BE49-F238E27FC236}">
                <a16:creationId xmlns:a16="http://schemas.microsoft.com/office/drawing/2014/main" id="{05A9C6B9-46AC-4FB9-7793-3A93BD8A4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870" y="4908330"/>
            <a:ext cx="155746" cy="15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80" name="Conector angular 7179">
            <a:extLst>
              <a:ext uri="{FF2B5EF4-FFF2-40B4-BE49-F238E27FC236}">
                <a16:creationId xmlns:a16="http://schemas.microsoft.com/office/drawing/2014/main" id="{D5A1F93D-5DC5-491E-3522-58F51C29DD35}"/>
              </a:ext>
            </a:extLst>
          </p:cNvPr>
          <p:cNvCxnSpPr>
            <a:cxnSpLocks/>
            <a:stCxn id="7169" idx="3"/>
            <a:endCxn id="25" idx="2"/>
          </p:cNvCxnSpPr>
          <p:nvPr/>
        </p:nvCxnSpPr>
        <p:spPr>
          <a:xfrm flipV="1">
            <a:off x="2788637" y="4572106"/>
            <a:ext cx="217165" cy="5526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0" name="Conector angular 7199">
            <a:extLst>
              <a:ext uri="{FF2B5EF4-FFF2-40B4-BE49-F238E27FC236}">
                <a16:creationId xmlns:a16="http://schemas.microsoft.com/office/drawing/2014/main" id="{C8506CB9-B52D-3C8E-DE6F-C3FE0417B0A6}"/>
              </a:ext>
            </a:extLst>
          </p:cNvPr>
          <p:cNvCxnSpPr>
            <a:cxnSpLocks/>
            <a:stCxn id="25" idx="0"/>
            <a:endCxn id="35" idx="1"/>
          </p:cNvCxnSpPr>
          <p:nvPr/>
        </p:nvCxnSpPr>
        <p:spPr>
          <a:xfrm rot="5400000" flipH="1" flipV="1">
            <a:off x="2362967" y="3113287"/>
            <a:ext cx="1610000" cy="3243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05" name="Picture 6" descr="Hand, finger, gesture">
            <a:extLst>
              <a:ext uri="{FF2B5EF4-FFF2-40B4-BE49-F238E27FC236}">
                <a16:creationId xmlns:a16="http://schemas.microsoft.com/office/drawing/2014/main" id="{D5CC195B-743E-B53F-9FBB-D05864659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974934" y="1146671"/>
            <a:ext cx="155962" cy="1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206" name="Conector angular 7205">
            <a:extLst>
              <a:ext uri="{FF2B5EF4-FFF2-40B4-BE49-F238E27FC236}">
                <a16:creationId xmlns:a16="http://schemas.microsoft.com/office/drawing/2014/main" id="{E05FB19E-3694-BD4C-BB2B-F3DC9C8FD59A}"/>
              </a:ext>
            </a:extLst>
          </p:cNvPr>
          <p:cNvCxnSpPr>
            <a:cxnSpLocks/>
            <a:stCxn id="24" idx="2"/>
            <a:endCxn id="7199" idx="1"/>
          </p:cNvCxnSpPr>
          <p:nvPr/>
        </p:nvCxnSpPr>
        <p:spPr>
          <a:xfrm rot="16200000" flipH="1">
            <a:off x="3900021" y="3747067"/>
            <a:ext cx="483090" cy="1836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9" name="Conector recto de flecha 7218">
            <a:extLst>
              <a:ext uri="{FF2B5EF4-FFF2-40B4-BE49-F238E27FC236}">
                <a16:creationId xmlns:a16="http://schemas.microsoft.com/office/drawing/2014/main" id="{04730BEF-96A3-203A-B919-DB5113C62040}"/>
              </a:ext>
            </a:extLst>
          </p:cNvPr>
          <p:cNvCxnSpPr>
            <a:cxnSpLocks/>
            <a:stCxn id="7199" idx="3"/>
          </p:cNvCxnSpPr>
          <p:nvPr/>
        </p:nvCxnSpPr>
        <p:spPr>
          <a:xfrm>
            <a:off x="5672593" y="4080452"/>
            <a:ext cx="2077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0" name="Conector angular 7229">
            <a:extLst>
              <a:ext uri="{FF2B5EF4-FFF2-40B4-BE49-F238E27FC236}">
                <a16:creationId xmlns:a16="http://schemas.microsoft.com/office/drawing/2014/main" id="{BDDB9A31-793F-0367-B2F0-CEFE830FC5C1}"/>
              </a:ext>
            </a:extLst>
          </p:cNvPr>
          <p:cNvCxnSpPr>
            <a:cxnSpLocks/>
          </p:cNvCxnSpPr>
          <p:nvPr/>
        </p:nvCxnSpPr>
        <p:spPr>
          <a:xfrm>
            <a:off x="4767106" y="2632504"/>
            <a:ext cx="311769" cy="134448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31" name="Picture 4" descr="Account, profile, user, avatar, human, man, person">
            <a:extLst>
              <a:ext uri="{FF2B5EF4-FFF2-40B4-BE49-F238E27FC236}">
                <a16:creationId xmlns:a16="http://schemas.microsoft.com/office/drawing/2014/main" id="{C39F99F7-D0B5-75AF-A271-EE93EF934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471" y="3936923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239" name="Conector recto de flecha 7238">
            <a:extLst>
              <a:ext uri="{FF2B5EF4-FFF2-40B4-BE49-F238E27FC236}">
                <a16:creationId xmlns:a16="http://schemas.microsoft.com/office/drawing/2014/main" id="{87C0DEE9-E6CA-0969-D1CB-B9AB12129960}"/>
              </a:ext>
            </a:extLst>
          </p:cNvPr>
          <p:cNvCxnSpPr>
            <a:cxnSpLocks/>
            <a:stCxn id="40" idx="0"/>
            <a:endCxn id="44" idx="2"/>
          </p:cNvCxnSpPr>
          <p:nvPr/>
        </p:nvCxnSpPr>
        <p:spPr>
          <a:xfrm flipH="1" flipV="1">
            <a:off x="6650808" y="3496028"/>
            <a:ext cx="4677" cy="338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6" name="Rombo 7245">
            <a:extLst>
              <a:ext uri="{FF2B5EF4-FFF2-40B4-BE49-F238E27FC236}">
                <a16:creationId xmlns:a16="http://schemas.microsoft.com/office/drawing/2014/main" id="{DFEB7F16-9D51-7131-9C21-5E45689DD473}"/>
              </a:ext>
            </a:extLst>
          </p:cNvPr>
          <p:cNvSpPr/>
          <p:nvPr/>
        </p:nvSpPr>
        <p:spPr>
          <a:xfrm>
            <a:off x="6295469" y="2222075"/>
            <a:ext cx="704085" cy="464969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7247" name="Conector recto de flecha 7246">
            <a:extLst>
              <a:ext uri="{FF2B5EF4-FFF2-40B4-BE49-F238E27FC236}">
                <a16:creationId xmlns:a16="http://schemas.microsoft.com/office/drawing/2014/main" id="{4C81B354-4D8F-B4D6-ECCD-BE1575D9AC62}"/>
              </a:ext>
            </a:extLst>
          </p:cNvPr>
          <p:cNvCxnSpPr>
            <a:cxnSpLocks/>
            <a:stCxn id="44" idx="0"/>
            <a:endCxn id="7246" idx="2"/>
          </p:cNvCxnSpPr>
          <p:nvPr/>
        </p:nvCxnSpPr>
        <p:spPr>
          <a:xfrm flipH="1" flipV="1">
            <a:off x="6647512" y="2687044"/>
            <a:ext cx="3296" cy="324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8" name="Conector recto de flecha 7247">
            <a:extLst>
              <a:ext uri="{FF2B5EF4-FFF2-40B4-BE49-F238E27FC236}">
                <a16:creationId xmlns:a16="http://schemas.microsoft.com/office/drawing/2014/main" id="{70B1F91C-F7DD-C862-687D-450C7AD5E7FD}"/>
              </a:ext>
            </a:extLst>
          </p:cNvPr>
          <p:cNvCxnSpPr>
            <a:cxnSpLocks/>
            <a:stCxn id="7246" idx="1"/>
            <a:endCxn id="35" idx="3"/>
          </p:cNvCxnSpPr>
          <p:nvPr/>
        </p:nvCxnSpPr>
        <p:spPr>
          <a:xfrm flipH="1">
            <a:off x="4769320" y="2454560"/>
            <a:ext cx="1526149" cy="15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9" name="Conector recto de flecha 7248">
            <a:extLst>
              <a:ext uri="{FF2B5EF4-FFF2-40B4-BE49-F238E27FC236}">
                <a16:creationId xmlns:a16="http://schemas.microsoft.com/office/drawing/2014/main" id="{5E7AD2A0-A21C-E6DC-8651-46C891E2CF76}"/>
              </a:ext>
            </a:extLst>
          </p:cNvPr>
          <p:cNvCxnSpPr>
            <a:cxnSpLocks/>
            <a:stCxn id="7246" idx="0"/>
            <a:endCxn id="7194" idx="2"/>
          </p:cNvCxnSpPr>
          <p:nvPr/>
        </p:nvCxnSpPr>
        <p:spPr>
          <a:xfrm flipH="1" flipV="1">
            <a:off x="6645071" y="1608122"/>
            <a:ext cx="2441" cy="613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0" name="CuadroTexto 7249">
            <a:extLst>
              <a:ext uri="{FF2B5EF4-FFF2-40B4-BE49-F238E27FC236}">
                <a16:creationId xmlns:a16="http://schemas.microsoft.com/office/drawing/2014/main" id="{9BEFF098-D761-61E5-7FAB-521C554027FA}"/>
              </a:ext>
            </a:extLst>
          </p:cNvPr>
          <p:cNvSpPr txBox="1"/>
          <p:nvPr/>
        </p:nvSpPr>
        <p:spPr>
          <a:xfrm>
            <a:off x="5406878" y="2230497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NO</a:t>
            </a:r>
          </a:p>
        </p:txBody>
      </p:sp>
      <p:sp>
        <p:nvSpPr>
          <p:cNvPr id="7251" name="CuadroTexto 7250">
            <a:extLst>
              <a:ext uri="{FF2B5EF4-FFF2-40B4-BE49-F238E27FC236}">
                <a16:creationId xmlns:a16="http://schemas.microsoft.com/office/drawing/2014/main" id="{28111384-C561-21B0-6B9B-3D2B3C0E728B}"/>
              </a:ext>
            </a:extLst>
          </p:cNvPr>
          <p:cNvSpPr txBox="1"/>
          <p:nvPr/>
        </p:nvSpPr>
        <p:spPr>
          <a:xfrm>
            <a:off x="6655024" y="1797121"/>
            <a:ext cx="300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b="1" dirty="0">
                <a:solidFill>
                  <a:srgbClr val="0070C0"/>
                </a:solidFill>
              </a:rPr>
              <a:t>SI</a:t>
            </a:r>
          </a:p>
        </p:txBody>
      </p:sp>
      <p:sp>
        <p:nvSpPr>
          <p:cNvPr id="7259" name="CuadroTexto 7258">
            <a:extLst>
              <a:ext uri="{FF2B5EF4-FFF2-40B4-BE49-F238E27FC236}">
                <a16:creationId xmlns:a16="http://schemas.microsoft.com/office/drawing/2014/main" id="{C770E134-123E-0BF8-2F31-E80B4F2FC2D3}"/>
              </a:ext>
            </a:extLst>
          </p:cNvPr>
          <p:cNvSpPr txBox="1"/>
          <p:nvPr/>
        </p:nvSpPr>
        <p:spPr>
          <a:xfrm>
            <a:off x="3948968" y="4882380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Firmar </a:t>
            </a:r>
          </a:p>
          <a:p>
            <a:r>
              <a:rPr lang="es-ES_tradnl" sz="1000" b="0" dirty="0">
                <a:solidFill>
                  <a:schemeClr val="tx1"/>
                </a:solidFill>
              </a:rPr>
              <a:t>Digitalmente el Contrato</a:t>
            </a:r>
          </a:p>
        </p:txBody>
      </p:sp>
      <p:cxnSp>
        <p:nvCxnSpPr>
          <p:cNvPr id="7260" name="Conector angular 7259">
            <a:extLst>
              <a:ext uri="{FF2B5EF4-FFF2-40B4-BE49-F238E27FC236}">
                <a16:creationId xmlns:a16="http://schemas.microsoft.com/office/drawing/2014/main" id="{92D2A244-70A5-DB98-F912-6154812B3125}"/>
              </a:ext>
            </a:extLst>
          </p:cNvPr>
          <p:cNvCxnSpPr>
            <a:cxnSpLocks/>
            <a:stCxn id="7259" idx="2"/>
            <a:endCxn id="7261" idx="2"/>
          </p:cNvCxnSpPr>
          <p:nvPr/>
        </p:nvCxnSpPr>
        <p:spPr>
          <a:xfrm rot="16200000" flipH="1">
            <a:off x="4807367" y="5228318"/>
            <a:ext cx="220198" cy="497809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61" name="Cilindro 7260">
            <a:extLst>
              <a:ext uri="{FF2B5EF4-FFF2-40B4-BE49-F238E27FC236}">
                <a16:creationId xmlns:a16="http://schemas.microsoft.com/office/drawing/2014/main" id="{DC54ED9E-89E6-241B-00A1-4F54D414A62B}"/>
              </a:ext>
            </a:extLst>
          </p:cNvPr>
          <p:cNvSpPr/>
          <p:nvPr/>
        </p:nvSpPr>
        <p:spPr>
          <a:xfrm>
            <a:off x="5166371" y="5412393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BPM</a:t>
            </a:r>
          </a:p>
        </p:txBody>
      </p:sp>
      <p:cxnSp>
        <p:nvCxnSpPr>
          <p:cNvPr id="7262" name="Conector angular 7261">
            <a:extLst>
              <a:ext uri="{FF2B5EF4-FFF2-40B4-BE49-F238E27FC236}">
                <a16:creationId xmlns:a16="http://schemas.microsoft.com/office/drawing/2014/main" id="{FE12B309-ABFB-EBBD-EB63-D57B60623D64}"/>
              </a:ext>
            </a:extLst>
          </p:cNvPr>
          <p:cNvCxnSpPr>
            <a:cxnSpLocks/>
            <a:stCxn id="7201" idx="2"/>
            <a:endCxn id="7259" idx="0"/>
          </p:cNvCxnSpPr>
          <p:nvPr/>
        </p:nvCxnSpPr>
        <p:spPr>
          <a:xfrm rot="5400000">
            <a:off x="5198125" y="1047648"/>
            <a:ext cx="3305170" cy="4364295"/>
          </a:xfrm>
          <a:prstGeom prst="bentConnector3">
            <a:avLst>
              <a:gd name="adj1" fmla="val 895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69" name="CuadroTexto 7268">
            <a:extLst>
              <a:ext uri="{FF2B5EF4-FFF2-40B4-BE49-F238E27FC236}">
                <a16:creationId xmlns:a16="http://schemas.microsoft.com/office/drawing/2014/main" id="{BDB789A3-DB32-C856-658C-688DF2C939AE}"/>
              </a:ext>
            </a:extLst>
          </p:cNvPr>
          <p:cNvSpPr txBox="1"/>
          <p:nvPr/>
        </p:nvSpPr>
        <p:spPr>
          <a:xfrm>
            <a:off x="6143981" y="4876875"/>
            <a:ext cx="1439187" cy="4847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sz="1000" b="0" dirty="0">
                <a:solidFill>
                  <a:schemeClr val="tx1"/>
                </a:solidFill>
              </a:rPr>
              <a:t>Interfaz Datos del Colaborador</a:t>
            </a:r>
          </a:p>
        </p:txBody>
      </p:sp>
      <p:sp>
        <p:nvSpPr>
          <p:cNvPr id="7270" name="Elipse 7269">
            <a:extLst>
              <a:ext uri="{FF2B5EF4-FFF2-40B4-BE49-F238E27FC236}">
                <a16:creationId xmlns:a16="http://schemas.microsoft.com/office/drawing/2014/main" id="{FC460523-4788-4555-A503-CA89262C3EEB}"/>
              </a:ext>
            </a:extLst>
          </p:cNvPr>
          <p:cNvSpPr/>
          <p:nvPr/>
        </p:nvSpPr>
        <p:spPr>
          <a:xfrm>
            <a:off x="8675312" y="4975313"/>
            <a:ext cx="313266" cy="287867"/>
          </a:xfrm>
          <a:prstGeom prst="ellipse">
            <a:avLst/>
          </a:prstGeom>
          <a:solidFill>
            <a:srgbClr val="F7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7274" name="Picture 4" descr="Account, profile, user, avatar, human, man, person">
            <a:extLst>
              <a:ext uri="{FF2B5EF4-FFF2-40B4-BE49-F238E27FC236}">
                <a16:creationId xmlns:a16="http://schemas.microsoft.com/office/drawing/2014/main" id="{C294081E-69D9-3D63-939C-D969AEF60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126" y="4925451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75" name="Cilindro 7274">
            <a:extLst>
              <a:ext uri="{FF2B5EF4-FFF2-40B4-BE49-F238E27FC236}">
                <a16:creationId xmlns:a16="http://schemas.microsoft.com/office/drawing/2014/main" id="{D1529F0A-654D-7CBA-EFB6-67AF580A1838}"/>
              </a:ext>
            </a:extLst>
          </p:cNvPr>
          <p:cNvSpPr/>
          <p:nvPr/>
        </p:nvSpPr>
        <p:spPr>
          <a:xfrm>
            <a:off x="7631282" y="5417613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SAP</a:t>
            </a:r>
          </a:p>
        </p:txBody>
      </p:sp>
      <p:cxnSp>
        <p:nvCxnSpPr>
          <p:cNvPr id="7278" name="Conector angular 7277">
            <a:extLst>
              <a:ext uri="{FF2B5EF4-FFF2-40B4-BE49-F238E27FC236}">
                <a16:creationId xmlns:a16="http://schemas.microsoft.com/office/drawing/2014/main" id="{3CB1DBE9-CF00-7BF3-A324-5DCD67F5D19A}"/>
              </a:ext>
            </a:extLst>
          </p:cNvPr>
          <p:cNvCxnSpPr>
            <a:cxnSpLocks/>
            <a:endCxn id="7275" idx="1"/>
          </p:cNvCxnSpPr>
          <p:nvPr/>
        </p:nvCxnSpPr>
        <p:spPr>
          <a:xfrm>
            <a:off x="7583168" y="5288397"/>
            <a:ext cx="253789" cy="129216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4" name="Cilindro 7283">
            <a:extLst>
              <a:ext uri="{FF2B5EF4-FFF2-40B4-BE49-F238E27FC236}">
                <a16:creationId xmlns:a16="http://schemas.microsoft.com/office/drawing/2014/main" id="{44281997-246F-7CDF-0805-9CA13A1BE8CB}"/>
              </a:ext>
            </a:extLst>
          </p:cNvPr>
          <p:cNvSpPr/>
          <p:nvPr/>
        </p:nvSpPr>
        <p:spPr>
          <a:xfrm>
            <a:off x="5747111" y="5410195"/>
            <a:ext cx="411349" cy="3498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dirty="0"/>
              <a:t>BPM</a:t>
            </a:r>
          </a:p>
        </p:txBody>
      </p:sp>
      <p:cxnSp>
        <p:nvCxnSpPr>
          <p:cNvPr id="7285" name="Conector angular 7284">
            <a:extLst>
              <a:ext uri="{FF2B5EF4-FFF2-40B4-BE49-F238E27FC236}">
                <a16:creationId xmlns:a16="http://schemas.microsoft.com/office/drawing/2014/main" id="{EEEA8ABD-97F1-6F3E-0AE0-AF63B2739312}"/>
              </a:ext>
            </a:extLst>
          </p:cNvPr>
          <p:cNvCxnSpPr>
            <a:cxnSpLocks/>
            <a:stCxn id="7284" idx="1"/>
          </p:cNvCxnSpPr>
          <p:nvPr/>
        </p:nvCxnSpPr>
        <p:spPr>
          <a:xfrm rot="5400000" flipH="1" flipV="1">
            <a:off x="5987485" y="5253698"/>
            <a:ext cx="121799" cy="191197"/>
          </a:xfrm>
          <a:prstGeom prst="bentConnector2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2" name="Conector recto de flecha 7291">
            <a:extLst>
              <a:ext uri="{FF2B5EF4-FFF2-40B4-BE49-F238E27FC236}">
                <a16:creationId xmlns:a16="http://schemas.microsoft.com/office/drawing/2014/main" id="{4BB48640-BA18-0708-B547-5D868DEAEF58}"/>
              </a:ext>
            </a:extLst>
          </p:cNvPr>
          <p:cNvCxnSpPr>
            <a:cxnSpLocks/>
            <a:stCxn id="7259" idx="3"/>
            <a:endCxn id="7269" idx="1"/>
          </p:cNvCxnSpPr>
          <p:nvPr/>
        </p:nvCxnSpPr>
        <p:spPr>
          <a:xfrm flipV="1">
            <a:off x="5388155" y="5119247"/>
            <a:ext cx="755826" cy="5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35" name="Conector recto de flecha 18434">
            <a:extLst>
              <a:ext uri="{FF2B5EF4-FFF2-40B4-BE49-F238E27FC236}">
                <a16:creationId xmlns:a16="http://schemas.microsoft.com/office/drawing/2014/main" id="{7378880B-EE05-A1F0-573B-DE0F6FFD9F63}"/>
              </a:ext>
            </a:extLst>
          </p:cNvPr>
          <p:cNvCxnSpPr>
            <a:cxnSpLocks/>
            <a:stCxn id="7269" idx="3"/>
          </p:cNvCxnSpPr>
          <p:nvPr/>
        </p:nvCxnSpPr>
        <p:spPr>
          <a:xfrm>
            <a:off x="7583168" y="5119247"/>
            <a:ext cx="10976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450" name="Picture 4" descr="Account, profile, user, avatar, human, man, person">
            <a:extLst>
              <a:ext uri="{FF2B5EF4-FFF2-40B4-BE49-F238E27FC236}">
                <a16:creationId xmlns:a16="http://schemas.microsoft.com/office/drawing/2014/main" id="{251C4CC3-EC1B-A55D-FCD3-9A537D076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315" y="4919256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54" name="Picture 4" descr="Account, profile, user, avatar, human, man, person">
            <a:extLst>
              <a:ext uri="{FF2B5EF4-FFF2-40B4-BE49-F238E27FC236}">
                <a16:creationId xmlns:a16="http://schemas.microsoft.com/office/drawing/2014/main" id="{97105CCD-D07C-E252-F67F-47A1D3066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933" y="3018391"/>
            <a:ext cx="188454" cy="1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55" name="Rectángulo 18454">
            <a:extLst>
              <a:ext uri="{FF2B5EF4-FFF2-40B4-BE49-F238E27FC236}">
                <a16:creationId xmlns:a16="http://schemas.microsoft.com/office/drawing/2014/main" id="{A165F267-CDF0-2768-6D43-C2375051B887}"/>
              </a:ext>
            </a:extLst>
          </p:cNvPr>
          <p:cNvSpPr/>
          <p:nvPr/>
        </p:nvSpPr>
        <p:spPr>
          <a:xfrm>
            <a:off x="2226025" y="4040226"/>
            <a:ext cx="1535815" cy="57210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456" name="Rectángulo 18455">
            <a:extLst>
              <a:ext uri="{FF2B5EF4-FFF2-40B4-BE49-F238E27FC236}">
                <a16:creationId xmlns:a16="http://schemas.microsoft.com/office/drawing/2014/main" id="{BD7A0E82-405C-85E1-B49C-CAEE513967A9}"/>
              </a:ext>
            </a:extLst>
          </p:cNvPr>
          <p:cNvSpPr/>
          <p:nvPr/>
        </p:nvSpPr>
        <p:spPr>
          <a:xfrm>
            <a:off x="3280291" y="3069665"/>
            <a:ext cx="1535815" cy="57210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457" name="Rectángulo 18456">
            <a:extLst>
              <a:ext uri="{FF2B5EF4-FFF2-40B4-BE49-F238E27FC236}">
                <a16:creationId xmlns:a16="http://schemas.microsoft.com/office/drawing/2014/main" id="{C87A740F-24C8-9AFF-C2F2-43A00F8C7B40}"/>
              </a:ext>
            </a:extLst>
          </p:cNvPr>
          <p:cNvSpPr/>
          <p:nvPr/>
        </p:nvSpPr>
        <p:spPr>
          <a:xfrm>
            <a:off x="2832757" y="1431344"/>
            <a:ext cx="726575" cy="57210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458" name="Rectángulo 18457">
            <a:extLst>
              <a:ext uri="{FF2B5EF4-FFF2-40B4-BE49-F238E27FC236}">
                <a16:creationId xmlns:a16="http://schemas.microsoft.com/office/drawing/2014/main" id="{B1DE51E5-8468-F28A-F339-A98ED4937ED5}"/>
              </a:ext>
            </a:extLst>
          </p:cNvPr>
          <p:cNvSpPr/>
          <p:nvPr/>
        </p:nvSpPr>
        <p:spPr>
          <a:xfrm>
            <a:off x="6087766" y="4831334"/>
            <a:ext cx="1543516" cy="57210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459" name="Rectángulo 18458">
            <a:extLst>
              <a:ext uri="{FF2B5EF4-FFF2-40B4-BE49-F238E27FC236}">
                <a16:creationId xmlns:a16="http://schemas.microsoft.com/office/drawing/2014/main" id="{0E25F424-D228-51C9-A1B4-870CF7E9DFD9}"/>
              </a:ext>
            </a:extLst>
          </p:cNvPr>
          <p:cNvSpPr/>
          <p:nvPr/>
        </p:nvSpPr>
        <p:spPr>
          <a:xfrm>
            <a:off x="3906017" y="4835101"/>
            <a:ext cx="1543516" cy="57210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460" name="Rectángulo 18459">
            <a:extLst>
              <a:ext uri="{FF2B5EF4-FFF2-40B4-BE49-F238E27FC236}">
                <a16:creationId xmlns:a16="http://schemas.microsoft.com/office/drawing/2014/main" id="{7F599F1F-095D-5EE4-EEEA-958FE0261C32}"/>
              </a:ext>
            </a:extLst>
          </p:cNvPr>
          <p:cNvSpPr/>
          <p:nvPr/>
        </p:nvSpPr>
        <p:spPr>
          <a:xfrm>
            <a:off x="1315815" y="4845507"/>
            <a:ext cx="1543516" cy="57210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461" name="Rectángulo 18460">
            <a:extLst>
              <a:ext uri="{FF2B5EF4-FFF2-40B4-BE49-F238E27FC236}">
                <a16:creationId xmlns:a16="http://schemas.microsoft.com/office/drawing/2014/main" id="{373873ED-CB18-05CC-197A-7093B58CB3AC}"/>
              </a:ext>
            </a:extLst>
          </p:cNvPr>
          <p:cNvSpPr/>
          <p:nvPr/>
        </p:nvSpPr>
        <p:spPr>
          <a:xfrm>
            <a:off x="3284260" y="2173768"/>
            <a:ext cx="1535815" cy="57210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448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5" grpId="0" animBg="1"/>
      <p:bldP spid="18456" grpId="0" animBg="1"/>
      <p:bldP spid="18457" grpId="0" animBg="1"/>
      <p:bldP spid="18458" grpId="0" animBg="1"/>
      <p:bldP spid="18459" grpId="0" animBg="1"/>
      <p:bldP spid="18460" grpId="0" animBg="1"/>
      <p:bldP spid="184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741A713A-46CB-350A-E02C-EEBB317483C1}"/>
              </a:ext>
            </a:extLst>
          </p:cNvPr>
          <p:cNvSpPr txBox="1">
            <a:spLocks/>
          </p:cNvSpPr>
          <p:nvPr/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Reclutamiento y Selección</a:t>
            </a:r>
          </a:p>
          <a:p>
            <a:r>
              <a:rPr lang="es-ES_tradnl" sz="2400" b="1" dirty="0">
                <a:solidFill>
                  <a:schemeClr val="accent1"/>
                </a:solidFill>
              </a:rPr>
              <a:t>Conclusiones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994918DA-FF73-1413-A335-88066C789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31" y="2686864"/>
            <a:ext cx="8733144" cy="314150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A970747-6591-C0A9-9440-A9C6AD3F431D}"/>
              </a:ext>
            </a:extLst>
          </p:cNvPr>
          <p:cNvSpPr txBox="1"/>
          <p:nvPr/>
        </p:nvSpPr>
        <p:spPr>
          <a:xfrm>
            <a:off x="645155" y="1562776"/>
            <a:ext cx="8937096" cy="915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Con la Implementación de las Mejoras Operativas (Procesos y Tecnología) se reduciría de </a:t>
            </a:r>
            <a:r>
              <a:rPr lang="es-ES_tradnl" b="1" dirty="0">
                <a:solidFill>
                  <a:srgbClr val="FF0000"/>
                </a:solidFill>
              </a:rPr>
              <a:t>12 a 3 la cantidad de personas requeridas </a:t>
            </a:r>
            <a:r>
              <a:rPr lang="es-ES_tradnl" dirty="0"/>
              <a:t>para esta posición o se podrían atender más procesos en el Mes; se estima una mejora en la calidad de atención.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AE6FDFA-078C-C158-B2B7-95B5F8C62AC2}"/>
              </a:ext>
            </a:extLst>
          </p:cNvPr>
          <p:cNvSpPr/>
          <p:nvPr/>
        </p:nvSpPr>
        <p:spPr>
          <a:xfrm>
            <a:off x="4337331" y="5405480"/>
            <a:ext cx="599485" cy="439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B7B8CFB-611C-C3A7-2610-F87BDF1A5718}"/>
              </a:ext>
            </a:extLst>
          </p:cNvPr>
          <p:cNvSpPr/>
          <p:nvPr/>
        </p:nvSpPr>
        <p:spPr>
          <a:xfrm>
            <a:off x="8880790" y="5405480"/>
            <a:ext cx="599485" cy="43907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07313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741A713A-46CB-350A-E02C-EEBB317483C1}"/>
              </a:ext>
            </a:extLst>
          </p:cNvPr>
          <p:cNvSpPr txBox="1">
            <a:spLocks/>
          </p:cNvSpPr>
          <p:nvPr/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Reclutamiento y Selección</a:t>
            </a:r>
          </a:p>
          <a:p>
            <a:r>
              <a:rPr lang="es-ES_tradnl" sz="2400" b="1" dirty="0">
                <a:solidFill>
                  <a:schemeClr val="accent1"/>
                </a:solidFill>
              </a:rPr>
              <a:t>Próximos pasos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A970747-6591-C0A9-9440-A9C6AD3F431D}"/>
              </a:ext>
            </a:extLst>
          </p:cNvPr>
          <p:cNvSpPr txBox="1"/>
          <p:nvPr/>
        </p:nvSpPr>
        <p:spPr>
          <a:xfrm>
            <a:off x="645155" y="1562776"/>
            <a:ext cx="8937096" cy="915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s-ES_tradnl" dirty="0"/>
              <a:t>Si bien existen Oportunidades de Mejora en Tecnología y Procesos, se recomienda hacer un </a:t>
            </a:r>
            <a:r>
              <a:rPr lang="es-ES_tradnl" b="1" dirty="0">
                <a:solidFill>
                  <a:srgbClr val="FF0000"/>
                </a:solidFill>
              </a:rPr>
              <a:t>proceso de revisión exhaustivo de las Competencias Profesionales </a:t>
            </a:r>
            <a:r>
              <a:rPr lang="es-ES_tradnl" dirty="0"/>
              <a:t>de la Organización. Se aplicó una muestra con los resultados siguientes: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03F780A-06DA-7278-9BBA-2BC21F8F8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51" y="2654113"/>
            <a:ext cx="5615161" cy="345036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9B392B6-66D8-1E5F-60D3-FB5F04BEE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751" y="2955783"/>
            <a:ext cx="3111500" cy="196215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F8FECF01-342C-1791-DEBD-6F4376C2B10E}"/>
              </a:ext>
            </a:extLst>
          </p:cNvPr>
          <p:cNvSpPr/>
          <p:nvPr/>
        </p:nvSpPr>
        <p:spPr>
          <a:xfrm>
            <a:off x="8026501" y="3936858"/>
            <a:ext cx="1555750" cy="981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8EE42C5-A09F-85E3-C024-6D674E7AA7D9}"/>
              </a:ext>
            </a:extLst>
          </p:cNvPr>
          <p:cNvSpPr txBox="1"/>
          <p:nvPr/>
        </p:nvSpPr>
        <p:spPr>
          <a:xfrm>
            <a:off x="7141433" y="5163790"/>
            <a:ext cx="2440818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1100" b="1" dirty="0">
                <a:solidFill>
                  <a:srgbClr val="FF0000"/>
                </a:solidFill>
              </a:rPr>
              <a:t>La correcta implementación de los procesos y de la tecnología tiene como protagonista a las personas.</a:t>
            </a:r>
          </a:p>
        </p:txBody>
      </p:sp>
      <p:pic>
        <p:nvPicPr>
          <p:cNvPr id="27652" name="Picture 4" descr="Bulb, idea, lamp, light, lightbulb">
            <a:extLst>
              <a:ext uri="{FF2B5EF4-FFF2-40B4-BE49-F238E27FC236}">
                <a16:creationId xmlns:a16="http://schemas.microsoft.com/office/drawing/2014/main" id="{0AE5D593-D189-63D8-D461-5099E9639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805" y="5463872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461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FE9B-60FC-B33C-2FCF-E2867A7A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urso Gestión y optimización de procesos">
            <a:extLst>
              <a:ext uri="{FF2B5EF4-FFF2-40B4-BE49-F238E27FC236}">
                <a16:creationId xmlns:a16="http://schemas.microsoft.com/office/drawing/2014/main" id="{0CDC9DCD-9266-CCAB-63C3-99444AA80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57" y="0"/>
            <a:ext cx="61874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DC4626D-536F-F19D-2A84-1DF70CE424CE}"/>
              </a:ext>
            </a:extLst>
          </p:cNvPr>
          <p:cNvSpPr txBox="1"/>
          <p:nvPr/>
        </p:nvSpPr>
        <p:spPr>
          <a:xfrm>
            <a:off x="166977" y="1924216"/>
            <a:ext cx="35862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b="1" dirty="0">
              <a:solidFill>
                <a:schemeClr val="accent1"/>
              </a:solidFill>
            </a:endParaRPr>
          </a:p>
          <a:p>
            <a:r>
              <a:rPr lang="es-ES_tradnl" b="1" dirty="0">
                <a:solidFill>
                  <a:schemeClr val="accent1"/>
                </a:solidFill>
              </a:rPr>
              <a:t>Proyecto de Mejora de Procesos</a:t>
            </a:r>
          </a:p>
          <a:p>
            <a:r>
              <a:rPr lang="es-ES_tradnl" b="1" dirty="0">
                <a:solidFill>
                  <a:schemeClr val="accent1"/>
                </a:solidFill>
              </a:rPr>
              <a:t>en Empresa de Consumo Masivo</a:t>
            </a:r>
          </a:p>
          <a:p>
            <a:r>
              <a:rPr lang="es-ES_tradnl" dirty="0">
                <a:solidFill>
                  <a:schemeClr val="accent1"/>
                </a:solidFill>
              </a:rPr>
              <a:t>Presentación Ejecutiva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808FE3-A9E7-251F-511D-81D422237D55}"/>
              </a:ext>
            </a:extLst>
          </p:cNvPr>
          <p:cNvSpPr txBox="1"/>
          <p:nvPr/>
        </p:nvSpPr>
        <p:spPr>
          <a:xfrm>
            <a:off x="166977" y="4271176"/>
            <a:ext cx="24561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400" dirty="0">
              <a:solidFill>
                <a:schemeClr val="accent1"/>
              </a:solidFill>
            </a:endParaRPr>
          </a:p>
          <a:p>
            <a:r>
              <a:rPr lang="es-ES_tradnl" sz="1400" dirty="0">
                <a:solidFill>
                  <a:schemeClr val="accent1"/>
                </a:solidFill>
              </a:rPr>
              <a:t>Por Mg. Marco Caldas</a:t>
            </a:r>
          </a:p>
          <a:p>
            <a:r>
              <a:rPr lang="es-ES_tradnl" sz="1400" dirty="0">
                <a:solidFill>
                  <a:schemeClr val="accent1"/>
                </a:solidFill>
              </a:rPr>
              <a:t>Martes, 22 de Agosto de 2025</a:t>
            </a:r>
          </a:p>
        </p:txBody>
      </p:sp>
    </p:spTree>
    <p:extLst>
      <p:ext uri="{BB962C8B-B14F-4D97-AF65-F5344CB8AC3E}">
        <p14:creationId xmlns:p14="http://schemas.microsoft.com/office/powerpoint/2010/main" val="2966885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970</TotalTime>
  <Words>2192</Words>
  <Application>Microsoft Macintosh PowerPoint</Application>
  <PresentationFormat>A4 (210 x 297 mm)</PresentationFormat>
  <Paragraphs>514</Paragraphs>
  <Slides>22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22</vt:i4>
      </vt:variant>
    </vt:vector>
  </HeadingPairs>
  <TitlesOfParts>
    <vt:vector size="31" baseType="lpstr">
      <vt:lpstr>Aptos</vt:lpstr>
      <vt:lpstr>Aptos Display</vt:lpstr>
      <vt:lpstr>Arial</vt:lpstr>
      <vt:lpstr>Trebuchet MS</vt:lpstr>
      <vt:lpstr>Tw Cen MT</vt:lpstr>
      <vt:lpstr>Wingdings</vt:lpstr>
      <vt:lpstr>Tema de Office</vt:lpstr>
      <vt:lpstr>Diseño personalizado</vt:lpstr>
      <vt:lpstr>1_Diseño personalizado</vt:lpstr>
      <vt:lpstr>Presentación de PowerPoint</vt:lpstr>
      <vt:lpstr>Agenda</vt:lpstr>
      <vt:lpstr>ANTECEDENTES Objetivo del Estudio</vt:lpstr>
      <vt:lpstr>Enfoque de Solución Tres Líneas de Defensa Operativa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Caldas Cruz</dc:creator>
  <cp:lastModifiedBy>Marco Caldas Cruz</cp:lastModifiedBy>
  <cp:revision>8</cp:revision>
  <dcterms:created xsi:type="dcterms:W3CDTF">2024-07-01T20:50:34Z</dcterms:created>
  <dcterms:modified xsi:type="dcterms:W3CDTF">2025-08-22T04:52:06Z</dcterms:modified>
</cp:coreProperties>
</file>