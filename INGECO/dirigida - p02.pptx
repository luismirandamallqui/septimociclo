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2" r:id="rId4"/>
    <p:sldId id="293" r:id="rId5"/>
    <p:sldId id="271" r:id="rId6"/>
    <p:sldId id="286" r:id="rId7"/>
    <p:sldId id="288" r:id="rId8"/>
    <p:sldId id="297" r:id="rId9"/>
    <p:sldId id="296" r:id="rId10"/>
    <p:sldId id="294" r:id="rId11"/>
    <p:sldId id="298" r:id="rId12"/>
    <p:sldId id="295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397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22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818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154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854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051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652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732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579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481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325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2.png"/>
          <p:cNvPicPr/>
          <p:nvPr userDrawn="1"/>
        </p:nvPicPr>
        <p:blipFill>
          <a:blip r:embed="rId13"/>
          <a:srcRect l="11941" t="27062" r="12335" b="26975"/>
          <a:stretch>
            <a:fillRect/>
          </a:stretch>
        </p:blipFill>
        <p:spPr>
          <a:xfrm>
            <a:off x="10647680" y="56674"/>
            <a:ext cx="1412240" cy="481965"/>
          </a:xfrm>
          <a:prstGeom prst="rect">
            <a:avLst/>
          </a:prstGeom>
          <a:ln/>
        </p:spPr>
      </p:pic>
      <p:pic>
        <p:nvPicPr>
          <p:cNvPr id="8" name="image1.png"/>
          <p:cNvPicPr/>
          <p:nvPr userDrawn="1"/>
        </p:nvPicPr>
        <p:blipFill>
          <a:blip r:embed="rId14"/>
          <a:srcRect/>
          <a:stretch>
            <a:fillRect/>
          </a:stretch>
        </p:blipFill>
        <p:spPr>
          <a:xfrm>
            <a:off x="132080" y="54769"/>
            <a:ext cx="792480" cy="485775"/>
          </a:xfrm>
          <a:prstGeom prst="rect">
            <a:avLst/>
          </a:prstGeom>
          <a:ln/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4E906-AE95-4630-AD2B-31E1081AFA26}" type="datetimeFigureOut">
              <a:rPr lang="es-PE" smtClean="0"/>
              <a:t>5/09/2025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C47E9-B097-4AE0-B17B-A79BF7DEA5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549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bcrp.gob.pe/publicaciones/glosario/c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bcrp.gob.pe/publicaciones/glosario/c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bcrp.gob.pe/publicaciones/glosario/i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Practica Dirigida 2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59523" y="3602038"/>
            <a:ext cx="9208477" cy="1655762"/>
          </a:xfrm>
        </p:spPr>
        <p:txBody>
          <a:bodyPr>
            <a:noAutofit/>
          </a:bodyPr>
          <a:lstStyle/>
          <a:p>
            <a:r>
              <a:rPr lang="es-MX" sz="3200" dirty="0" smtClean="0"/>
              <a:t>2025-2</a:t>
            </a:r>
            <a:endParaRPr lang="es-PE" sz="3200" dirty="0" smtClean="0"/>
          </a:p>
          <a:p>
            <a:r>
              <a:rPr lang="es-MX" sz="3200" dirty="0" smtClean="0"/>
              <a:t>ESCRIBAN SU </a:t>
            </a:r>
            <a:r>
              <a:rPr lang="es-MX" sz="3200" dirty="0" smtClean="0"/>
              <a:t>NOMBRE,</a:t>
            </a:r>
            <a:r>
              <a:rPr lang="es-MX" sz="3200" dirty="0" smtClean="0"/>
              <a:t/>
            </a:r>
            <a:br>
              <a:rPr lang="es-MX" sz="3200" dirty="0" smtClean="0"/>
            </a:br>
            <a:r>
              <a:rPr lang="es-MX" sz="3200" dirty="0" smtClean="0"/>
              <a:t>EMAIL</a:t>
            </a:r>
            <a:br>
              <a:rPr lang="es-MX" sz="3200" dirty="0" smtClean="0"/>
            </a:br>
            <a:r>
              <a:rPr lang="es-MX" sz="3200" dirty="0" smtClean="0"/>
              <a:t>LINKEDIN</a:t>
            </a:r>
            <a:endParaRPr lang="es-PE" sz="3200" dirty="0" smtClean="0"/>
          </a:p>
        </p:txBody>
      </p:sp>
    </p:spTree>
    <p:extLst>
      <p:ext uri="{BB962C8B-B14F-4D97-AF65-F5344CB8AC3E}">
        <p14:creationId xmlns:p14="http://schemas.microsoft.com/office/powerpoint/2010/main" val="144388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5796225" y="255708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 smtClean="0"/>
              <a:t>Tipos de problema</a:t>
            </a:r>
            <a:endParaRPr lang="es-MX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 smtClean="0"/>
              <a:t>Flujo de un crédito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 smtClean="0"/>
              <a:t>Problemas tipo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1621970"/>
            <a:ext cx="5231764" cy="34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0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Problemas de matemática financiera</a:t>
            </a:r>
            <a:endParaRPr lang="es-MX" b="1" dirty="0"/>
          </a:p>
        </p:txBody>
      </p:sp>
      <p:pic>
        <p:nvPicPr>
          <p:cNvPr id="3" name="Imagen 2" descr="Nincs az a kis pénz, ami nem jön jól - B-irodalom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5176"/>
            <a:ext cx="2319411" cy="2145323"/>
          </a:xfrm>
          <a:prstGeom prst="rect">
            <a:avLst/>
          </a:prstGeom>
        </p:spPr>
      </p:pic>
      <p:pic>
        <p:nvPicPr>
          <p:cNvPr id="4" name="Imagen 3" descr="Image vectorielle gratuite: Taux D'Intérêt, Intérêt - Image gratuite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699" y="1865356"/>
            <a:ext cx="2253762" cy="2135143"/>
          </a:xfrm>
          <a:prstGeom prst="rect">
            <a:avLst/>
          </a:prstGeom>
        </p:spPr>
      </p:pic>
      <p:pic>
        <p:nvPicPr>
          <p:cNvPr id="6" name="Imagen 5" descr="GESTIÓN DEL TIEMPO: IMPROVISACIÓN, CREATIVIDAD Y DISCIPLINA | antesalarrhh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285" y="1975337"/>
            <a:ext cx="2286000" cy="190500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574431" y="4508417"/>
            <a:ext cx="32590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Se busca un monto</a:t>
            </a:r>
            <a:endParaRPr lang="es-PE" sz="3200" b="1" dirty="0"/>
          </a:p>
        </p:txBody>
      </p:sp>
      <p:sp>
        <p:nvSpPr>
          <p:cNvPr id="8" name="Rectángulo 7"/>
          <p:cNvSpPr/>
          <p:nvPr/>
        </p:nvSpPr>
        <p:spPr>
          <a:xfrm>
            <a:off x="5175739" y="4508417"/>
            <a:ext cx="32590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Se busca un tiempo</a:t>
            </a:r>
            <a:endParaRPr lang="es-PE" sz="3200" b="1" dirty="0"/>
          </a:p>
        </p:txBody>
      </p:sp>
      <p:sp>
        <p:nvSpPr>
          <p:cNvPr id="9" name="Rectángulo 8"/>
          <p:cNvSpPr/>
          <p:nvPr/>
        </p:nvSpPr>
        <p:spPr>
          <a:xfrm>
            <a:off x="8932985" y="4508417"/>
            <a:ext cx="29981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Se busca una tasa de </a:t>
            </a:r>
            <a:r>
              <a:rPr lang="es-MX" sz="3200" b="1" dirty="0" smtClean="0"/>
              <a:t>interés</a:t>
            </a:r>
            <a:endParaRPr lang="es-PE" sz="3200" b="1" dirty="0"/>
          </a:p>
        </p:txBody>
      </p:sp>
    </p:spTree>
    <p:extLst>
      <p:ext uri="{BB962C8B-B14F-4D97-AF65-F5344CB8AC3E}">
        <p14:creationId xmlns:p14="http://schemas.microsoft.com/office/powerpoint/2010/main" val="129128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Problemas de matemática financiera</a:t>
            </a:r>
            <a:endParaRPr lang="es-MX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b="31771"/>
          <a:stretch/>
        </p:blipFill>
        <p:spPr>
          <a:xfrm>
            <a:off x="618476" y="1831364"/>
            <a:ext cx="10735324" cy="2424113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1321777" y="5308517"/>
            <a:ext cx="32590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Monto, cantidad monetaria</a:t>
            </a:r>
            <a:endParaRPr lang="es-PE" sz="3200" b="1" dirty="0"/>
          </a:p>
        </p:txBody>
      </p:sp>
      <p:cxnSp>
        <p:nvCxnSpPr>
          <p:cNvPr id="9" name="Conector recto de flecha 8"/>
          <p:cNvCxnSpPr>
            <a:stCxn id="7" idx="0"/>
          </p:cNvCxnSpPr>
          <p:nvPr/>
        </p:nvCxnSpPr>
        <p:spPr>
          <a:xfrm flipH="1" flipV="1">
            <a:off x="2435469" y="3402623"/>
            <a:ext cx="515816" cy="1905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>
            <a:stCxn id="7" idx="0"/>
          </p:cNvCxnSpPr>
          <p:nvPr/>
        </p:nvCxnSpPr>
        <p:spPr>
          <a:xfrm flipV="1">
            <a:off x="2951285" y="2325405"/>
            <a:ext cx="3625361" cy="29831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/>
          <p:cNvSpPr/>
          <p:nvPr/>
        </p:nvSpPr>
        <p:spPr>
          <a:xfrm>
            <a:off x="5905500" y="5263949"/>
            <a:ext cx="32590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Tiempo, periodos, años, meses, etc.</a:t>
            </a:r>
            <a:endParaRPr lang="es-PE" sz="3200" b="1" dirty="0"/>
          </a:p>
        </p:txBody>
      </p:sp>
      <p:cxnSp>
        <p:nvCxnSpPr>
          <p:cNvPr id="14" name="Conector recto de flecha 13"/>
          <p:cNvCxnSpPr>
            <a:stCxn id="13" idx="0"/>
          </p:cNvCxnSpPr>
          <p:nvPr/>
        </p:nvCxnSpPr>
        <p:spPr>
          <a:xfrm flipH="1" flipV="1">
            <a:off x="4275993" y="4062046"/>
            <a:ext cx="3259015" cy="1201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13" idx="0"/>
          </p:cNvCxnSpPr>
          <p:nvPr/>
        </p:nvCxnSpPr>
        <p:spPr>
          <a:xfrm flipV="1">
            <a:off x="7535008" y="2584938"/>
            <a:ext cx="2329961" cy="26790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/>
          <p:cNvSpPr/>
          <p:nvPr/>
        </p:nvSpPr>
        <p:spPr>
          <a:xfrm>
            <a:off x="7930662" y="1248187"/>
            <a:ext cx="32590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200" b="1" dirty="0" smtClean="0"/>
              <a:t>Tasa de interés, costo, ganancia</a:t>
            </a:r>
            <a:endParaRPr lang="es-PE" sz="3200" b="1" dirty="0"/>
          </a:p>
        </p:txBody>
      </p:sp>
      <p:cxnSp>
        <p:nvCxnSpPr>
          <p:cNvPr id="22" name="Conector recto de flecha 21"/>
          <p:cNvCxnSpPr>
            <a:stCxn id="21" idx="2"/>
          </p:cNvCxnSpPr>
          <p:nvPr/>
        </p:nvCxnSpPr>
        <p:spPr>
          <a:xfrm>
            <a:off x="9560170" y="2325405"/>
            <a:ext cx="304799" cy="11563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79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Definición de crédito</a:t>
            </a:r>
            <a:endParaRPr lang="es-MX" b="1" dirty="0"/>
          </a:p>
        </p:txBody>
      </p:sp>
      <p:sp>
        <p:nvSpPr>
          <p:cNvPr id="6" name="Rectángulo 5"/>
          <p:cNvSpPr/>
          <p:nvPr/>
        </p:nvSpPr>
        <p:spPr>
          <a:xfrm>
            <a:off x="250371" y="6598702"/>
            <a:ext cx="1169125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100" dirty="0" smtClean="0"/>
              <a:t>Tomado de BCRP</a:t>
            </a:r>
            <a:r>
              <a:rPr lang="es-PE" sz="1100" dirty="0"/>
              <a:t>: </a:t>
            </a:r>
            <a:r>
              <a:rPr lang="es-PE" sz="1100" dirty="0">
                <a:hlinkClick r:id="rId2"/>
              </a:rPr>
              <a:t>https://</a:t>
            </a:r>
            <a:r>
              <a:rPr lang="es-PE" sz="1100" dirty="0" smtClean="0">
                <a:hlinkClick r:id="rId2"/>
              </a:rPr>
              <a:t>www.bcrp.gob.pe/publicaciones/glosario/c.html</a:t>
            </a:r>
            <a:r>
              <a:rPr lang="es-PE" sz="1100" dirty="0" smtClean="0"/>
              <a:t>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92240" y="1817309"/>
            <a:ext cx="568653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800" dirty="0" smtClean="0"/>
              <a:t>Operación </a:t>
            </a:r>
            <a:r>
              <a:rPr lang="es-PE" sz="2800" dirty="0"/>
              <a:t>económica en la que existe una promesa de pago con algún bien, servicio o dinero en el futuro. La creación de crédito entraña la entrega de recursos de una unidad institucional (el acreedor o prestamista) a otra unidad (el deudor o prestatario). La unidad acreedora adquiere un derecho financiero y la unidad deudora incurre en la obligación de devolver los recursos</a:t>
            </a:r>
            <a:r>
              <a:rPr lang="es-PE" sz="2800" dirty="0" smtClean="0"/>
              <a:t>.</a:t>
            </a:r>
            <a:endParaRPr lang="es-PE" sz="2800" dirty="0"/>
          </a:p>
        </p:txBody>
      </p:sp>
      <p:grpSp>
        <p:nvGrpSpPr>
          <p:cNvPr id="7" name="Grupo 6"/>
          <p:cNvGrpSpPr/>
          <p:nvPr/>
        </p:nvGrpSpPr>
        <p:grpSpPr>
          <a:xfrm>
            <a:off x="6698418" y="1817309"/>
            <a:ext cx="2016076" cy="4412582"/>
            <a:chOff x="6698418" y="1817309"/>
            <a:chExt cx="2016076" cy="4412582"/>
          </a:xfrm>
        </p:grpSpPr>
        <p:pic>
          <p:nvPicPr>
            <p:cNvPr id="1026" name="Picture 2" descr="Bank Loan Vectors &amp; Illustrations for Free Download | Freepi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49" r="10596"/>
            <a:stretch/>
          </p:blipFill>
          <p:spPr bwMode="auto">
            <a:xfrm>
              <a:off x="6698418" y="1817309"/>
              <a:ext cx="2016076" cy="1749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4154" y="4881669"/>
              <a:ext cx="1684605" cy="1348222"/>
            </a:xfrm>
            <a:prstGeom prst="rect">
              <a:avLst/>
            </a:prstGeom>
          </p:spPr>
        </p:pic>
      </p:grpSp>
      <p:grpSp>
        <p:nvGrpSpPr>
          <p:cNvPr id="11" name="Grupo 10"/>
          <p:cNvGrpSpPr/>
          <p:nvPr/>
        </p:nvGrpSpPr>
        <p:grpSpPr>
          <a:xfrm>
            <a:off x="9947531" y="1817309"/>
            <a:ext cx="2016076" cy="4412582"/>
            <a:chOff x="6698418" y="1817309"/>
            <a:chExt cx="2016076" cy="4412582"/>
          </a:xfrm>
        </p:grpSpPr>
        <p:pic>
          <p:nvPicPr>
            <p:cNvPr id="12" name="Picture 2" descr="Bank Loan Vectors &amp; Illustrations for Free Download | Freepi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49" r="10596"/>
            <a:stretch/>
          </p:blipFill>
          <p:spPr bwMode="auto">
            <a:xfrm>
              <a:off x="6698418" y="1817309"/>
              <a:ext cx="2016076" cy="1749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4154" y="4881669"/>
              <a:ext cx="1684605" cy="1348222"/>
            </a:xfrm>
            <a:prstGeom prst="rect">
              <a:avLst/>
            </a:prstGeom>
          </p:spPr>
        </p:pic>
      </p:grpSp>
      <p:sp>
        <p:nvSpPr>
          <p:cNvPr id="10" name="Flecha derecha 9"/>
          <p:cNvSpPr/>
          <p:nvPr/>
        </p:nvSpPr>
        <p:spPr>
          <a:xfrm rot="5400000">
            <a:off x="7295415" y="3880926"/>
            <a:ext cx="822081" cy="52753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8" name="Picture 4" descr="Patrón De Dólar De Dibujos Animados De Impuestos Estadounidenses PNG  ,dibujos Dibujos Animados, Gráfico De Impuestos, Proyecto De Ley PNG y PSD  para Descargar Gratis | Pngtree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120" y="3569956"/>
            <a:ext cx="1008599" cy="100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lecha derecha 15"/>
          <p:cNvSpPr/>
          <p:nvPr/>
        </p:nvSpPr>
        <p:spPr>
          <a:xfrm rot="16200000" flipV="1">
            <a:off x="10577877" y="3903746"/>
            <a:ext cx="822081" cy="52753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7" name="Picture 4" descr="Patrón De Dólar De Dibujos Animados De Impuestos Estadounidenses PNG  ,dibujos Dibujos Animados, Gráfico De Impuestos, Proyecto De Ley PNG y PSD  para Descargar Gratis | Pngtree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582" y="3592776"/>
            <a:ext cx="1008599" cy="100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echa derecha 17"/>
          <p:cNvSpPr/>
          <p:nvPr/>
        </p:nvSpPr>
        <p:spPr>
          <a:xfrm rot="16200000" flipV="1">
            <a:off x="11452778" y="4297586"/>
            <a:ext cx="290841" cy="271097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066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Definición de crédito</a:t>
            </a:r>
            <a:endParaRPr lang="es-MX" b="1" dirty="0"/>
          </a:p>
        </p:txBody>
      </p:sp>
      <p:sp>
        <p:nvSpPr>
          <p:cNvPr id="6" name="Rectángulo 5"/>
          <p:cNvSpPr/>
          <p:nvPr/>
        </p:nvSpPr>
        <p:spPr>
          <a:xfrm>
            <a:off x="250371" y="6598702"/>
            <a:ext cx="1169125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100" dirty="0" smtClean="0"/>
              <a:t>Tomado de BCRP</a:t>
            </a:r>
            <a:r>
              <a:rPr lang="es-PE" sz="1100" dirty="0"/>
              <a:t>: </a:t>
            </a:r>
            <a:r>
              <a:rPr lang="es-PE" sz="1100" dirty="0">
                <a:hlinkClick r:id="rId2"/>
              </a:rPr>
              <a:t>https://</a:t>
            </a:r>
            <a:r>
              <a:rPr lang="es-PE" sz="1100" dirty="0" smtClean="0">
                <a:hlinkClick r:id="rId2"/>
              </a:rPr>
              <a:t>www.bcrp.gob.pe/publicaciones/glosario/c.html</a:t>
            </a:r>
            <a:r>
              <a:rPr lang="es-PE" sz="1100" dirty="0" smtClean="0"/>
              <a:t>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92239" y="1817309"/>
            <a:ext cx="524691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800" dirty="0"/>
              <a:t>Préstamo de dinero para superar situaciones especiales o financiar acciones fuera del alcance de los recursos ordinarios de una empresa. El crédito, al implicar confianza en el comportamiento futuro del deudor, significa un riesgo y requiere en algunos casos la constitución de alguna garantía o colateral.</a:t>
            </a:r>
          </a:p>
        </p:txBody>
      </p:sp>
      <p:pic>
        <p:nvPicPr>
          <p:cNvPr id="2050" name="Picture 2" descr="Premium Photo | Illustrations of a colorful 3d cartoon factory build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46" y="3245560"/>
            <a:ext cx="1280747" cy="1280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9380134" y="2593137"/>
            <a:ext cx="2561494" cy="2585592"/>
            <a:chOff x="9380134" y="2593137"/>
            <a:chExt cx="2561494" cy="2585592"/>
          </a:xfrm>
        </p:grpSpPr>
        <p:pic>
          <p:nvPicPr>
            <p:cNvPr id="7" name="Picture 2" descr="Premium Photo | Illustrations of a colorful 3d cartoon factory buildi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0134" y="2593137"/>
              <a:ext cx="1280747" cy="1280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Premium Photo | Illustrations of a colorful 3d cartoon factory buildi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0881" y="2877421"/>
              <a:ext cx="1280747" cy="1280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Premium Photo | Illustrations of a colorful 3d cartoon factory buildi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2534" y="3897982"/>
              <a:ext cx="1280747" cy="1280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upo 3"/>
          <p:cNvGrpSpPr/>
          <p:nvPr/>
        </p:nvGrpSpPr>
        <p:grpSpPr>
          <a:xfrm>
            <a:off x="7925664" y="3095209"/>
            <a:ext cx="1008599" cy="1581448"/>
            <a:chOff x="8046427" y="2955846"/>
            <a:chExt cx="1008599" cy="1581448"/>
          </a:xfrm>
        </p:grpSpPr>
        <p:sp>
          <p:nvSpPr>
            <p:cNvPr id="10" name="Flecha derecha 9"/>
            <p:cNvSpPr/>
            <p:nvPr/>
          </p:nvSpPr>
          <p:spPr>
            <a:xfrm>
              <a:off x="8139686" y="2955846"/>
              <a:ext cx="822081" cy="527538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11" name="Picture 4" descr="Patrón De Dólar De Dibujos Animados De Impuestos Estadounidenses PNG  ,dibujos Dibujos Animados, Gráfico De Impuestos, Proyecto De Ley PNG y PSD  para Descargar Gratis | Pngtree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6427" y="3528695"/>
              <a:ext cx="1008599" cy="1008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5509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Flujo de un </a:t>
            </a:r>
            <a:r>
              <a:rPr lang="es-MX" b="1" dirty="0" smtClean="0"/>
              <a:t>crédito (para la primera calificada)</a:t>
            </a:r>
            <a:endParaRPr lang="es-MX" b="1" dirty="0"/>
          </a:p>
        </p:txBody>
      </p:sp>
      <p:cxnSp>
        <p:nvCxnSpPr>
          <p:cNvPr id="26" name="Conector recto 25"/>
          <p:cNvCxnSpPr/>
          <p:nvPr/>
        </p:nvCxnSpPr>
        <p:spPr>
          <a:xfrm>
            <a:off x="2804648" y="3895965"/>
            <a:ext cx="5720692" cy="54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echa derecha 26"/>
          <p:cNvSpPr/>
          <p:nvPr/>
        </p:nvSpPr>
        <p:spPr>
          <a:xfrm rot="16200000">
            <a:off x="2139534" y="3008293"/>
            <a:ext cx="1492317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/>
          <p:cNvSpPr/>
          <p:nvPr/>
        </p:nvSpPr>
        <p:spPr>
          <a:xfrm>
            <a:off x="1348155" y="2409091"/>
            <a:ext cx="1244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2.000</a:t>
            </a:r>
            <a:endParaRPr lang="es-PE" sz="3600" dirty="0"/>
          </a:p>
        </p:txBody>
      </p:sp>
      <p:sp>
        <p:nvSpPr>
          <p:cNvPr id="30" name="Flecha derecha 29"/>
          <p:cNvSpPr/>
          <p:nvPr/>
        </p:nvSpPr>
        <p:spPr>
          <a:xfrm rot="5400000">
            <a:off x="3231381" y="4379265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Flecha derecha 30"/>
          <p:cNvSpPr/>
          <p:nvPr/>
        </p:nvSpPr>
        <p:spPr>
          <a:xfrm rot="5400000">
            <a:off x="4265269" y="4379265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Flecha derecha 31"/>
          <p:cNvSpPr/>
          <p:nvPr/>
        </p:nvSpPr>
        <p:spPr>
          <a:xfrm rot="5400000">
            <a:off x="5294589" y="4379265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Flecha derecha 32"/>
          <p:cNvSpPr/>
          <p:nvPr/>
        </p:nvSpPr>
        <p:spPr>
          <a:xfrm rot="5400000">
            <a:off x="6319342" y="4379264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Flecha derecha 33"/>
          <p:cNvSpPr/>
          <p:nvPr/>
        </p:nvSpPr>
        <p:spPr>
          <a:xfrm rot="5400000">
            <a:off x="7807205" y="4410773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36"/>
          <p:cNvSpPr/>
          <p:nvPr/>
        </p:nvSpPr>
        <p:spPr>
          <a:xfrm>
            <a:off x="7452523" y="3169792"/>
            <a:ext cx="513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600" b="1" dirty="0" smtClean="0"/>
              <a:t>…</a:t>
            </a:r>
            <a:endParaRPr lang="es-PE" sz="3600" dirty="0"/>
          </a:p>
        </p:txBody>
      </p:sp>
      <p:sp>
        <p:nvSpPr>
          <p:cNvPr id="38" name="Rectángulo 37"/>
          <p:cNvSpPr/>
          <p:nvPr/>
        </p:nvSpPr>
        <p:spPr>
          <a:xfrm>
            <a:off x="3653179" y="3202156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1</a:t>
            </a:r>
            <a:endParaRPr lang="es-PE" sz="3600" dirty="0"/>
          </a:p>
        </p:txBody>
      </p:sp>
      <p:sp>
        <p:nvSpPr>
          <p:cNvPr id="39" name="Rectángulo 38"/>
          <p:cNvSpPr/>
          <p:nvPr/>
        </p:nvSpPr>
        <p:spPr>
          <a:xfrm>
            <a:off x="4629733" y="3220538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2</a:t>
            </a:r>
            <a:endParaRPr lang="es-PE" sz="3600" dirty="0"/>
          </a:p>
        </p:txBody>
      </p:sp>
      <p:sp>
        <p:nvSpPr>
          <p:cNvPr id="40" name="Rectángulo 39"/>
          <p:cNvSpPr/>
          <p:nvPr/>
        </p:nvSpPr>
        <p:spPr>
          <a:xfrm>
            <a:off x="5668967" y="3220538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3</a:t>
            </a:r>
            <a:endParaRPr lang="es-PE" sz="3600" dirty="0"/>
          </a:p>
        </p:txBody>
      </p:sp>
      <p:sp>
        <p:nvSpPr>
          <p:cNvPr id="41" name="Rectángulo 40"/>
          <p:cNvSpPr/>
          <p:nvPr/>
        </p:nvSpPr>
        <p:spPr>
          <a:xfrm>
            <a:off x="6702880" y="3220538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4</a:t>
            </a:r>
            <a:endParaRPr lang="es-PE" sz="3600" dirty="0"/>
          </a:p>
        </p:txBody>
      </p:sp>
      <p:sp>
        <p:nvSpPr>
          <p:cNvPr id="42" name="Rectángulo 41"/>
          <p:cNvSpPr/>
          <p:nvPr/>
        </p:nvSpPr>
        <p:spPr>
          <a:xfrm>
            <a:off x="8145378" y="3247739"/>
            <a:ext cx="652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600" b="1" dirty="0" smtClean="0"/>
              <a:t>10</a:t>
            </a:r>
            <a:endParaRPr lang="es-PE" sz="3600" b="1" dirty="0"/>
          </a:p>
        </p:txBody>
      </p:sp>
      <p:sp>
        <p:nvSpPr>
          <p:cNvPr id="43" name="Rectángulo 42"/>
          <p:cNvSpPr/>
          <p:nvPr/>
        </p:nvSpPr>
        <p:spPr>
          <a:xfrm>
            <a:off x="3735143" y="3992732"/>
            <a:ext cx="479019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s-PE" sz="3600" dirty="0"/>
          </a:p>
        </p:txBody>
      </p:sp>
      <p:sp>
        <p:nvSpPr>
          <p:cNvPr id="4" name="Rectángulo 3"/>
          <p:cNvSpPr/>
          <p:nvPr/>
        </p:nvSpPr>
        <p:spPr>
          <a:xfrm>
            <a:off x="3735143" y="3992732"/>
            <a:ext cx="4740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3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Flujo constante</a:t>
            </a:r>
            <a:endParaRPr lang="es-PE" sz="3600" b="1" dirty="0"/>
          </a:p>
        </p:txBody>
      </p:sp>
      <p:sp>
        <p:nvSpPr>
          <p:cNvPr id="19" name="Rectángulo 18"/>
          <p:cNvSpPr/>
          <p:nvPr/>
        </p:nvSpPr>
        <p:spPr>
          <a:xfrm>
            <a:off x="6961983" y="5262346"/>
            <a:ext cx="41924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Tasa: 2% por periodo</a:t>
            </a: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426751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Definición de </a:t>
            </a:r>
            <a:r>
              <a:rPr lang="es-MX" b="1" dirty="0" smtClean="0"/>
              <a:t>inversión</a:t>
            </a:r>
            <a:endParaRPr lang="es-MX" b="1" dirty="0"/>
          </a:p>
        </p:txBody>
      </p:sp>
      <p:sp>
        <p:nvSpPr>
          <p:cNvPr id="6" name="Rectángulo 5"/>
          <p:cNvSpPr/>
          <p:nvPr/>
        </p:nvSpPr>
        <p:spPr>
          <a:xfrm>
            <a:off x="250371" y="6598702"/>
            <a:ext cx="1169125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1100" dirty="0" smtClean="0"/>
              <a:t>Tomado de BCRP</a:t>
            </a:r>
            <a:r>
              <a:rPr lang="es-PE" sz="1100" dirty="0"/>
              <a:t>: </a:t>
            </a:r>
            <a:r>
              <a:rPr lang="es-PE" sz="1100" dirty="0">
                <a:hlinkClick r:id="rId2"/>
              </a:rPr>
              <a:t>https://</a:t>
            </a:r>
            <a:r>
              <a:rPr lang="es-PE" sz="1100" dirty="0" smtClean="0">
                <a:hlinkClick r:id="rId2"/>
              </a:rPr>
              <a:t>www.bcrp.gob.pe/publicaciones/glosario/i.html</a:t>
            </a:r>
            <a:r>
              <a:rPr lang="es-PE" sz="1100" dirty="0" smtClean="0"/>
              <a:t> </a:t>
            </a:r>
            <a:endParaRPr lang="es-PE" sz="1100" dirty="0" smtClean="0"/>
          </a:p>
        </p:txBody>
      </p:sp>
      <p:sp>
        <p:nvSpPr>
          <p:cNvPr id="3" name="Rectángulo 2"/>
          <p:cNvSpPr/>
          <p:nvPr/>
        </p:nvSpPr>
        <p:spPr>
          <a:xfrm>
            <a:off x="292239" y="1817309"/>
            <a:ext cx="621406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800" dirty="0"/>
              <a:t>En términos macroeconómicos, es el flujo de producto de un período dado que se destina al mantenimiento o ampliación del stock de capital de la economía. El gasto en inversión da lugar a un aumento de la capacidad productiva. En finanzas, es la colocación de fondos en un proyecto (de explotación, financiero, etc.) con la intención de obtener un beneficio en el futuro</a:t>
            </a:r>
            <a:r>
              <a:rPr lang="es-PE" sz="2800" dirty="0" smtClean="0"/>
              <a:t>.</a:t>
            </a:r>
            <a:endParaRPr lang="es-PE" sz="2800" dirty="0"/>
          </a:p>
        </p:txBody>
      </p:sp>
      <p:pic>
        <p:nvPicPr>
          <p:cNvPr id="11" name="Picture 4" descr="Patrón De Dólar De Dibujos Animados De Impuestos Estadounidenses PNG  ,dibujos Dibujos Animados, Gráfico De Impuestos, Proyecto De Ley PNG y PSD  para Descargar Gratis | Pngtre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963" y="4325505"/>
            <a:ext cx="1008599" cy="100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actiFinanzas El Decálogo del Inversionista | PractiFinanza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7" r="23183"/>
          <a:stretch/>
        </p:blipFill>
        <p:spPr bwMode="auto">
          <a:xfrm>
            <a:off x="7535005" y="1944255"/>
            <a:ext cx="3130061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echa curvada hacia arriba 11"/>
          <p:cNvSpPr/>
          <p:nvPr/>
        </p:nvSpPr>
        <p:spPr>
          <a:xfrm>
            <a:off x="8150468" y="4659377"/>
            <a:ext cx="2259623" cy="85285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15" name="Picture 4" descr="Patrón De Dólar De Dibujos Animados De Impuestos Estadounidenses PNG  ,dibujos Dibujos Animados, Gráfico De Impuestos, Proyecto De Ley PNG y PSD  para Descargar Gratis | Pngtre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049" y="4416556"/>
            <a:ext cx="1990840" cy="199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40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Flujo de </a:t>
            </a:r>
            <a:r>
              <a:rPr lang="es-MX" b="1" dirty="0" smtClean="0"/>
              <a:t>una inversión (para la primera calificada)</a:t>
            </a:r>
            <a:endParaRPr lang="es-MX" b="1" dirty="0"/>
          </a:p>
        </p:txBody>
      </p:sp>
      <p:cxnSp>
        <p:nvCxnSpPr>
          <p:cNvPr id="26" name="Conector recto 25"/>
          <p:cNvCxnSpPr/>
          <p:nvPr/>
        </p:nvCxnSpPr>
        <p:spPr>
          <a:xfrm>
            <a:off x="2804648" y="3271711"/>
            <a:ext cx="5720692" cy="54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echa derecha 26"/>
          <p:cNvSpPr/>
          <p:nvPr/>
        </p:nvSpPr>
        <p:spPr>
          <a:xfrm rot="5400000" flipV="1">
            <a:off x="1774398" y="4183089"/>
            <a:ext cx="2166257" cy="29391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/>
          <p:cNvSpPr/>
          <p:nvPr/>
        </p:nvSpPr>
        <p:spPr>
          <a:xfrm>
            <a:off x="1462455" y="4552786"/>
            <a:ext cx="1244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2.000</a:t>
            </a:r>
            <a:endParaRPr lang="es-PE" sz="3600" dirty="0"/>
          </a:p>
        </p:txBody>
      </p:sp>
      <p:sp>
        <p:nvSpPr>
          <p:cNvPr id="30" name="Flecha derecha 29"/>
          <p:cNvSpPr/>
          <p:nvPr/>
        </p:nvSpPr>
        <p:spPr>
          <a:xfrm rot="16200000" flipV="1">
            <a:off x="3280752" y="2499975"/>
            <a:ext cx="1186541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Flecha derecha 33"/>
          <p:cNvSpPr/>
          <p:nvPr/>
        </p:nvSpPr>
        <p:spPr>
          <a:xfrm rot="16200000" flipV="1">
            <a:off x="7539357" y="2214264"/>
            <a:ext cx="1820980" cy="2939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36"/>
          <p:cNvSpPr/>
          <p:nvPr/>
        </p:nvSpPr>
        <p:spPr>
          <a:xfrm>
            <a:off x="7452523" y="3196171"/>
            <a:ext cx="513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3600" b="1" dirty="0" smtClean="0"/>
              <a:t>…</a:t>
            </a:r>
            <a:endParaRPr lang="es-PE" sz="3600" dirty="0"/>
          </a:p>
        </p:txBody>
      </p:sp>
      <p:sp>
        <p:nvSpPr>
          <p:cNvPr id="38" name="Rectángulo 37"/>
          <p:cNvSpPr/>
          <p:nvPr/>
        </p:nvSpPr>
        <p:spPr>
          <a:xfrm>
            <a:off x="3653179" y="3228535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1</a:t>
            </a:r>
            <a:endParaRPr lang="es-PE" sz="3600" dirty="0"/>
          </a:p>
        </p:txBody>
      </p:sp>
      <p:sp>
        <p:nvSpPr>
          <p:cNvPr id="39" name="Rectángulo 38"/>
          <p:cNvSpPr/>
          <p:nvPr/>
        </p:nvSpPr>
        <p:spPr>
          <a:xfrm>
            <a:off x="4629733" y="3246917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2</a:t>
            </a:r>
            <a:endParaRPr lang="es-PE" sz="3600" dirty="0"/>
          </a:p>
        </p:txBody>
      </p:sp>
      <p:sp>
        <p:nvSpPr>
          <p:cNvPr id="40" name="Rectángulo 39"/>
          <p:cNvSpPr/>
          <p:nvPr/>
        </p:nvSpPr>
        <p:spPr>
          <a:xfrm>
            <a:off x="5668967" y="3246917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3</a:t>
            </a:r>
            <a:endParaRPr lang="es-PE" sz="3600" dirty="0"/>
          </a:p>
        </p:txBody>
      </p:sp>
      <p:sp>
        <p:nvSpPr>
          <p:cNvPr id="41" name="Rectángulo 40"/>
          <p:cNvSpPr/>
          <p:nvPr/>
        </p:nvSpPr>
        <p:spPr>
          <a:xfrm>
            <a:off x="6702880" y="3246917"/>
            <a:ext cx="4187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4</a:t>
            </a:r>
            <a:endParaRPr lang="es-PE" sz="3600" dirty="0"/>
          </a:p>
        </p:txBody>
      </p:sp>
      <p:sp>
        <p:nvSpPr>
          <p:cNvPr id="42" name="Rectángulo 41"/>
          <p:cNvSpPr/>
          <p:nvPr/>
        </p:nvSpPr>
        <p:spPr>
          <a:xfrm>
            <a:off x="8145378" y="3274118"/>
            <a:ext cx="652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600" b="1" dirty="0" smtClean="0"/>
              <a:t>10</a:t>
            </a:r>
            <a:endParaRPr lang="es-PE" sz="3600" b="1" dirty="0"/>
          </a:p>
        </p:txBody>
      </p:sp>
      <p:sp>
        <p:nvSpPr>
          <p:cNvPr id="43" name="Rectángulo 42"/>
          <p:cNvSpPr/>
          <p:nvPr/>
        </p:nvSpPr>
        <p:spPr>
          <a:xfrm>
            <a:off x="4712889" y="2191018"/>
            <a:ext cx="338868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PE" sz="3600" dirty="0" smtClean="0"/>
              <a:t>Flujo creciente</a:t>
            </a:r>
            <a:endParaRPr lang="es-PE" sz="3600" dirty="0"/>
          </a:p>
        </p:txBody>
      </p:sp>
      <p:sp>
        <p:nvSpPr>
          <p:cNvPr id="19" name="Rectángulo 18"/>
          <p:cNvSpPr/>
          <p:nvPr/>
        </p:nvSpPr>
        <p:spPr>
          <a:xfrm>
            <a:off x="6961983" y="4638092"/>
            <a:ext cx="41924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Tasa: 2% por periodo</a:t>
            </a:r>
            <a:endParaRPr lang="es-PE" sz="3600" dirty="0"/>
          </a:p>
        </p:txBody>
      </p:sp>
      <p:cxnSp>
        <p:nvCxnSpPr>
          <p:cNvPr id="5" name="Conector recto 4"/>
          <p:cNvCxnSpPr>
            <a:endCxn id="34" idx="3"/>
          </p:cNvCxnSpPr>
          <p:nvPr/>
        </p:nvCxnSpPr>
        <p:spPr>
          <a:xfrm flipV="1">
            <a:off x="3874023" y="1450731"/>
            <a:ext cx="4575824" cy="6205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7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Resolución de problemas</a:t>
            </a:r>
            <a:endParaRPr lang="es-MX" b="1" dirty="0"/>
          </a:p>
        </p:txBody>
      </p:sp>
      <p:sp>
        <p:nvSpPr>
          <p:cNvPr id="3" name="Rectángulo 2"/>
          <p:cNvSpPr/>
          <p:nvPr/>
        </p:nvSpPr>
        <p:spPr>
          <a:xfrm>
            <a:off x="288681" y="1608470"/>
            <a:ext cx="1161463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Se evalúa hacer movilidad escolar, el valor del vehículo comprado para esta actividad es de 10,000 soles, además se sabe que: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Tiene </a:t>
            </a:r>
            <a:r>
              <a:rPr lang="es-PE" sz="2000" dirty="0"/>
              <a:t>una capacidad de llevar a 16 niños.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Los </a:t>
            </a:r>
            <a:r>
              <a:rPr lang="es-PE" sz="2000" dirty="0"/>
              <a:t>gastos por combustible y mantenimiento son de 500 soles mensuales.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El </a:t>
            </a:r>
            <a:r>
              <a:rPr lang="es-PE" sz="2000" dirty="0"/>
              <a:t>vehículo opera, los 12 meses del año, ya que considera el período de vacaciones útiles.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Esperan </a:t>
            </a:r>
            <a:r>
              <a:rPr lang="es-PE" sz="2000" dirty="0"/>
              <a:t>que el negocio dure 2 años.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Espera </a:t>
            </a:r>
            <a:r>
              <a:rPr lang="es-PE" sz="2000" dirty="0"/>
              <a:t>una rentabilidad de 2% mensual.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 smtClean="0"/>
              <a:t>El </a:t>
            </a:r>
            <a:r>
              <a:rPr lang="es-PE" sz="2000" dirty="0"/>
              <a:t>pago se hace a comienzo de mes, al igual que el combustible y mantenimiento.</a:t>
            </a:r>
          </a:p>
          <a:p>
            <a:r>
              <a:rPr lang="es-PE" sz="2000" dirty="0"/>
              <a:t>a) Indique lo que se debe cobrar por cada niño (2 puntos)</a:t>
            </a:r>
          </a:p>
          <a:p>
            <a:r>
              <a:rPr lang="es-PE" sz="2000" dirty="0"/>
              <a:t>b) Si solo se considera que se hace movilidad por el periodo de clases regulares (Marzo a Diciembre), indique lo que se debe cobrar por cada niño (3 puntos).</a:t>
            </a:r>
          </a:p>
          <a:p>
            <a:r>
              <a:rPr lang="es-PE" sz="2000" dirty="0"/>
              <a:t>Los niños pertenecen a un mismo colegio y el horario de llegada al colegio es 7:30 AM que coincide con la hora promedio de salida de los padres a sus respectivos trabajos; considerando que el vehículo tiene capacidad para transportar a 13 adultos.</a:t>
            </a:r>
          </a:p>
          <a:p>
            <a:r>
              <a:rPr lang="es-PE" sz="2000" dirty="0"/>
              <a:t>c) Indique cual debería ser cobro mensual por niño y por adulto considerando que la tarifa por adulto es 50% mayor y además los gastos de combustible y mantenimiento ahora son de 700 soles al mes (4 puntos).</a:t>
            </a:r>
          </a:p>
        </p:txBody>
      </p:sp>
    </p:spTree>
    <p:extLst>
      <p:ext uri="{BB962C8B-B14F-4D97-AF65-F5344CB8AC3E}">
        <p14:creationId xmlns:p14="http://schemas.microsoft.com/office/powerpoint/2010/main" val="19282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Resolución de problemas</a:t>
            </a:r>
            <a:endParaRPr lang="es-MX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5439" b="2915"/>
          <a:stretch/>
        </p:blipFill>
        <p:spPr>
          <a:xfrm>
            <a:off x="557237" y="1582219"/>
            <a:ext cx="10433148" cy="51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Practica Dirigida 2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59523" y="3602038"/>
            <a:ext cx="9208477" cy="1655762"/>
          </a:xfrm>
        </p:spPr>
        <p:txBody>
          <a:bodyPr>
            <a:noAutofit/>
          </a:bodyPr>
          <a:lstStyle/>
          <a:p>
            <a:r>
              <a:rPr lang="es-MX" sz="3200" dirty="0" smtClean="0"/>
              <a:t>2025-2</a:t>
            </a:r>
            <a:endParaRPr lang="es-PE" sz="3200" dirty="0" smtClean="0"/>
          </a:p>
          <a:p>
            <a:r>
              <a:rPr lang="es-MX" sz="3200" dirty="0" smtClean="0"/>
              <a:t>ESCRIBAN SU </a:t>
            </a:r>
            <a:r>
              <a:rPr lang="es-MX" sz="3200" dirty="0" smtClean="0"/>
              <a:t>NOMBRE,</a:t>
            </a:r>
            <a:r>
              <a:rPr lang="es-MX" sz="3200" dirty="0" smtClean="0"/>
              <a:t/>
            </a:r>
            <a:br>
              <a:rPr lang="es-MX" sz="3200" dirty="0" smtClean="0"/>
            </a:br>
            <a:r>
              <a:rPr lang="es-MX" sz="3200" dirty="0" smtClean="0"/>
              <a:t>EMAIL</a:t>
            </a:r>
            <a:br>
              <a:rPr lang="es-MX" sz="3200" dirty="0" smtClean="0"/>
            </a:br>
            <a:r>
              <a:rPr lang="es-MX" sz="3200" dirty="0" smtClean="0"/>
              <a:t>LINKEDIN</a:t>
            </a:r>
            <a:endParaRPr lang="es-PE" sz="3200" dirty="0" smtClean="0"/>
          </a:p>
        </p:txBody>
      </p:sp>
    </p:spTree>
    <p:extLst>
      <p:ext uri="{BB962C8B-B14F-4D97-AF65-F5344CB8AC3E}">
        <p14:creationId xmlns:p14="http://schemas.microsoft.com/office/powerpoint/2010/main" val="426139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7129</TotalTime>
  <Words>586</Words>
  <Application>Microsoft Office PowerPoint</Application>
  <PresentationFormat>Panorámica</PresentationFormat>
  <Paragraphs>59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Practica Dirigida 2</vt:lpstr>
      <vt:lpstr>Presentación de PowerPoint</vt:lpstr>
      <vt:lpstr>Problemas de matemática financiera</vt:lpstr>
      <vt:lpstr>Problemas de matemática financiera</vt:lpstr>
      <vt:lpstr>Definición de crédito</vt:lpstr>
      <vt:lpstr>Definición de crédito</vt:lpstr>
      <vt:lpstr>Flujo de un crédito (para la primera calificada)</vt:lpstr>
      <vt:lpstr>Definición de inversión</vt:lpstr>
      <vt:lpstr>Flujo de una inversión (para la primera calificada)</vt:lpstr>
      <vt:lpstr>Resolución de problemas</vt:lpstr>
      <vt:lpstr>Resolución de problemas</vt:lpstr>
      <vt:lpstr>Practica Dirigida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# 1</dc:title>
  <dc:creator>Cuenta Microsoft</dc:creator>
  <cp:lastModifiedBy>user</cp:lastModifiedBy>
  <cp:revision>57</cp:revision>
  <dcterms:created xsi:type="dcterms:W3CDTF">2023-08-20T00:55:27Z</dcterms:created>
  <dcterms:modified xsi:type="dcterms:W3CDTF">2025-09-05T18:38:46Z</dcterms:modified>
</cp:coreProperties>
</file>